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</p:sldIdLst>
  <p:sldSz cx="18288000" cy="10287000"/>
  <p:notesSz cx="6858000" cy="9144000"/>
  <p:embeddedFontLst>
    <p:embeddedFont>
      <p:font typeface="Londrina Sketch" charset="1" panose="00000500000000000000"/>
      <p:regular r:id="rId36"/>
    </p:embeddedFont>
    <p:embeddedFont>
      <p:font typeface="Chewy" charset="1" panose="02000000000000000000"/>
      <p:regular r:id="rId37"/>
    </p:embeddedFont>
    <p:embeddedFont>
      <p:font typeface="DM Sans Bold" charset="1" panose="00000000000000000000"/>
      <p:regular r:id="rId38"/>
    </p:embeddedFont>
    <p:embeddedFont>
      <p:font typeface="Lato Bold" charset="1" panose="020F0502020204030203"/>
      <p:regular r:id="rId39"/>
    </p:embeddedFont>
    <p:embeddedFont>
      <p:font typeface="Lato" charset="1" panose="020F0502020204030203"/>
      <p:regular r:id="rId40"/>
    </p:embeddedFont>
    <p:embeddedFont>
      <p:font typeface="Montserrat Bold" charset="1" panose="00000800000000000000"/>
      <p:regular r:id="rId41"/>
    </p:embeddedFont>
    <p:embeddedFont>
      <p:font typeface="Montserrat" charset="1" panose="00000500000000000000"/>
      <p:regular r:id="rId42"/>
    </p:embeddedFont>
    <p:embeddedFont>
      <p:font typeface="Gagalin" charset="1" panose="00000500000000000000"/>
      <p:regular r:id="rId4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fonts/font36.fntdata" Type="http://schemas.openxmlformats.org/officeDocument/2006/relationships/font"/><Relationship Id="rId37" Target="fonts/font37.fntdata" Type="http://schemas.openxmlformats.org/officeDocument/2006/relationships/font"/><Relationship Id="rId38" Target="fonts/font38.fntdata" Type="http://schemas.openxmlformats.org/officeDocument/2006/relationships/font"/><Relationship Id="rId39" Target="fonts/font39.fntdata" Type="http://schemas.openxmlformats.org/officeDocument/2006/relationships/font"/><Relationship Id="rId4" Target="theme/theme1.xml" Type="http://schemas.openxmlformats.org/officeDocument/2006/relationships/theme"/><Relationship Id="rId40" Target="fonts/font40.fntdata" Type="http://schemas.openxmlformats.org/officeDocument/2006/relationships/font"/><Relationship Id="rId41" Target="fonts/font41.fntdata" Type="http://schemas.openxmlformats.org/officeDocument/2006/relationships/font"/><Relationship Id="rId42" Target="fonts/font42.fntdata" Type="http://schemas.openxmlformats.org/officeDocument/2006/relationships/font"/><Relationship Id="rId43" Target="fonts/font43.fntdata" Type="http://schemas.openxmlformats.org/officeDocument/2006/relationships/font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0.png" Type="http://schemas.openxmlformats.org/officeDocument/2006/relationships/image"/><Relationship Id="rId4" Target="../media/image11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png" Type="http://schemas.openxmlformats.org/officeDocument/2006/relationships/image"/><Relationship Id="rId2" Target="../media/image1.jpeg" Type="http://schemas.openxmlformats.org/officeDocument/2006/relationships/image"/><Relationship Id="rId3" Target="../media/image10.png" Type="http://schemas.openxmlformats.org/officeDocument/2006/relationships/image"/><Relationship Id="rId4" Target="../media/image11.svg" Type="http://schemas.openxmlformats.org/officeDocument/2006/relationships/image"/><Relationship Id="rId5" Target="../media/image12.png" Type="http://schemas.openxmlformats.org/officeDocument/2006/relationships/image"/><Relationship Id="rId6" Target="../media/image13.svg" Type="http://schemas.openxmlformats.org/officeDocument/2006/relationships/image"/><Relationship Id="rId7" Target="../media/image8.png" Type="http://schemas.openxmlformats.org/officeDocument/2006/relationships/image"/><Relationship Id="rId8" Target="../media/image9.svg" Type="http://schemas.openxmlformats.org/officeDocument/2006/relationships/image"/><Relationship Id="rId9" Target="../media/image1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png" Type="http://schemas.openxmlformats.org/officeDocument/2006/relationships/image"/><Relationship Id="rId11" Target="../media/image16.png" Type="http://schemas.openxmlformats.org/officeDocument/2006/relationships/image"/><Relationship Id="rId12" Target="../media/image17.png" Type="http://schemas.openxmlformats.org/officeDocument/2006/relationships/image"/><Relationship Id="rId2" Target="../media/image1.jpeg" Type="http://schemas.openxmlformats.org/officeDocument/2006/relationships/image"/><Relationship Id="rId3" Target="../media/image10.png" Type="http://schemas.openxmlformats.org/officeDocument/2006/relationships/image"/><Relationship Id="rId4" Target="../media/image11.svg" Type="http://schemas.openxmlformats.org/officeDocument/2006/relationships/image"/><Relationship Id="rId5" Target="../media/image12.png" Type="http://schemas.openxmlformats.org/officeDocument/2006/relationships/image"/><Relationship Id="rId6" Target="../media/image13.svg" Type="http://schemas.openxmlformats.org/officeDocument/2006/relationships/image"/><Relationship Id="rId7" Target="../media/image8.png" Type="http://schemas.openxmlformats.org/officeDocument/2006/relationships/image"/><Relationship Id="rId8" Target="../media/image9.svg" Type="http://schemas.openxmlformats.org/officeDocument/2006/relationships/image"/><Relationship Id="rId9" Target="../media/image1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1.svg" Type="http://schemas.openxmlformats.org/officeDocument/2006/relationships/image"/><Relationship Id="rId2" Target="../media/image1.jpeg" Type="http://schemas.openxmlformats.org/officeDocument/2006/relationships/image"/><Relationship Id="rId3" Target="../media/image10.png" Type="http://schemas.openxmlformats.org/officeDocument/2006/relationships/image"/><Relationship Id="rId4" Target="../media/image11.sv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Relationship Id="rId7" Target="../media/image18.png" Type="http://schemas.openxmlformats.org/officeDocument/2006/relationships/image"/><Relationship Id="rId8" Target="../media/image19.svg" Type="http://schemas.openxmlformats.org/officeDocument/2006/relationships/image"/><Relationship Id="rId9" Target="../media/image20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0.png" Type="http://schemas.openxmlformats.org/officeDocument/2006/relationships/image"/><Relationship Id="rId4" Target="../media/image11.sv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Relationship Id="rId7" Target="../media/image22.png" Type="http://schemas.openxmlformats.org/officeDocument/2006/relationships/image"/><Relationship Id="rId8" Target="../media/image2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0.png" Type="http://schemas.openxmlformats.org/officeDocument/2006/relationships/image"/><Relationship Id="rId4" Target="../media/image11.sv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Relationship Id="rId7" Target="../media/image24.png" Type="http://schemas.openxmlformats.org/officeDocument/2006/relationships/image"/><Relationship Id="rId8" Target="../media/image25.svg" Type="http://schemas.openxmlformats.org/officeDocument/2006/relationships/image"/><Relationship Id="rId9" Target="../media/image2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0.svg" Type="http://schemas.openxmlformats.org/officeDocument/2006/relationships/image"/><Relationship Id="rId11" Target="../media/image31.png" Type="http://schemas.openxmlformats.org/officeDocument/2006/relationships/image"/><Relationship Id="rId12" Target="../media/image32.svg" Type="http://schemas.openxmlformats.org/officeDocument/2006/relationships/image"/><Relationship Id="rId2" Target="../media/image1.jpeg" Type="http://schemas.openxmlformats.org/officeDocument/2006/relationships/image"/><Relationship Id="rId3" Target="../media/image10.png" Type="http://schemas.openxmlformats.org/officeDocument/2006/relationships/image"/><Relationship Id="rId4" Target="../media/image11.sv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Relationship Id="rId7" Target="../media/image27.png" Type="http://schemas.openxmlformats.org/officeDocument/2006/relationships/image"/><Relationship Id="rId8" Target="../media/image28.svg" Type="http://schemas.openxmlformats.org/officeDocument/2006/relationships/image"/><Relationship Id="rId9" Target="../media/image29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0.png" Type="http://schemas.openxmlformats.org/officeDocument/2006/relationships/image"/><Relationship Id="rId4" Target="../media/image11.sv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Relationship Id="rId7" Target="../media/image33.png" Type="http://schemas.openxmlformats.org/officeDocument/2006/relationships/image"/><Relationship Id="rId8" Target="../media/image34.svg" Type="http://schemas.openxmlformats.org/officeDocument/2006/relationships/image"/><Relationship Id="rId9" Target="../media/image35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2.svg" Type="http://schemas.openxmlformats.org/officeDocument/2006/relationships/image"/><Relationship Id="rId2" Target="../media/image1.jpeg" Type="http://schemas.openxmlformats.org/officeDocument/2006/relationships/image"/><Relationship Id="rId3" Target="../media/image10.png" Type="http://schemas.openxmlformats.org/officeDocument/2006/relationships/image"/><Relationship Id="rId4" Target="../media/image11.sv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Relationship Id="rId7" Target="../media/image36.png" Type="http://schemas.openxmlformats.org/officeDocument/2006/relationships/image"/><Relationship Id="rId8" Target="../media/image37.svg" Type="http://schemas.openxmlformats.org/officeDocument/2006/relationships/image"/><Relationship Id="rId9" Target="../media/image31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0.png" Type="http://schemas.openxmlformats.org/officeDocument/2006/relationships/image"/><Relationship Id="rId4" Target="../media/image11.sv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Relationship Id="rId7" Target="../media/image38.png" Type="http://schemas.openxmlformats.org/officeDocument/2006/relationships/image"/><Relationship Id="rId8" Target="../media/image39.png" Type="http://schemas.openxmlformats.org/officeDocument/2006/relationships/image"/><Relationship Id="rId9" Target="../media/image40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4.svg" Type="http://schemas.openxmlformats.org/officeDocument/2006/relationships/image"/><Relationship Id="rId2" Target="../media/image1.jpeg" Type="http://schemas.openxmlformats.org/officeDocument/2006/relationships/image"/><Relationship Id="rId3" Target="../media/image10.png" Type="http://schemas.openxmlformats.org/officeDocument/2006/relationships/image"/><Relationship Id="rId4" Target="../media/image11.sv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Relationship Id="rId7" Target="../media/image41.png" Type="http://schemas.openxmlformats.org/officeDocument/2006/relationships/image"/><Relationship Id="rId8" Target="../media/image42.svg" Type="http://schemas.openxmlformats.org/officeDocument/2006/relationships/image"/><Relationship Id="rId9" Target="../media/image43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png" Type="http://schemas.openxmlformats.org/officeDocument/2006/relationships/image"/><Relationship Id="rId11" Target="../media/image16.png" Type="http://schemas.openxmlformats.org/officeDocument/2006/relationships/image"/><Relationship Id="rId12" Target="../media/image45.png" Type="http://schemas.openxmlformats.org/officeDocument/2006/relationships/image"/><Relationship Id="rId13" Target="../media/image46.png" Type="http://schemas.openxmlformats.org/officeDocument/2006/relationships/image"/><Relationship Id="rId2" Target="../media/image1.jpeg" Type="http://schemas.openxmlformats.org/officeDocument/2006/relationships/image"/><Relationship Id="rId3" Target="../media/image10.png" Type="http://schemas.openxmlformats.org/officeDocument/2006/relationships/image"/><Relationship Id="rId4" Target="../media/image11.svg" Type="http://schemas.openxmlformats.org/officeDocument/2006/relationships/image"/><Relationship Id="rId5" Target="../media/image12.png" Type="http://schemas.openxmlformats.org/officeDocument/2006/relationships/image"/><Relationship Id="rId6" Target="../media/image13.svg" Type="http://schemas.openxmlformats.org/officeDocument/2006/relationships/image"/><Relationship Id="rId7" Target="../media/image8.png" Type="http://schemas.openxmlformats.org/officeDocument/2006/relationships/image"/><Relationship Id="rId8" Target="../media/image9.svg" Type="http://schemas.openxmlformats.org/officeDocument/2006/relationships/image"/><Relationship Id="rId9" Target="../media/image14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0.png" Type="http://schemas.openxmlformats.org/officeDocument/2006/relationships/image"/><Relationship Id="rId4" Target="../media/image11.svg" Type="http://schemas.openxmlformats.org/officeDocument/2006/relationships/image"/><Relationship Id="rId5" Target="../media/image47.jpeg" Type="http://schemas.openxmlformats.org/officeDocument/2006/relationships/image"/><Relationship Id="rId6" Target="../media/image48.png" Type="http://schemas.openxmlformats.org/officeDocument/2006/relationships/image"/><Relationship Id="rId7" Target="../media/image49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.svg" Type="http://schemas.openxmlformats.org/officeDocument/2006/relationships/image"/><Relationship Id="rId11" Target="../media/image8.png" Type="http://schemas.openxmlformats.org/officeDocument/2006/relationships/image"/><Relationship Id="rId12" Target="../media/image9.svg" Type="http://schemas.openxmlformats.org/officeDocument/2006/relationships/image"/><Relationship Id="rId2" Target="../media/image1.jpeg" Type="http://schemas.openxmlformats.org/officeDocument/2006/relationships/image"/><Relationship Id="rId3" Target="../media/image10.png" Type="http://schemas.openxmlformats.org/officeDocument/2006/relationships/image"/><Relationship Id="rId4" Target="../media/image11.svg" Type="http://schemas.openxmlformats.org/officeDocument/2006/relationships/image"/><Relationship Id="rId5" Target="../media/image12.png" Type="http://schemas.openxmlformats.org/officeDocument/2006/relationships/image"/><Relationship Id="rId6" Target="../media/image13.svg" Type="http://schemas.openxmlformats.org/officeDocument/2006/relationships/image"/><Relationship Id="rId7" Target="../media/image4.png" Type="http://schemas.openxmlformats.org/officeDocument/2006/relationships/image"/><Relationship Id="rId8" Target="../media/image5.svg" Type="http://schemas.openxmlformats.org/officeDocument/2006/relationships/image"/><Relationship Id="rId9" Target="../media/image6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2.png" Type="http://schemas.openxmlformats.org/officeDocument/2006/relationships/image"/><Relationship Id="rId11" Target="../media/image53.svg" Type="http://schemas.openxmlformats.org/officeDocument/2006/relationships/image"/><Relationship Id="rId12" Target="../media/image54.png" Type="http://schemas.openxmlformats.org/officeDocument/2006/relationships/image"/><Relationship Id="rId13" Target="../media/image55.svg" Type="http://schemas.openxmlformats.org/officeDocument/2006/relationships/image"/><Relationship Id="rId14" Target="../media/image56.png" Type="http://schemas.openxmlformats.org/officeDocument/2006/relationships/image"/><Relationship Id="rId15" Target="../media/image57.svg" Type="http://schemas.openxmlformats.org/officeDocument/2006/relationships/image"/><Relationship Id="rId16" Target="../media/image58.png" Type="http://schemas.openxmlformats.org/officeDocument/2006/relationships/image"/><Relationship Id="rId17" Target="../media/image59.svg" Type="http://schemas.openxmlformats.org/officeDocument/2006/relationships/image"/><Relationship Id="rId18" Target="../media/image60.png" Type="http://schemas.openxmlformats.org/officeDocument/2006/relationships/image"/><Relationship Id="rId19" Target="../media/image61.png" Type="http://schemas.openxmlformats.org/officeDocument/2006/relationships/image"/><Relationship Id="rId2" Target="../media/image1.jpeg" Type="http://schemas.openxmlformats.org/officeDocument/2006/relationships/image"/><Relationship Id="rId3" Target="../media/image10.png" Type="http://schemas.openxmlformats.org/officeDocument/2006/relationships/image"/><Relationship Id="rId4" Target="../media/image11.sv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Relationship Id="rId7" Target="../media/image50.png" Type="http://schemas.openxmlformats.org/officeDocument/2006/relationships/image"/><Relationship Id="rId8" Target="../media/image51.svg" Type="http://schemas.openxmlformats.org/officeDocument/2006/relationships/image"/><Relationship Id="rId9" Target="../media/image47.jpe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5.svg" Type="http://schemas.openxmlformats.org/officeDocument/2006/relationships/image"/><Relationship Id="rId11" Target="../media/image66.png" Type="http://schemas.openxmlformats.org/officeDocument/2006/relationships/image"/><Relationship Id="rId12" Target="../media/image67.svg" Type="http://schemas.openxmlformats.org/officeDocument/2006/relationships/image"/><Relationship Id="rId13" Target="../media/image68.png" Type="http://schemas.openxmlformats.org/officeDocument/2006/relationships/image"/><Relationship Id="rId14" Target="../media/image69.svg" Type="http://schemas.openxmlformats.org/officeDocument/2006/relationships/image"/><Relationship Id="rId15" Target="../media/image70.png" Type="http://schemas.openxmlformats.org/officeDocument/2006/relationships/image"/><Relationship Id="rId16" Target="../media/image71.svg" Type="http://schemas.openxmlformats.org/officeDocument/2006/relationships/image"/><Relationship Id="rId17" Target="../media/image72.png" Type="http://schemas.openxmlformats.org/officeDocument/2006/relationships/image"/><Relationship Id="rId18" Target="../media/image73.svg" Type="http://schemas.openxmlformats.org/officeDocument/2006/relationships/image"/><Relationship Id="rId19" Target="../media/image74.png" Type="http://schemas.openxmlformats.org/officeDocument/2006/relationships/image"/><Relationship Id="rId2" Target="../media/image1.jpeg" Type="http://schemas.openxmlformats.org/officeDocument/2006/relationships/image"/><Relationship Id="rId20" Target="../media/image75.svg" Type="http://schemas.openxmlformats.org/officeDocument/2006/relationships/image"/><Relationship Id="rId21" Target="../media/image76.png" Type="http://schemas.openxmlformats.org/officeDocument/2006/relationships/image"/><Relationship Id="rId22" Target="../media/image77.svg" Type="http://schemas.openxmlformats.org/officeDocument/2006/relationships/image"/><Relationship Id="rId23" Target="../media/image78.png" Type="http://schemas.openxmlformats.org/officeDocument/2006/relationships/image"/><Relationship Id="rId24" Target="../media/image79.svg" Type="http://schemas.openxmlformats.org/officeDocument/2006/relationships/image"/><Relationship Id="rId25" Target="../media/image80.png" Type="http://schemas.openxmlformats.org/officeDocument/2006/relationships/image"/><Relationship Id="rId26" Target="../media/image81.svg" Type="http://schemas.openxmlformats.org/officeDocument/2006/relationships/image"/><Relationship Id="rId27" Target="../media/image82.png" Type="http://schemas.openxmlformats.org/officeDocument/2006/relationships/image"/><Relationship Id="rId28" Target="../media/image83.svg" Type="http://schemas.openxmlformats.org/officeDocument/2006/relationships/image"/><Relationship Id="rId29" Target="../media/image84.png" Type="http://schemas.openxmlformats.org/officeDocument/2006/relationships/image"/><Relationship Id="rId3" Target="../media/image10.png" Type="http://schemas.openxmlformats.org/officeDocument/2006/relationships/image"/><Relationship Id="rId30" Target="../media/image85.svg" Type="http://schemas.openxmlformats.org/officeDocument/2006/relationships/image"/><Relationship Id="rId31" Target="../media/image86.png" Type="http://schemas.openxmlformats.org/officeDocument/2006/relationships/image"/><Relationship Id="rId32" Target="../media/image87.svg" Type="http://schemas.openxmlformats.org/officeDocument/2006/relationships/image"/><Relationship Id="rId33" Target="../media/image88.png" Type="http://schemas.openxmlformats.org/officeDocument/2006/relationships/image"/><Relationship Id="rId34" Target="../media/image89.svg" Type="http://schemas.openxmlformats.org/officeDocument/2006/relationships/image"/><Relationship Id="rId35" Target="../media/image90.png" Type="http://schemas.openxmlformats.org/officeDocument/2006/relationships/image"/><Relationship Id="rId36" Target="../media/image91.svg" Type="http://schemas.openxmlformats.org/officeDocument/2006/relationships/image"/><Relationship Id="rId37" Target="../media/image92.png" Type="http://schemas.openxmlformats.org/officeDocument/2006/relationships/image"/><Relationship Id="rId38" Target="../media/image93.svg" Type="http://schemas.openxmlformats.org/officeDocument/2006/relationships/image"/><Relationship Id="rId39" Target="../media/image94.png" Type="http://schemas.openxmlformats.org/officeDocument/2006/relationships/image"/><Relationship Id="rId4" Target="../media/image11.svg" Type="http://schemas.openxmlformats.org/officeDocument/2006/relationships/image"/><Relationship Id="rId40" Target="../media/image95.svg" Type="http://schemas.openxmlformats.org/officeDocument/2006/relationships/image"/><Relationship Id="rId41" Target="../media/image96.png" Type="http://schemas.openxmlformats.org/officeDocument/2006/relationships/image"/><Relationship Id="rId42" Target="../media/image97.svg" Type="http://schemas.openxmlformats.org/officeDocument/2006/relationships/image"/><Relationship Id="rId43" Target="../media/image98.png" Type="http://schemas.openxmlformats.org/officeDocument/2006/relationships/image"/><Relationship Id="rId44" Target="../media/image99.svg" Type="http://schemas.openxmlformats.org/officeDocument/2006/relationships/image"/><Relationship Id="rId45" Target="../media/image100.png" Type="http://schemas.openxmlformats.org/officeDocument/2006/relationships/image"/><Relationship Id="rId46" Target="../media/image101.svg" Type="http://schemas.openxmlformats.org/officeDocument/2006/relationships/image"/><Relationship Id="rId47" Target="../media/image102.png" Type="http://schemas.openxmlformats.org/officeDocument/2006/relationships/image"/><Relationship Id="rId48" Target="../media/image103.sv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Relationship Id="rId7" Target="../media/image62.png" Type="http://schemas.openxmlformats.org/officeDocument/2006/relationships/image"/><Relationship Id="rId8" Target="../media/image63.svg" Type="http://schemas.openxmlformats.org/officeDocument/2006/relationships/image"/><Relationship Id="rId9" Target="../media/image64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0.png" Type="http://schemas.openxmlformats.org/officeDocument/2006/relationships/image"/><Relationship Id="rId4" Target="../media/image11.sv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Relationship Id="rId7" Target="../media/image104.png" Type="http://schemas.openxmlformats.org/officeDocument/2006/relationships/image"/><Relationship Id="rId8" Target="../media/image105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9.svg" Type="http://schemas.openxmlformats.org/officeDocument/2006/relationships/image"/><Relationship Id="rId11" Target="../media/image47.jpeg" Type="http://schemas.openxmlformats.org/officeDocument/2006/relationships/image"/><Relationship Id="rId2" Target="../media/image1.jpeg" Type="http://schemas.openxmlformats.org/officeDocument/2006/relationships/image"/><Relationship Id="rId3" Target="../media/image10.png" Type="http://schemas.openxmlformats.org/officeDocument/2006/relationships/image"/><Relationship Id="rId4" Target="../media/image11.sv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Relationship Id="rId7" Target="../media/image106.png" Type="http://schemas.openxmlformats.org/officeDocument/2006/relationships/image"/><Relationship Id="rId8" Target="../media/image107.svg" Type="http://schemas.openxmlformats.org/officeDocument/2006/relationships/image"/><Relationship Id="rId9" Target="../media/image108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3.svg" Type="http://schemas.openxmlformats.org/officeDocument/2006/relationships/image"/><Relationship Id="rId11" Target="../media/image114.png" Type="http://schemas.openxmlformats.org/officeDocument/2006/relationships/image"/><Relationship Id="rId12" Target="../media/image115.svg" Type="http://schemas.openxmlformats.org/officeDocument/2006/relationships/image"/><Relationship Id="rId13" Target="../media/image116.png" Type="http://schemas.openxmlformats.org/officeDocument/2006/relationships/image"/><Relationship Id="rId14" Target="../media/image117.svg" Type="http://schemas.openxmlformats.org/officeDocument/2006/relationships/image"/><Relationship Id="rId15" Target="../media/image118.png" Type="http://schemas.openxmlformats.org/officeDocument/2006/relationships/image"/><Relationship Id="rId16" Target="../media/image119.svg" Type="http://schemas.openxmlformats.org/officeDocument/2006/relationships/image"/><Relationship Id="rId17" Target="../media/image120.png" Type="http://schemas.openxmlformats.org/officeDocument/2006/relationships/image"/><Relationship Id="rId18" Target="../media/image121.svg" Type="http://schemas.openxmlformats.org/officeDocument/2006/relationships/image"/><Relationship Id="rId19" Target="../media/image122.png" Type="http://schemas.openxmlformats.org/officeDocument/2006/relationships/image"/><Relationship Id="rId2" Target="../media/image1.jpeg" Type="http://schemas.openxmlformats.org/officeDocument/2006/relationships/image"/><Relationship Id="rId20" Target="../media/image123.svg" Type="http://schemas.openxmlformats.org/officeDocument/2006/relationships/image"/><Relationship Id="rId21" Target="../media/image124.png" Type="http://schemas.openxmlformats.org/officeDocument/2006/relationships/image"/><Relationship Id="rId22" Target="../media/image125.svg" Type="http://schemas.openxmlformats.org/officeDocument/2006/relationships/image"/><Relationship Id="rId23" Target="../media/image126.png" Type="http://schemas.openxmlformats.org/officeDocument/2006/relationships/image"/><Relationship Id="rId24" Target="../media/image127.svg" Type="http://schemas.openxmlformats.org/officeDocument/2006/relationships/image"/><Relationship Id="rId25" Target="../media/image128.png" Type="http://schemas.openxmlformats.org/officeDocument/2006/relationships/image"/><Relationship Id="rId26" Target="../media/image129.svg" Type="http://schemas.openxmlformats.org/officeDocument/2006/relationships/image"/><Relationship Id="rId27" Target="../media/image130.png" Type="http://schemas.openxmlformats.org/officeDocument/2006/relationships/image"/><Relationship Id="rId28" Target="../media/image131.svg" Type="http://schemas.openxmlformats.org/officeDocument/2006/relationships/image"/><Relationship Id="rId29" Target="../media/image132.png" Type="http://schemas.openxmlformats.org/officeDocument/2006/relationships/image"/><Relationship Id="rId3" Target="../media/image10.png" Type="http://schemas.openxmlformats.org/officeDocument/2006/relationships/image"/><Relationship Id="rId30" Target="../media/image133.svg" Type="http://schemas.openxmlformats.org/officeDocument/2006/relationships/image"/><Relationship Id="rId31" Target="../media/image134.png" Type="http://schemas.openxmlformats.org/officeDocument/2006/relationships/image"/><Relationship Id="rId32" Target="../media/image135.svg" Type="http://schemas.openxmlformats.org/officeDocument/2006/relationships/image"/><Relationship Id="rId33" Target="../media/image136.png" Type="http://schemas.openxmlformats.org/officeDocument/2006/relationships/image"/><Relationship Id="rId34" Target="../media/image137.svg" Type="http://schemas.openxmlformats.org/officeDocument/2006/relationships/image"/><Relationship Id="rId35" Target="../media/image138.png" Type="http://schemas.openxmlformats.org/officeDocument/2006/relationships/image"/><Relationship Id="rId36" Target="../media/image139.svg" Type="http://schemas.openxmlformats.org/officeDocument/2006/relationships/image"/><Relationship Id="rId37" Target="../media/image140.png" Type="http://schemas.openxmlformats.org/officeDocument/2006/relationships/image"/><Relationship Id="rId38" Target="../media/image141.svg" Type="http://schemas.openxmlformats.org/officeDocument/2006/relationships/image"/><Relationship Id="rId39" Target="../media/image142.png" Type="http://schemas.openxmlformats.org/officeDocument/2006/relationships/image"/><Relationship Id="rId4" Target="../media/image11.svg" Type="http://schemas.openxmlformats.org/officeDocument/2006/relationships/image"/><Relationship Id="rId40" Target="../media/image143.svg" Type="http://schemas.openxmlformats.org/officeDocument/2006/relationships/image"/><Relationship Id="rId41" Target="../media/image144.png" Type="http://schemas.openxmlformats.org/officeDocument/2006/relationships/image"/><Relationship Id="rId42" Target="../media/image145.svg" Type="http://schemas.openxmlformats.org/officeDocument/2006/relationships/image"/><Relationship Id="rId43" Target="../media/image146.png" Type="http://schemas.openxmlformats.org/officeDocument/2006/relationships/image"/><Relationship Id="rId44" Target="../media/image147.svg" Type="http://schemas.openxmlformats.org/officeDocument/2006/relationships/image"/><Relationship Id="rId45" Target="../media/image148.png" Type="http://schemas.openxmlformats.org/officeDocument/2006/relationships/image"/><Relationship Id="rId46" Target="../media/image149.svg" Type="http://schemas.openxmlformats.org/officeDocument/2006/relationships/image"/><Relationship Id="rId47" Target="../media/image47.jpe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Relationship Id="rId7" Target="../media/image110.png" Type="http://schemas.openxmlformats.org/officeDocument/2006/relationships/image"/><Relationship Id="rId8" Target="../media/image111.svg" Type="http://schemas.openxmlformats.org/officeDocument/2006/relationships/image"/><Relationship Id="rId9" Target="../media/image112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0.png" Type="http://schemas.openxmlformats.org/officeDocument/2006/relationships/image"/><Relationship Id="rId4" Target="../media/image11.sv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Relationship Id="rId7" Target="../media/image150.png" Type="http://schemas.openxmlformats.org/officeDocument/2006/relationships/image"/><Relationship Id="rId8" Target="../media/image151.sv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png" Type="http://schemas.openxmlformats.org/officeDocument/2006/relationships/image"/><Relationship Id="rId11" Target="../media/image16.png" Type="http://schemas.openxmlformats.org/officeDocument/2006/relationships/image"/><Relationship Id="rId12" Target="../media/image45.png" Type="http://schemas.openxmlformats.org/officeDocument/2006/relationships/image"/><Relationship Id="rId13" Target="../media/image152.png" Type="http://schemas.openxmlformats.org/officeDocument/2006/relationships/image"/><Relationship Id="rId14" Target="../media/image153.png" Type="http://schemas.openxmlformats.org/officeDocument/2006/relationships/image"/><Relationship Id="rId2" Target="../media/image1.jpeg" Type="http://schemas.openxmlformats.org/officeDocument/2006/relationships/image"/><Relationship Id="rId3" Target="../media/image10.png" Type="http://schemas.openxmlformats.org/officeDocument/2006/relationships/image"/><Relationship Id="rId4" Target="../media/image11.svg" Type="http://schemas.openxmlformats.org/officeDocument/2006/relationships/image"/><Relationship Id="rId5" Target="../media/image12.png" Type="http://schemas.openxmlformats.org/officeDocument/2006/relationships/image"/><Relationship Id="rId6" Target="../media/image13.svg" Type="http://schemas.openxmlformats.org/officeDocument/2006/relationships/image"/><Relationship Id="rId7" Target="../media/image8.png" Type="http://schemas.openxmlformats.org/officeDocument/2006/relationships/image"/><Relationship Id="rId8" Target="../media/image9.svg" Type="http://schemas.openxmlformats.org/officeDocument/2006/relationships/image"/><Relationship Id="rId9" Target="../media/image14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0.png" Type="http://schemas.openxmlformats.org/officeDocument/2006/relationships/image"/><Relationship Id="rId4" Target="../media/image11.sv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Relationship Id="rId7" Target="../media/image154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60.svg" Type="http://schemas.openxmlformats.org/officeDocument/2006/relationships/image"/><Relationship Id="rId11" Target="../media/image161.png" Type="http://schemas.openxmlformats.org/officeDocument/2006/relationships/image"/><Relationship Id="rId12" Target="../media/image162.svg" Type="http://schemas.openxmlformats.org/officeDocument/2006/relationships/image"/><Relationship Id="rId2" Target="../media/image1.jpeg" Type="http://schemas.openxmlformats.org/officeDocument/2006/relationships/image"/><Relationship Id="rId3" Target="../media/image155.png" Type="http://schemas.openxmlformats.org/officeDocument/2006/relationships/image"/><Relationship Id="rId4" Target="../media/image156.sv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Relationship Id="rId7" Target="../media/image157.png" Type="http://schemas.openxmlformats.org/officeDocument/2006/relationships/image"/><Relationship Id="rId8" Target="../media/image158.svg" Type="http://schemas.openxmlformats.org/officeDocument/2006/relationships/image"/><Relationship Id="rId9" Target="../media/image159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64.png" Type="http://schemas.openxmlformats.org/officeDocument/2006/relationships/image"/><Relationship Id="rId11" Target="../media/image165.png" Type="http://schemas.openxmlformats.org/officeDocument/2006/relationships/image"/><Relationship Id="rId12" Target="../media/image166.svg" Type="http://schemas.openxmlformats.org/officeDocument/2006/relationships/image"/><Relationship Id="rId2" Target="../media/image1.jpeg" Type="http://schemas.openxmlformats.org/officeDocument/2006/relationships/image"/><Relationship Id="rId3" Target="../media/image10.png" Type="http://schemas.openxmlformats.org/officeDocument/2006/relationships/image"/><Relationship Id="rId4" Target="../media/image11.svg" Type="http://schemas.openxmlformats.org/officeDocument/2006/relationships/image"/><Relationship Id="rId5" Target="../media/image12.png" Type="http://schemas.openxmlformats.org/officeDocument/2006/relationships/image"/><Relationship Id="rId6" Target="../media/image13.svg" Type="http://schemas.openxmlformats.org/officeDocument/2006/relationships/image"/><Relationship Id="rId7" Target="../media/image8.png" Type="http://schemas.openxmlformats.org/officeDocument/2006/relationships/image"/><Relationship Id="rId8" Target="../media/image9.svg" Type="http://schemas.openxmlformats.org/officeDocument/2006/relationships/image"/><Relationship Id="rId9" Target="../media/image163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60.svg" Type="http://schemas.openxmlformats.org/officeDocument/2006/relationships/image"/><Relationship Id="rId11" Target="../media/image161.png" Type="http://schemas.openxmlformats.org/officeDocument/2006/relationships/image"/><Relationship Id="rId12" Target="../media/image162.svg" Type="http://schemas.openxmlformats.org/officeDocument/2006/relationships/image"/><Relationship Id="rId2" Target="../media/image1.jpeg" Type="http://schemas.openxmlformats.org/officeDocument/2006/relationships/image"/><Relationship Id="rId3" Target="../media/image10.png" Type="http://schemas.openxmlformats.org/officeDocument/2006/relationships/image"/><Relationship Id="rId4" Target="../media/image11.sv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Relationship Id="rId7" Target="../media/image157.png" Type="http://schemas.openxmlformats.org/officeDocument/2006/relationships/image"/><Relationship Id="rId8" Target="../media/image158.svg" Type="http://schemas.openxmlformats.org/officeDocument/2006/relationships/image"/><Relationship Id="rId9" Target="../media/image159.pn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0.png" Type="http://schemas.openxmlformats.org/officeDocument/2006/relationships/image"/><Relationship Id="rId2" Target="../media/image1.jpeg" Type="http://schemas.openxmlformats.org/officeDocument/2006/relationships/image"/><Relationship Id="rId3" Target="../media/image10.png" Type="http://schemas.openxmlformats.org/officeDocument/2006/relationships/image"/><Relationship Id="rId4" Target="../media/image11.sv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Relationship Id="rId7" Target="../media/image167.png" Type="http://schemas.openxmlformats.org/officeDocument/2006/relationships/image"/><Relationship Id="rId8" Target="../media/image168.png" Type="http://schemas.openxmlformats.org/officeDocument/2006/relationships/image"/><Relationship Id="rId9" Target="../media/image169.sv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4.svg" Type="http://schemas.openxmlformats.org/officeDocument/2006/relationships/image"/><Relationship Id="rId2" Target="../media/image1.jpeg" Type="http://schemas.openxmlformats.org/officeDocument/2006/relationships/image"/><Relationship Id="rId3" Target="../media/image10.png" Type="http://schemas.openxmlformats.org/officeDocument/2006/relationships/image"/><Relationship Id="rId4" Target="../media/image11.sv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Relationship Id="rId7" Target="../media/image171.png" Type="http://schemas.openxmlformats.org/officeDocument/2006/relationships/image"/><Relationship Id="rId8" Target="../media/image172.svg" Type="http://schemas.openxmlformats.org/officeDocument/2006/relationships/image"/><Relationship Id="rId9" Target="../media/image173.pn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5.png" Type="http://schemas.openxmlformats.org/officeDocument/2006/relationships/image"/><Relationship Id="rId2" Target="../media/image1.jpeg" Type="http://schemas.openxmlformats.org/officeDocument/2006/relationships/image"/><Relationship Id="rId3" Target="../media/image10.png" Type="http://schemas.openxmlformats.org/officeDocument/2006/relationships/image"/><Relationship Id="rId4" Target="../media/image11.svg" Type="http://schemas.openxmlformats.org/officeDocument/2006/relationships/image"/><Relationship Id="rId5" Target="https://drive.google.com/file/d/1YmHnPctyQWPD48DGeTNIy9DNclPL9i1d/view?usp=sharing" TargetMode="External" Type="http://schemas.openxmlformats.org/officeDocument/2006/relationships/hyperlink"/><Relationship Id="rId6" Target="../media/image8.png" Type="http://schemas.openxmlformats.org/officeDocument/2006/relationships/image"/><Relationship Id="rId7" Target="../media/image9.svg" Type="http://schemas.openxmlformats.org/officeDocument/2006/relationships/image"/><Relationship Id="rId8" Target="../media/image33.png" Type="http://schemas.openxmlformats.org/officeDocument/2006/relationships/image"/><Relationship Id="rId9" Target="../media/image34.sv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3203134" y="-726196"/>
            <a:ext cx="23367547" cy="11473381"/>
          </a:xfrm>
          <a:custGeom>
            <a:avLst/>
            <a:gdLst/>
            <a:ahLst/>
            <a:cxnLst/>
            <a:rect r="r" b="b" t="t" l="l"/>
            <a:pathLst>
              <a:path h="11473381" w="23367547">
                <a:moveTo>
                  <a:pt x="0" y="0"/>
                </a:moveTo>
                <a:lnTo>
                  <a:pt x="23367547" y="0"/>
                </a:lnTo>
                <a:lnTo>
                  <a:pt x="23367547" y="11473382"/>
                </a:lnTo>
                <a:lnTo>
                  <a:pt x="0" y="1147338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290060" y="3266459"/>
            <a:ext cx="12694556" cy="20726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579"/>
              </a:lnSpc>
            </a:pPr>
            <a:r>
              <a:rPr lang="en-US" sz="17999">
                <a:solidFill>
                  <a:srgbClr val="517166"/>
                </a:solidFill>
                <a:latin typeface="Londrina Sketch"/>
                <a:ea typeface="Londrina Sketch"/>
                <a:cs typeface="Londrina Sketch"/>
                <a:sym typeface="Londrina Sketch"/>
              </a:rPr>
              <a:t>SWIFT-STORE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602001" y="5088713"/>
            <a:ext cx="8094795" cy="5803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 spc="-118">
                <a:solidFill>
                  <a:srgbClr val="517166"/>
                </a:solidFill>
                <a:latin typeface="Chewy"/>
                <a:ea typeface="Chewy"/>
                <a:cs typeface="Chewy"/>
                <a:sym typeface="Chewy"/>
              </a:rPr>
              <a:t>Smart Multi-Vendor Delivery Optimization Platform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-2130778" y="2041174"/>
            <a:ext cx="7220809" cy="7010749"/>
          </a:xfrm>
          <a:custGeom>
            <a:avLst/>
            <a:gdLst/>
            <a:ahLst/>
            <a:cxnLst/>
            <a:rect r="r" b="b" t="t" l="l"/>
            <a:pathLst>
              <a:path h="7010749" w="7220809">
                <a:moveTo>
                  <a:pt x="0" y="0"/>
                </a:moveTo>
                <a:lnTo>
                  <a:pt x="7220809" y="0"/>
                </a:lnTo>
                <a:lnTo>
                  <a:pt x="7220809" y="7010749"/>
                </a:lnTo>
                <a:lnTo>
                  <a:pt x="0" y="701074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997099" y="3922087"/>
            <a:ext cx="4686165" cy="5336213"/>
          </a:xfrm>
          <a:custGeom>
            <a:avLst/>
            <a:gdLst/>
            <a:ahLst/>
            <a:cxnLst/>
            <a:rect r="r" b="b" t="t" l="l"/>
            <a:pathLst>
              <a:path h="5336213" w="4686165">
                <a:moveTo>
                  <a:pt x="0" y="0"/>
                </a:moveTo>
                <a:lnTo>
                  <a:pt x="4686165" y="0"/>
                </a:lnTo>
                <a:lnTo>
                  <a:pt x="4686165" y="5336213"/>
                </a:lnTo>
                <a:lnTo>
                  <a:pt x="0" y="533621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2897130" y="1608272"/>
            <a:ext cx="548305" cy="548305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17166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07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-4558807">
            <a:off x="14092957" y="1035276"/>
            <a:ext cx="566344" cy="921566"/>
          </a:xfrm>
          <a:custGeom>
            <a:avLst/>
            <a:gdLst/>
            <a:ahLst/>
            <a:cxnLst/>
            <a:rect r="r" b="b" t="t" l="l"/>
            <a:pathLst>
              <a:path h="921566" w="566344">
                <a:moveTo>
                  <a:pt x="0" y="0"/>
                </a:moveTo>
                <a:lnTo>
                  <a:pt x="566344" y="0"/>
                </a:lnTo>
                <a:lnTo>
                  <a:pt x="566344" y="921566"/>
                </a:lnTo>
                <a:lnTo>
                  <a:pt x="0" y="92156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5984616" y="1882424"/>
            <a:ext cx="482267" cy="482267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17166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07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7259300" y="7248496"/>
            <a:ext cx="776886" cy="776886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17166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07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0489009" y="6487748"/>
            <a:ext cx="541249" cy="541249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17166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07"/>
                </a:lnSpc>
              </a:pP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334900">
            <a:off x="4837279" y="-5155180"/>
            <a:ext cx="8613442" cy="20597360"/>
          </a:xfrm>
          <a:custGeom>
            <a:avLst/>
            <a:gdLst/>
            <a:ahLst/>
            <a:cxnLst/>
            <a:rect r="r" b="b" t="t" l="l"/>
            <a:pathLst>
              <a:path h="20597360" w="8613442">
                <a:moveTo>
                  <a:pt x="0" y="0"/>
                </a:moveTo>
                <a:lnTo>
                  <a:pt x="8613442" y="0"/>
                </a:lnTo>
                <a:lnTo>
                  <a:pt x="8613442" y="20597360"/>
                </a:lnTo>
                <a:lnTo>
                  <a:pt x="0" y="2059736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00353" y="1656338"/>
            <a:ext cx="6903603" cy="1269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08"/>
              </a:lnSpc>
            </a:pPr>
            <a:r>
              <a:rPr lang="en-US" sz="10874">
                <a:solidFill>
                  <a:srgbClr val="517166"/>
                </a:solidFill>
                <a:latin typeface="Londrina Sketch"/>
                <a:ea typeface="Londrina Sketch"/>
                <a:cs typeface="Londrina Sketch"/>
                <a:sym typeface="Londrina Sketch"/>
              </a:rPr>
              <a:t>THE TEAM: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0" y="3391419"/>
            <a:ext cx="10698116" cy="41697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900578" indent="-450289" lvl="1">
              <a:lnSpc>
                <a:spcPts val="5547"/>
              </a:lnSpc>
              <a:buFont typeface="Arial"/>
              <a:buChar char="•"/>
            </a:pPr>
            <a:r>
              <a:rPr lang="en-US" sz="4171" spc="45">
                <a:solidFill>
                  <a:srgbClr val="517166"/>
                </a:solidFill>
                <a:latin typeface="Chewy"/>
                <a:ea typeface="Chewy"/>
                <a:cs typeface="Chewy"/>
                <a:sym typeface="Chewy"/>
              </a:rPr>
              <a:t>Deep</a:t>
            </a:r>
            <a:r>
              <a:rPr lang="en-US" sz="4171" spc="45">
                <a:solidFill>
                  <a:srgbClr val="517166"/>
                </a:solidFill>
                <a:latin typeface="Chewy"/>
                <a:ea typeface="Chewy"/>
                <a:cs typeface="Chewy"/>
                <a:sym typeface="Chewy"/>
              </a:rPr>
              <a:t>ali Kumari - 24BCE11526</a:t>
            </a:r>
          </a:p>
          <a:p>
            <a:pPr algn="just" marL="900578" indent="-450289" lvl="1">
              <a:lnSpc>
                <a:spcPts val="5547"/>
              </a:lnSpc>
              <a:buFont typeface="Arial"/>
              <a:buChar char="•"/>
            </a:pPr>
            <a:r>
              <a:rPr lang="en-US" sz="4171" spc="45">
                <a:solidFill>
                  <a:srgbClr val="517166"/>
                </a:solidFill>
                <a:latin typeface="Chewy"/>
                <a:ea typeface="Chewy"/>
                <a:cs typeface="Chewy"/>
                <a:sym typeface="Chewy"/>
              </a:rPr>
              <a:t>MAYANK JOSHI - 24BCE10858</a:t>
            </a:r>
          </a:p>
          <a:p>
            <a:pPr algn="just" marL="900578" indent="-450289" lvl="1">
              <a:lnSpc>
                <a:spcPts val="5547"/>
              </a:lnSpc>
              <a:buFont typeface="Arial"/>
              <a:buChar char="•"/>
            </a:pPr>
            <a:r>
              <a:rPr lang="en-US" sz="4171" spc="45">
                <a:solidFill>
                  <a:srgbClr val="517166"/>
                </a:solidFill>
                <a:latin typeface="Chewy"/>
                <a:ea typeface="Chewy"/>
                <a:cs typeface="Chewy"/>
                <a:sym typeface="Chewy"/>
              </a:rPr>
              <a:t>SWAPNIL SONI - 24B</a:t>
            </a:r>
            <a:r>
              <a:rPr lang="en-US" sz="4171" spc="45">
                <a:solidFill>
                  <a:srgbClr val="517166"/>
                </a:solidFill>
                <a:latin typeface="Chewy"/>
                <a:ea typeface="Chewy"/>
                <a:cs typeface="Chewy"/>
                <a:sym typeface="Chewy"/>
              </a:rPr>
              <a:t>CE10071 </a:t>
            </a:r>
          </a:p>
          <a:p>
            <a:pPr algn="just" marL="900578" indent="-450289" lvl="1">
              <a:lnSpc>
                <a:spcPts val="5547"/>
              </a:lnSpc>
              <a:buFont typeface="Arial"/>
              <a:buChar char="•"/>
            </a:pPr>
            <a:r>
              <a:rPr lang="en-US" sz="4171" spc="45">
                <a:solidFill>
                  <a:srgbClr val="517166"/>
                </a:solidFill>
                <a:latin typeface="Chewy"/>
                <a:ea typeface="Chewy"/>
                <a:cs typeface="Chewy"/>
                <a:sym typeface="Chewy"/>
              </a:rPr>
              <a:t>SAKSHAM</a:t>
            </a:r>
            <a:r>
              <a:rPr lang="en-US" sz="4171" spc="45">
                <a:solidFill>
                  <a:srgbClr val="517166"/>
                </a:solidFill>
                <a:latin typeface="Chewy"/>
                <a:ea typeface="Chewy"/>
                <a:cs typeface="Chewy"/>
                <a:sym typeface="Chewy"/>
              </a:rPr>
              <a:t> AGRAWAL - 24BCE10432</a:t>
            </a:r>
          </a:p>
          <a:p>
            <a:pPr algn="just" marL="900578" indent="-450289" lvl="1">
              <a:lnSpc>
                <a:spcPts val="5547"/>
              </a:lnSpc>
              <a:buFont typeface="Arial"/>
              <a:buChar char="•"/>
            </a:pPr>
            <a:r>
              <a:rPr lang="en-US" sz="4171" spc="45">
                <a:solidFill>
                  <a:srgbClr val="517166"/>
                </a:solidFill>
                <a:latin typeface="Chewy"/>
                <a:ea typeface="Chewy"/>
                <a:cs typeface="Chewy"/>
                <a:sym typeface="Chewy"/>
              </a:rPr>
              <a:t>KAYUR SHARMA - 24BCE10869</a:t>
            </a:r>
          </a:p>
          <a:p>
            <a:pPr algn="just">
              <a:lnSpc>
                <a:spcPts val="5547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9485278" y="2129248"/>
            <a:ext cx="7774022" cy="25633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814"/>
              </a:lnSpc>
            </a:pPr>
          </a:p>
          <a:p>
            <a:pPr algn="just" marL="1106166" indent="-553083" lvl="1">
              <a:lnSpc>
                <a:spcPts val="6814"/>
              </a:lnSpc>
              <a:buFont typeface="Arial"/>
              <a:buChar char="•"/>
            </a:pPr>
            <a:r>
              <a:rPr lang="en-US" sz="5123" spc="56">
                <a:solidFill>
                  <a:srgbClr val="517166"/>
                </a:solidFill>
                <a:latin typeface="Chewy"/>
                <a:ea typeface="Chewy"/>
                <a:cs typeface="Chewy"/>
                <a:sym typeface="Chewy"/>
              </a:rPr>
              <a:t>V</a:t>
            </a:r>
            <a:r>
              <a:rPr lang="en-US" sz="5123" spc="56">
                <a:solidFill>
                  <a:srgbClr val="517166"/>
                </a:solidFill>
                <a:latin typeface="Chewy"/>
                <a:ea typeface="Chewy"/>
                <a:cs typeface="Chewy"/>
                <a:sym typeface="Chewy"/>
              </a:rPr>
              <a:t>ijay Kumar Trivedi</a:t>
            </a:r>
          </a:p>
          <a:p>
            <a:pPr algn="just">
              <a:lnSpc>
                <a:spcPts val="6814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9640105" y="1906272"/>
            <a:ext cx="8104607" cy="1019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18"/>
              </a:lnSpc>
            </a:pPr>
            <a:r>
              <a:rPr lang="en-US" sz="8788">
                <a:solidFill>
                  <a:srgbClr val="517166"/>
                </a:solidFill>
                <a:latin typeface="Londrina Sketch"/>
                <a:ea typeface="Londrina Sketch"/>
                <a:cs typeface="Londrina Sketch"/>
                <a:sym typeface="Londrina Sketch"/>
              </a:rPr>
              <a:t>SUPERVIS</a:t>
            </a:r>
            <a:r>
              <a:rPr lang="en-US" sz="8788">
                <a:solidFill>
                  <a:srgbClr val="517166"/>
                </a:solidFill>
                <a:latin typeface="Londrina Sketch"/>
                <a:ea typeface="Londrina Sketch"/>
                <a:cs typeface="Londrina Sketch"/>
                <a:sym typeface="Londrina Sketch"/>
              </a:rPr>
              <a:t>ED BY : </a:t>
            </a:r>
          </a:p>
        </p:txBody>
      </p:sp>
    </p:spTree>
  </p:cSld>
  <p:clrMapOvr>
    <a:masterClrMapping/>
  </p:clrMapOvr>
  <p:transition spd="slow">
    <p:fade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334900">
            <a:off x="4158297" y="-6006127"/>
            <a:ext cx="9203671" cy="22008778"/>
          </a:xfrm>
          <a:custGeom>
            <a:avLst/>
            <a:gdLst/>
            <a:ahLst/>
            <a:cxnLst/>
            <a:rect r="r" b="b" t="t" l="l"/>
            <a:pathLst>
              <a:path h="22008778" w="9203671">
                <a:moveTo>
                  <a:pt x="0" y="0"/>
                </a:moveTo>
                <a:lnTo>
                  <a:pt x="9203671" y="0"/>
                </a:lnTo>
                <a:lnTo>
                  <a:pt x="9203671" y="22008778"/>
                </a:lnTo>
                <a:lnTo>
                  <a:pt x="0" y="2200877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720316" y="1433543"/>
            <a:ext cx="7509869" cy="1018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59"/>
              </a:lnSpc>
            </a:pPr>
            <a:r>
              <a:rPr lang="en-US" sz="8839">
                <a:solidFill>
                  <a:srgbClr val="517166"/>
                </a:solidFill>
                <a:latin typeface="Londrina Sketch"/>
                <a:ea typeface="Londrina Sketch"/>
                <a:cs typeface="Londrina Sketch"/>
                <a:sym typeface="Londrina Sketch"/>
              </a:rPr>
              <a:t>INTRODUCTION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445434" y="2348740"/>
            <a:ext cx="9997797" cy="67031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1350714" indent="-450238" lvl="2">
              <a:lnSpc>
                <a:spcPts val="4817"/>
              </a:lnSpc>
              <a:buFont typeface="Arial"/>
              <a:buChar char="⚬"/>
            </a:pPr>
            <a:r>
              <a:rPr lang="en-US" sz="3128" spc="81">
                <a:solidFill>
                  <a:srgbClr val="517166"/>
                </a:solidFill>
                <a:latin typeface="Chewy"/>
                <a:ea typeface="Chewy"/>
                <a:cs typeface="Chewy"/>
                <a:sym typeface="Chewy"/>
              </a:rPr>
              <a:t>SwiftSt</a:t>
            </a:r>
            <a:r>
              <a:rPr lang="en-US" sz="3128" spc="81">
                <a:solidFill>
                  <a:srgbClr val="517166"/>
                </a:solidFill>
                <a:latin typeface="Chewy"/>
                <a:ea typeface="Chewy"/>
                <a:cs typeface="Chewy"/>
                <a:sym typeface="Chewy"/>
              </a:rPr>
              <a:t>ore is a smart multi-vendor delivery optimization platform designed to improve efficiency in hyperlocal delivery systems.</a:t>
            </a:r>
          </a:p>
          <a:p>
            <a:pPr algn="ctr">
              <a:lnSpc>
                <a:spcPts val="4817"/>
              </a:lnSpc>
            </a:pPr>
          </a:p>
          <a:p>
            <a:pPr algn="ctr" marL="1350714" indent="-450238" lvl="2">
              <a:lnSpc>
                <a:spcPts val="4817"/>
              </a:lnSpc>
              <a:buFont typeface="Arial"/>
              <a:buChar char="⚬"/>
            </a:pPr>
            <a:r>
              <a:rPr lang="en-US" sz="3128" spc="81">
                <a:solidFill>
                  <a:srgbClr val="517166"/>
                </a:solidFill>
                <a:latin typeface="Chewy"/>
                <a:ea typeface="Chewy"/>
                <a:cs typeface="Chewy"/>
                <a:sym typeface="Chewy"/>
              </a:rPr>
              <a:t> It focuses on intelligent delivery partner assignment, secure workflows, and real-time tracking.</a:t>
            </a:r>
          </a:p>
          <a:p>
            <a:pPr algn="ctr">
              <a:lnSpc>
                <a:spcPts val="4817"/>
              </a:lnSpc>
            </a:pPr>
          </a:p>
          <a:p>
            <a:pPr algn="ctr" marL="1350714" indent="-450238" lvl="2">
              <a:lnSpc>
                <a:spcPts val="4817"/>
              </a:lnSpc>
              <a:buFont typeface="Arial"/>
              <a:buChar char="⚬"/>
            </a:pPr>
            <a:r>
              <a:rPr lang="en-US" sz="3128" spc="81">
                <a:solidFill>
                  <a:srgbClr val="517166"/>
                </a:solidFill>
                <a:latin typeface="Chewy"/>
                <a:ea typeface="Chewy"/>
                <a:cs typeface="Chewy"/>
                <a:sym typeface="Chewy"/>
              </a:rPr>
              <a:t>With the rise of online ordering, optimized backend systems are critical for faster and reliable delivery</a:t>
            </a:r>
          </a:p>
          <a:p>
            <a:pPr algn="ctr">
              <a:lnSpc>
                <a:spcPts val="4817"/>
              </a:lnSpc>
            </a:pPr>
          </a:p>
        </p:txBody>
      </p:sp>
      <p:sp>
        <p:nvSpPr>
          <p:cNvPr name="Freeform 6" id="6"/>
          <p:cNvSpPr/>
          <p:nvPr/>
        </p:nvSpPr>
        <p:spPr>
          <a:xfrm flipH="false" flipV="false" rot="839528">
            <a:off x="14920230" y="5891041"/>
            <a:ext cx="1688591" cy="2232512"/>
          </a:xfrm>
          <a:custGeom>
            <a:avLst/>
            <a:gdLst/>
            <a:ahLst/>
            <a:cxnLst/>
            <a:rect r="r" b="b" t="t" l="l"/>
            <a:pathLst>
              <a:path h="2232512" w="1688591">
                <a:moveTo>
                  <a:pt x="0" y="0"/>
                </a:moveTo>
                <a:lnTo>
                  <a:pt x="1688590" y="0"/>
                </a:lnTo>
                <a:lnTo>
                  <a:pt x="1688590" y="2232511"/>
                </a:lnTo>
                <a:lnTo>
                  <a:pt x="0" y="223251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4558807">
            <a:off x="14092957" y="1035276"/>
            <a:ext cx="566344" cy="921566"/>
          </a:xfrm>
          <a:custGeom>
            <a:avLst/>
            <a:gdLst/>
            <a:ahLst/>
            <a:cxnLst/>
            <a:rect r="r" b="b" t="t" l="l"/>
            <a:pathLst>
              <a:path h="921566" w="566344">
                <a:moveTo>
                  <a:pt x="0" y="0"/>
                </a:moveTo>
                <a:lnTo>
                  <a:pt x="566344" y="0"/>
                </a:lnTo>
                <a:lnTo>
                  <a:pt x="566344" y="921566"/>
                </a:lnTo>
                <a:lnTo>
                  <a:pt x="0" y="92156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5984616" y="1882424"/>
            <a:ext cx="482267" cy="482267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17166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07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2897130" y="1608272"/>
            <a:ext cx="548305" cy="548305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17166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07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6225749" y="8717051"/>
            <a:ext cx="541249" cy="541249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17166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07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503950" y="3749343"/>
            <a:ext cx="3215535" cy="3010910"/>
          </a:xfrm>
          <a:custGeom>
            <a:avLst/>
            <a:gdLst/>
            <a:ahLst/>
            <a:cxnLst/>
            <a:rect r="r" b="b" t="t" l="l"/>
            <a:pathLst>
              <a:path h="3010910" w="3215535">
                <a:moveTo>
                  <a:pt x="0" y="0"/>
                </a:moveTo>
                <a:lnTo>
                  <a:pt x="3215535" y="0"/>
                </a:lnTo>
                <a:lnTo>
                  <a:pt x="3215535" y="3010910"/>
                </a:lnTo>
                <a:lnTo>
                  <a:pt x="0" y="301091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3860471" y="4468584"/>
            <a:ext cx="5102907" cy="4583339"/>
          </a:xfrm>
          <a:custGeom>
            <a:avLst/>
            <a:gdLst/>
            <a:ahLst/>
            <a:cxnLst/>
            <a:rect r="r" b="b" t="t" l="l"/>
            <a:pathLst>
              <a:path h="4583339" w="5102907">
                <a:moveTo>
                  <a:pt x="0" y="0"/>
                </a:moveTo>
                <a:lnTo>
                  <a:pt x="5102907" y="0"/>
                </a:lnTo>
                <a:lnTo>
                  <a:pt x="5102907" y="4583339"/>
                </a:lnTo>
                <a:lnTo>
                  <a:pt x="0" y="458333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-9303990">
            <a:off x="1956168" y="6869398"/>
            <a:ext cx="808761" cy="1316031"/>
          </a:xfrm>
          <a:custGeom>
            <a:avLst/>
            <a:gdLst/>
            <a:ahLst/>
            <a:cxnLst/>
            <a:rect r="r" b="b" t="t" l="l"/>
            <a:pathLst>
              <a:path h="1316031" w="808761">
                <a:moveTo>
                  <a:pt x="0" y="0"/>
                </a:moveTo>
                <a:lnTo>
                  <a:pt x="808761" y="0"/>
                </a:lnTo>
                <a:lnTo>
                  <a:pt x="808761" y="1316031"/>
                </a:lnTo>
                <a:lnTo>
                  <a:pt x="0" y="131603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fade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334900">
            <a:off x="-713005" y="-12993206"/>
            <a:ext cx="15007276" cy="35886963"/>
          </a:xfrm>
          <a:custGeom>
            <a:avLst/>
            <a:gdLst/>
            <a:ahLst/>
            <a:cxnLst/>
            <a:rect r="r" b="b" t="t" l="l"/>
            <a:pathLst>
              <a:path h="35886963" w="15007276">
                <a:moveTo>
                  <a:pt x="0" y="0"/>
                </a:moveTo>
                <a:lnTo>
                  <a:pt x="15007275" y="0"/>
                </a:lnTo>
                <a:lnTo>
                  <a:pt x="15007275" y="35886964"/>
                </a:lnTo>
                <a:lnTo>
                  <a:pt x="0" y="3588696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839528">
            <a:off x="14920230" y="5891041"/>
            <a:ext cx="1688591" cy="2232512"/>
          </a:xfrm>
          <a:custGeom>
            <a:avLst/>
            <a:gdLst/>
            <a:ahLst/>
            <a:cxnLst/>
            <a:rect r="r" b="b" t="t" l="l"/>
            <a:pathLst>
              <a:path h="2232512" w="1688591">
                <a:moveTo>
                  <a:pt x="0" y="0"/>
                </a:moveTo>
                <a:lnTo>
                  <a:pt x="1688590" y="0"/>
                </a:lnTo>
                <a:lnTo>
                  <a:pt x="1688590" y="2232511"/>
                </a:lnTo>
                <a:lnTo>
                  <a:pt x="0" y="223251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4558807">
            <a:off x="9744203" y="181552"/>
            <a:ext cx="566344" cy="921566"/>
          </a:xfrm>
          <a:custGeom>
            <a:avLst/>
            <a:gdLst/>
            <a:ahLst/>
            <a:cxnLst/>
            <a:rect r="r" b="b" t="t" l="l"/>
            <a:pathLst>
              <a:path h="921566" w="566344">
                <a:moveTo>
                  <a:pt x="0" y="0"/>
                </a:moveTo>
                <a:lnTo>
                  <a:pt x="566344" y="0"/>
                </a:lnTo>
                <a:lnTo>
                  <a:pt x="566344" y="921565"/>
                </a:lnTo>
                <a:lnTo>
                  <a:pt x="0" y="92156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5523391" y="129183"/>
            <a:ext cx="482267" cy="482267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17166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07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5764525" y="9477155"/>
            <a:ext cx="548305" cy="548305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17166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07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28700" y="9477155"/>
            <a:ext cx="541249" cy="541249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17166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07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503950" y="3749343"/>
            <a:ext cx="3215535" cy="3010910"/>
          </a:xfrm>
          <a:custGeom>
            <a:avLst/>
            <a:gdLst/>
            <a:ahLst/>
            <a:cxnLst/>
            <a:rect r="r" b="b" t="t" l="l"/>
            <a:pathLst>
              <a:path h="3010910" w="3215535">
                <a:moveTo>
                  <a:pt x="0" y="0"/>
                </a:moveTo>
                <a:lnTo>
                  <a:pt x="3215535" y="0"/>
                </a:lnTo>
                <a:lnTo>
                  <a:pt x="3215535" y="3010910"/>
                </a:lnTo>
                <a:lnTo>
                  <a:pt x="0" y="301091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3860471" y="4468584"/>
            <a:ext cx="5102907" cy="4583339"/>
          </a:xfrm>
          <a:custGeom>
            <a:avLst/>
            <a:gdLst/>
            <a:ahLst/>
            <a:cxnLst/>
            <a:rect r="r" b="b" t="t" l="l"/>
            <a:pathLst>
              <a:path h="4583339" w="5102907">
                <a:moveTo>
                  <a:pt x="0" y="0"/>
                </a:moveTo>
                <a:lnTo>
                  <a:pt x="5102907" y="0"/>
                </a:lnTo>
                <a:lnTo>
                  <a:pt x="5102907" y="4583339"/>
                </a:lnTo>
                <a:lnTo>
                  <a:pt x="0" y="458333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-9303990">
            <a:off x="6229967" y="9093292"/>
            <a:ext cx="808761" cy="1316031"/>
          </a:xfrm>
          <a:custGeom>
            <a:avLst/>
            <a:gdLst/>
            <a:ahLst/>
            <a:cxnLst/>
            <a:rect r="r" b="b" t="t" l="l"/>
            <a:pathLst>
              <a:path h="1316031" w="808761">
                <a:moveTo>
                  <a:pt x="0" y="0"/>
                </a:moveTo>
                <a:lnTo>
                  <a:pt x="808761" y="0"/>
                </a:lnTo>
                <a:lnTo>
                  <a:pt x="808761" y="1316031"/>
                </a:lnTo>
                <a:lnTo>
                  <a:pt x="0" y="131603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0" y="1025028"/>
            <a:ext cx="18509988" cy="8236945"/>
          </a:xfrm>
          <a:custGeom>
            <a:avLst/>
            <a:gdLst/>
            <a:ahLst/>
            <a:cxnLst/>
            <a:rect r="r" b="b" t="t" l="l"/>
            <a:pathLst>
              <a:path h="8236945" w="18509988">
                <a:moveTo>
                  <a:pt x="0" y="0"/>
                </a:moveTo>
                <a:lnTo>
                  <a:pt x="18509988" y="0"/>
                </a:lnTo>
                <a:lnTo>
                  <a:pt x="18509988" y="8236944"/>
                </a:lnTo>
                <a:lnTo>
                  <a:pt x="0" y="823694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3990110" y="244924"/>
            <a:ext cx="541249" cy="541249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17166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07"/>
                </a:lnSpc>
              </a:pP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-349621" y="1021530"/>
            <a:ext cx="18637621" cy="8220268"/>
          </a:xfrm>
          <a:custGeom>
            <a:avLst/>
            <a:gdLst/>
            <a:ahLst/>
            <a:cxnLst/>
            <a:rect r="r" b="b" t="t" l="l"/>
            <a:pathLst>
              <a:path h="8220268" w="18637621">
                <a:moveTo>
                  <a:pt x="0" y="0"/>
                </a:moveTo>
                <a:lnTo>
                  <a:pt x="18637621" y="0"/>
                </a:lnTo>
                <a:lnTo>
                  <a:pt x="18637621" y="8220268"/>
                </a:lnTo>
                <a:lnTo>
                  <a:pt x="0" y="8220268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-20449" r="0" b="0"/>
            </a:stretch>
          </a:blipFill>
        </p:spPr>
      </p:sp>
    </p:spTree>
  </p:cSld>
  <p:clrMapOvr>
    <a:masterClrMapping/>
  </p:clrMapOvr>
  <p:transition spd="slow">
    <p:fade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334900">
            <a:off x="4158297" y="-6006127"/>
            <a:ext cx="9203671" cy="22008778"/>
          </a:xfrm>
          <a:custGeom>
            <a:avLst/>
            <a:gdLst/>
            <a:ahLst/>
            <a:cxnLst/>
            <a:rect r="r" b="b" t="t" l="l"/>
            <a:pathLst>
              <a:path h="22008778" w="9203671">
                <a:moveTo>
                  <a:pt x="0" y="0"/>
                </a:moveTo>
                <a:lnTo>
                  <a:pt x="9203671" y="0"/>
                </a:lnTo>
                <a:lnTo>
                  <a:pt x="9203671" y="22008778"/>
                </a:lnTo>
                <a:lnTo>
                  <a:pt x="0" y="2200877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000940" y="2169674"/>
            <a:ext cx="9514939" cy="1923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59"/>
              </a:lnSpc>
            </a:pPr>
            <a:r>
              <a:rPr lang="en-US" sz="8839">
                <a:solidFill>
                  <a:srgbClr val="517166"/>
                </a:solidFill>
                <a:latin typeface="Londrina Sketch"/>
                <a:ea typeface="Londrina Sketch"/>
                <a:cs typeface="Londrina Sketch"/>
                <a:sym typeface="Londrina Sketch"/>
              </a:rPr>
              <a:t>EXISTI</a:t>
            </a:r>
            <a:r>
              <a:rPr lang="en-US" sz="8839">
                <a:solidFill>
                  <a:srgbClr val="517166"/>
                </a:solidFill>
                <a:latin typeface="Londrina Sketch"/>
                <a:ea typeface="Londrina Sketch"/>
                <a:cs typeface="Londrina Sketch"/>
                <a:sym typeface="Londrina Sketch"/>
              </a:rPr>
              <a:t>NG SYSTEMS &amp; LIMITATIONS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171282" y="3988612"/>
            <a:ext cx="13586022" cy="47953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86"/>
              </a:lnSpc>
            </a:pPr>
            <a:r>
              <a:rPr lang="en-US" sz="3108" spc="80">
                <a:solidFill>
                  <a:srgbClr val="517166"/>
                </a:solidFill>
                <a:latin typeface="Chewy"/>
                <a:ea typeface="Chewy"/>
                <a:cs typeface="Chewy"/>
                <a:sym typeface="Chewy"/>
              </a:rPr>
              <a:t>Platf</a:t>
            </a:r>
            <a:r>
              <a:rPr lang="en-US" sz="3108" spc="80">
                <a:solidFill>
                  <a:srgbClr val="517166"/>
                </a:solidFill>
                <a:latin typeface="Chewy"/>
                <a:ea typeface="Chewy"/>
                <a:cs typeface="Chewy"/>
                <a:sym typeface="Chewy"/>
              </a:rPr>
              <a:t>orms like Swiggy, Zomato, and Dunzo dominate the market.</a:t>
            </a:r>
          </a:p>
          <a:p>
            <a:pPr algn="ctr">
              <a:lnSpc>
                <a:spcPts val="4786"/>
              </a:lnSpc>
            </a:pPr>
          </a:p>
          <a:p>
            <a:pPr algn="ctr">
              <a:lnSpc>
                <a:spcPts val="4786"/>
              </a:lnSpc>
            </a:pPr>
            <a:r>
              <a:rPr lang="en-US" sz="3108" spc="80">
                <a:solidFill>
                  <a:srgbClr val="517166"/>
                </a:solidFill>
                <a:latin typeface="Chewy"/>
                <a:ea typeface="Chewy"/>
                <a:cs typeface="Chewy"/>
                <a:sym typeface="Chewy"/>
              </a:rPr>
              <a:t>Limitations:</a:t>
            </a:r>
          </a:p>
          <a:p>
            <a:pPr algn="ctr">
              <a:lnSpc>
                <a:spcPts val="4786"/>
              </a:lnSpc>
            </a:pPr>
            <a:r>
              <a:rPr lang="en-US" sz="3108" spc="80">
                <a:solidFill>
                  <a:srgbClr val="517166"/>
                </a:solidFill>
                <a:latin typeface="Chewy"/>
                <a:ea typeface="Chewy"/>
                <a:cs typeface="Chewy"/>
                <a:sym typeface="Chewy"/>
              </a:rPr>
              <a:t>- Limited vendor-level optimization</a:t>
            </a:r>
          </a:p>
          <a:p>
            <a:pPr algn="ctr">
              <a:lnSpc>
                <a:spcPts val="4786"/>
              </a:lnSpc>
            </a:pPr>
            <a:r>
              <a:rPr lang="en-US" sz="3108" spc="80">
                <a:solidFill>
                  <a:srgbClr val="517166"/>
                </a:solidFill>
                <a:latin typeface="Chewy"/>
                <a:ea typeface="Chewy"/>
                <a:cs typeface="Chewy"/>
                <a:sym typeface="Chewy"/>
              </a:rPr>
              <a:t>- Inefficient delivery partner assignment</a:t>
            </a:r>
          </a:p>
          <a:p>
            <a:pPr algn="ctr">
              <a:lnSpc>
                <a:spcPts val="4786"/>
              </a:lnSpc>
            </a:pPr>
            <a:r>
              <a:rPr lang="en-US" sz="3108" spc="80">
                <a:solidFill>
                  <a:srgbClr val="517166"/>
                </a:solidFill>
                <a:latin typeface="Chewy"/>
                <a:ea typeface="Chewy"/>
                <a:cs typeface="Chewy"/>
                <a:sym typeface="Chewy"/>
              </a:rPr>
              <a:t>- Lack of transparency in delivery logic</a:t>
            </a:r>
          </a:p>
          <a:p>
            <a:pPr algn="ctr">
              <a:lnSpc>
                <a:spcPts val="4786"/>
              </a:lnSpc>
            </a:pPr>
            <a:r>
              <a:rPr lang="en-US" sz="3108" spc="80">
                <a:solidFill>
                  <a:srgbClr val="517166"/>
                </a:solidFill>
                <a:latin typeface="Chewy"/>
                <a:ea typeface="Chewy"/>
                <a:cs typeface="Chewy"/>
                <a:sym typeface="Chewy"/>
              </a:rPr>
              <a:t>- Weak integration for small vendors</a:t>
            </a:r>
          </a:p>
          <a:p>
            <a:pPr algn="ctr">
              <a:lnSpc>
                <a:spcPts val="4786"/>
              </a:lnSpc>
            </a:pPr>
          </a:p>
        </p:txBody>
      </p:sp>
      <p:sp>
        <p:nvSpPr>
          <p:cNvPr name="Freeform 6" id="6"/>
          <p:cNvSpPr/>
          <p:nvPr/>
        </p:nvSpPr>
        <p:spPr>
          <a:xfrm flipH="false" flipV="false" rot="-4558807">
            <a:off x="14092957" y="1035276"/>
            <a:ext cx="566344" cy="921566"/>
          </a:xfrm>
          <a:custGeom>
            <a:avLst/>
            <a:gdLst/>
            <a:ahLst/>
            <a:cxnLst/>
            <a:rect r="r" b="b" t="t" l="l"/>
            <a:pathLst>
              <a:path h="921566" w="566344">
                <a:moveTo>
                  <a:pt x="0" y="0"/>
                </a:moveTo>
                <a:lnTo>
                  <a:pt x="566344" y="0"/>
                </a:lnTo>
                <a:lnTo>
                  <a:pt x="566344" y="921566"/>
                </a:lnTo>
                <a:lnTo>
                  <a:pt x="0" y="92156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5984616" y="1882424"/>
            <a:ext cx="482267" cy="482267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17166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07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2897130" y="1608272"/>
            <a:ext cx="548305" cy="548305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17166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07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3970548" y="7990516"/>
            <a:ext cx="405581" cy="405581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17166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07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-1378015" y="2332578"/>
            <a:ext cx="5378955" cy="5458349"/>
          </a:xfrm>
          <a:custGeom>
            <a:avLst/>
            <a:gdLst/>
            <a:ahLst/>
            <a:cxnLst/>
            <a:rect r="r" b="b" t="t" l="l"/>
            <a:pathLst>
              <a:path h="5458349" w="5378955">
                <a:moveTo>
                  <a:pt x="0" y="0"/>
                </a:moveTo>
                <a:lnTo>
                  <a:pt x="5378955" y="0"/>
                </a:lnTo>
                <a:lnTo>
                  <a:pt x="5378955" y="5458349"/>
                </a:lnTo>
                <a:lnTo>
                  <a:pt x="0" y="545834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true" flipV="false" rot="0">
            <a:off x="15159446" y="2748697"/>
            <a:ext cx="2614875" cy="4280301"/>
          </a:xfrm>
          <a:custGeom>
            <a:avLst/>
            <a:gdLst/>
            <a:ahLst/>
            <a:cxnLst/>
            <a:rect r="r" b="b" t="t" l="l"/>
            <a:pathLst>
              <a:path h="4280301" w="2614875">
                <a:moveTo>
                  <a:pt x="2614874" y="0"/>
                </a:moveTo>
                <a:lnTo>
                  <a:pt x="0" y="0"/>
                </a:lnTo>
                <a:lnTo>
                  <a:pt x="0" y="4280301"/>
                </a:lnTo>
                <a:lnTo>
                  <a:pt x="2614874" y="4280301"/>
                </a:lnTo>
                <a:lnTo>
                  <a:pt x="2614874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fade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334900">
            <a:off x="2465615" y="-9400494"/>
            <a:ext cx="12120248" cy="28983202"/>
          </a:xfrm>
          <a:custGeom>
            <a:avLst/>
            <a:gdLst/>
            <a:ahLst/>
            <a:cxnLst/>
            <a:rect r="r" b="b" t="t" l="l"/>
            <a:pathLst>
              <a:path h="28983202" w="12120248">
                <a:moveTo>
                  <a:pt x="0" y="0"/>
                </a:moveTo>
                <a:lnTo>
                  <a:pt x="12120248" y="0"/>
                </a:lnTo>
                <a:lnTo>
                  <a:pt x="12120248" y="28983202"/>
                </a:lnTo>
                <a:lnTo>
                  <a:pt x="0" y="2898320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4558807">
            <a:off x="14551480" y="284893"/>
            <a:ext cx="566344" cy="921566"/>
          </a:xfrm>
          <a:custGeom>
            <a:avLst/>
            <a:gdLst/>
            <a:ahLst/>
            <a:cxnLst/>
            <a:rect r="r" b="b" t="t" l="l"/>
            <a:pathLst>
              <a:path h="921566" w="566344">
                <a:moveTo>
                  <a:pt x="0" y="0"/>
                </a:moveTo>
                <a:lnTo>
                  <a:pt x="566344" y="0"/>
                </a:lnTo>
                <a:lnTo>
                  <a:pt x="566344" y="921566"/>
                </a:lnTo>
                <a:lnTo>
                  <a:pt x="0" y="92156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7018166" y="85158"/>
            <a:ext cx="482267" cy="482267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17166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07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2252046" y="197371"/>
            <a:ext cx="548305" cy="548305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17166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07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619698" y="9806940"/>
            <a:ext cx="405581" cy="405581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17166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07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0" y="480060"/>
            <a:ext cx="18288000" cy="9326880"/>
          </a:xfrm>
          <a:custGeom>
            <a:avLst/>
            <a:gdLst/>
            <a:ahLst/>
            <a:cxnLst/>
            <a:rect r="r" b="b" t="t" l="l"/>
            <a:pathLst>
              <a:path h="9326880" w="18288000">
                <a:moveTo>
                  <a:pt x="0" y="0"/>
                </a:moveTo>
                <a:lnTo>
                  <a:pt x="18288000" y="0"/>
                </a:lnTo>
                <a:lnTo>
                  <a:pt x="18288000" y="9326880"/>
                </a:lnTo>
                <a:lnTo>
                  <a:pt x="0" y="932688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-1746161" y="389428"/>
            <a:ext cx="21222562" cy="9417512"/>
          </a:xfrm>
          <a:custGeom>
            <a:avLst/>
            <a:gdLst/>
            <a:ahLst/>
            <a:cxnLst/>
            <a:rect r="r" b="b" t="t" l="l"/>
            <a:pathLst>
              <a:path h="9417512" w="21222562">
                <a:moveTo>
                  <a:pt x="0" y="0"/>
                </a:moveTo>
                <a:lnTo>
                  <a:pt x="21222562" y="0"/>
                </a:lnTo>
                <a:lnTo>
                  <a:pt x="21222562" y="9417512"/>
                </a:lnTo>
                <a:lnTo>
                  <a:pt x="0" y="941751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fade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334900">
            <a:off x="4158297" y="-6006127"/>
            <a:ext cx="9203671" cy="22008778"/>
          </a:xfrm>
          <a:custGeom>
            <a:avLst/>
            <a:gdLst/>
            <a:ahLst/>
            <a:cxnLst/>
            <a:rect r="r" b="b" t="t" l="l"/>
            <a:pathLst>
              <a:path h="22008778" w="9203671">
                <a:moveTo>
                  <a:pt x="0" y="0"/>
                </a:moveTo>
                <a:lnTo>
                  <a:pt x="9203671" y="0"/>
                </a:lnTo>
                <a:lnTo>
                  <a:pt x="9203671" y="22008778"/>
                </a:lnTo>
                <a:lnTo>
                  <a:pt x="0" y="2200877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002663" y="1112549"/>
            <a:ext cx="10373466" cy="3093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05"/>
              </a:lnSpc>
            </a:pPr>
            <a:r>
              <a:rPr lang="en-US" sz="9636">
                <a:solidFill>
                  <a:srgbClr val="517166"/>
                </a:solidFill>
                <a:latin typeface="Londrina Sketch"/>
                <a:ea typeface="Londrina Sketch"/>
                <a:cs typeface="Londrina Sketch"/>
                <a:sym typeface="Londrina Sketch"/>
              </a:rPr>
              <a:t>HARDWAR</a:t>
            </a:r>
            <a:r>
              <a:rPr lang="en-US" sz="9636">
                <a:solidFill>
                  <a:srgbClr val="517166"/>
                </a:solidFill>
                <a:latin typeface="Londrina Sketch"/>
                <a:ea typeface="Londrina Sketch"/>
                <a:cs typeface="Londrina Sketch"/>
                <a:sym typeface="Londrina Sketch"/>
              </a:rPr>
              <a:t>E &amp; SOFTWARE REQUIREMENTS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-4558807">
            <a:off x="14092957" y="1035276"/>
            <a:ext cx="566344" cy="921566"/>
          </a:xfrm>
          <a:custGeom>
            <a:avLst/>
            <a:gdLst/>
            <a:ahLst/>
            <a:cxnLst/>
            <a:rect r="r" b="b" t="t" l="l"/>
            <a:pathLst>
              <a:path h="921566" w="566344">
                <a:moveTo>
                  <a:pt x="0" y="0"/>
                </a:moveTo>
                <a:lnTo>
                  <a:pt x="566344" y="0"/>
                </a:lnTo>
                <a:lnTo>
                  <a:pt x="566344" y="921566"/>
                </a:lnTo>
                <a:lnTo>
                  <a:pt x="0" y="92156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5984616" y="1882424"/>
            <a:ext cx="482267" cy="482267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17166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07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897130" y="1608272"/>
            <a:ext cx="548305" cy="548305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17166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07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5485470" y="7937611"/>
            <a:ext cx="981413" cy="981413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17166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07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646540" y="3091552"/>
            <a:ext cx="3124434" cy="5336765"/>
          </a:xfrm>
          <a:custGeom>
            <a:avLst/>
            <a:gdLst/>
            <a:ahLst/>
            <a:cxnLst/>
            <a:rect r="r" b="b" t="t" l="l"/>
            <a:pathLst>
              <a:path h="5336765" w="3124434">
                <a:moveTo>
                  <a:pt x="0" y="0"/>
                </a:moveTo>
                <a:lnTo>
                  <a:pt x="3124433" y="0"/>
                </a:lnTo>
                <a:lnTo>
                  <a:pt x="3124433" y="5336765"/>
                </a:lnTo>
                <a:lnTo>
                  <a:pt x="0" y="533676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true" rot="-10800000">
            <a:off x="13711640" y="2364691"/>
            <a:ext cx="3547660" cy="4753239"/>
          </a:xfrm>
          <a:custGeom>
            <a:avLst/>
            <a:gdLst/>
            <a:ahLst/>
            <a:cxnLst/>
            <a:rect r="r" b="b" t="t" l="l"/>
            <a:pathLst>
              <a:path h="4753239" w="3547660">
                <a:moveTo>
                  <a:pt x="0" y="4753239"/>
                </a:moveTo>
                <a:lnTo>
                  <a:pt x="3547660" y="4753239"/>
                </a:lnTo>
                <a:lnTo>
                  <a:pt x="3547660" y="0"/>
                </a:lnTo>
                <a:lnTo>
                  <a:pt x="0" y="0"/>
                </a:lnTo>
                <a:lnTo>
                  <a:pt x="0" y="4753239"/>
                </a:lnTo>
                <a:close/>
              </a:path>
            </a:pathLst>
          </a:custGeom>
          <a:blipFill>
            <a:blip r:embed="rId9"/>
            <a:stretch>
              <a:fillRect l="0" t="0" r="-17904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2604476" y="3893132"/>
            <a:ext cx="13079047" cy="6674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37"/>
              </a:lnSpc>
            </a:pPr>
            <a:r>
              <a:rPr lang="en-US" sz="2881" spc="74">
                <a:solidFill>
                  <a:srgbClr val="517166"/>
                </a:solidFill>
                <a:latin typeface="Chewy"/>
                <a:ea typeface="Chewy"/>
                <a:cs typeface="Chewy"/>
                <a:sym typeface="Chewy"/>
              </a:rPr>
              <a:t>Hardwa</a:t>
            </a:r>
            <a:r>
              <a:rPr lang="en-US" sz="2881" spc="74">
                <a:solidFill>
                  <a:srgbClr val="517166"/>
                </a:solidFill>
                <a:latin typeface="Chewy"/>
                <a:ea typeface="Chewy"/>
                <a:cs typeface="Chewy"/>
                <a:sym typeface="Chewy"/>
              </a:rPr>
              <a:t>re:</a:t>
            </a:r>
          </a:p>
          <a:p>
            <a:pPr algn="ctr">
              <a:lnSpc>
                <a:spcPts val="4437"/>
              </a:lnSpc>
            </a:pPr>
            <a:r>
              <a:rPr lang="en-US" sz="2881" spc="74">
                <a:solidFill>
                  <a:srgbClr val="517166"/>
                </a:solidFill>
                <a:latin typeface="Chewy"/>
                <a:ea typeface="Chewy"/>
                <a:cs typeface="Chewy"/>
                <a:sym typeface="Chewy"/>
              </a:rPr>
              <a:t>• Server (Cloud/Local)</a:t>
            </a:r>
          </a:p>
          <a:p>
            <a:pPr algn="ctr">
              <a:lnSpc>
                <a:spcPts val="4437"/>
              </a:lnSpc>
            </a:pPr>
            <a:r>
              <a:rPr lang="en-US" sz="2881" spc="74">
                <a:solidFill>
                  <a:srgbClr val="517166"/>
                </a:solidFill>
                <a:latin typeface="Chewy"/>
                <a:ea typeface="Chewy"/>
                <a:cs typeface="Chewy"/>
                <a:sym typeface="Chewy"/>
              </a:rPr>
              <a:t>• User Devices (Mobile/Desktop)</a:t>
            </a:r>
          </a:p>
          <a:p>
            <a:pPr algn="ctr">
              <a:lnSpc>
                <a:spcPts val="4437"/>
              </a:lnSpc>
            </a:pPr>
          </a:p>
          <a:p>
            <a:pPr algn="ctr">
              <a:lnSpc>
                <a:spcPts val="4437"/>
              </a:lnSpc>
            </a:pPr>
            <a:r>
              <a:rPr lang="en-US" sz="2881" spc="74">
                <a:solidFill>
                  <a:srgbClr val="517166"/>
                </a:solidFill>
                <a:latin typeface="Chewy"/>
                <a:ea typeface="Chewy"/>
                <a:cs typeface="Chewy"/>
                <a:sym typeface="Chewy"/>
              </a:rPr>
              <a:t>Software:</a:t>
            </a:r>
          </a:p>
          <a:p>
            <a:pPr algn="ctr">
              <a:lnSpc>
                <a:spcPts val="4437"/>
              </a:lnSpc>
            </a:pPr>
            <a:r>
              <a:rPr lang="en-US" sz="2881" spc="74">
                <a:solidFill>
                  <a:srgbClr val="517166"/>
                </a:solidFill>
                <a:latin typeface="Chewy"/>
                <a:ea typeface="Chewy"/>
                <a:cs typeface="Chewy"/>
                <a:sym typeface="Chewy"/>
              </a:rPr>
              <a:t>- Python, Flask</a:t>
            </a:r>
          </a:p>
          <a:p>
            <a:pPr algn="ctr">
              <a:lnSpc>
                <a:spcPts val="4437"/>
              </a:lnSpc>
            </a:pPr>
            <a:r>
              <a:rPr lang="en-US" sz="2881" spc="74">
                <a:solidFill>
                  <a:srgbClr val="517166"/>
                </a:solidFill>
                <a:latin typeface="Chewy"/>
                <a:ea typeface="Chewy"/>
                <a:cs typeface="Chewy"/>
                <a:sym typeface="Chewy"/>
              </a:rPr>
              <a:t>- SQLite Database</a:t>
            </a:r>
          </a:p>
          <a:p>
            <a:pPr algn="ctr">
              <a:lnSpc>
                <a:spcPts val="4437"/>
              </a:lnSpc>
            </a:pPr>
            <a:r>
              <a:rPr lang="en-US" sz="2881" spc="74">
                <a:solidFill>
                  <a:srgbClr val="517166"/>
                </a:solidFill>
                <a:latin typeface="Chewy"/>
                <a:ea typeface="Chewy"/>
                <a:cs typeface="Chewy"/>
                <a:sym typeface="Chewy"/>
              </a:rPr>
              <a:t>- Leaflet.js</a:t>
            </a:r>
          </a:p>
          <a:p>
            <a:pPr algn="ctr">
              <a:lnSpc>
                <a:spcPts val="4437"/>
              </a:lnSpc>
            </a:pPr>
            <a:r>
              <a:rPr lang="en-US" sz="2881" spc="74">
                <a:solidFill>
                  <a:srgbClr val="517166"/>
                </a:solidFill>
                <a:latin typeface="Chewy"/>
                <a:ea typeface="Chewy"/>
                <a:cs typeface="Chewy"/>
                <a:sym typeface="Chewy"/>
              </a:rPr>
              <a:t>- Gmail SMTP</a:t>
            </a:r>
          </a:p>
          <a:p>
            <a:pPr algn="ctr">
              <a:lnSpc>
                <a:spcPts val="4437"/>
              </a:lnSpc>
            </a:pPr>
            <a:r>
              <a:rPr lang="en-US" sz="2881" spc="74">
                <a:solidFill>
                  <a:srgbClr val="517166"/>
                </a:solidFill>
                <a:latin typeface="Chewy"/>
                <a:ea typeface="Chewy"/>
                <a:cs typeface="Chewy"/>
                <a:sym typeface="Chewy"/>
              </a:rPr>
              <a:t>- HTML, CSS, JavaScript</a:t>
            </a:r>
          </a:p>
          <a:p>
            <a:pPr algn="ctr">
              <a:lnSpc>
                <a:spcPts val="4437"/>
              </a:lnSpc>
            </a:pPr>
          </a:p>
          <a:p>
            <a:pPr algn="ctr">
              <a:lnSpc>
                <a:spcPts val="4437"/>
              </a:lnSpc>
            </a:pPr>
          </a:p>
        </p:txBody>
      </p:sp>
    </p:spTree>
  </p:cSld>
  <p:clrMapOvr>
    <a:masterClrMapping/>
  </p:clrMapOvr>
  <p:transition spd="slow">
    <p:fade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334900">
            <a:off x="4158297" y="-6006127"/>
            <a:ext cx="9203671" cy="22008778"/>
          </a:xfrm>
          <a:custGeom>
            <a:avLst/>
            <a:gdLst/>
            <a:ahLst/>
            <a:cxnLst/>
            <a:rect r="r" b="b" t="t" l="l"/>
            <a:pathLst>
              <a:path h="22008778" w="9203671">
                <a:moveTo>
                  <a:pt x="0" y="0"/>
                </a:moveTo>
                <a:lnTo>
                  <a:pt x="9203671" y="0"/>
                </a:lnTo>
                <a:lnTo>
                  <a:pt x="9203671" y="22008778"/>
                </a:lnTo>
                <a:lnTo>
                  <a:pt x="0" y="2200877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002663" y="1452593"/>
            <a:ext cx="10373466" cy="1120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05"/>
              </a:lnSpc>
            </a:pPr>
            <a:r>
              <a:rPr lang="en-US" sz="9636">
                <a:solidFill>
                  <a:srgbClr val="517166"/>
                </a:solidFill>
                <a:latin typeface="Londrina Sketch"/>
                <a:ea typeface="Londrina Sketch"/>
                <a:cs typeface="Londrina Sketch"/>
                <a:sym typeface="Londrina Sketch"/>
              </a:rPr>
              <a:t>T</a:t>
            </a:r>
            <a:r>
              <a:rPr lang="en-US" sz="9636">
                <a:solidFill>
                  <a:srgbClr val="517166"/>
                </a:solidFill>
                <a:latin typeface="Londrina Sketch"/>
                <a:ea typeface="Londrina Sketch"/>
                <a:cs typeface="Londrina Sketch"/>
                <a:sym typeface="Londrina Sketch"/>
              </a:rPr>
              <a:t>ESTING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012840" y="2782302"/>
            <a:ext cx="10353112" cy="48847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32"/>
              </a:lnSpc>
            </a:pPr>
            <a:r>
              <a:rPr lang="en-US" sz="3592" spc="93">
                <a:solidFill>
                  <a:srgbClr val="517166"/>
                </a:solidFill>
                <a:latin typeface="Chewy"/>
                <a:ea typeface="Chewy"/>
                <a:cs typeface="Chewy"/>
                <a:sym typeface="Chewy"/>
              </a:rPr>
              <a:t>Types of Testing Performed:</a:t>
            </a:r>
          </a:p>
          <a:p>
            <a:pPr algn="ctr">
              <a:lnSpc>
                <a:spcPts val="5532"/>
              </a:lnSpc>
            </a:pPr>
            <a:r>
              <a:rPr lang="en-US" sz="3592" spc="93">
                <a:solidFill>
                  <a:srgbClr val="517166"/>
                </a:solidFill>
                <a:latin typeface="Chewy"/>
                <a:ea typeface="Chewy"/>
                <a:cs typeface="Chewy"/>
                <a:sym typeface="Chewy"/>
              </a:rPr>
              <a:t>- Unit Testing (OTP validation, API responses)</a:t>
            </a:r>
          </a:p>
          <a:p>
            <a:pPr algn="ctr">
              <a:lnSpc>
                <a:spcPts val="5532"/>
              </a:lnSpc>
            </a:pPr>
            <a:r>
              <a:rPr lang="en-US" sz="3592" spc="93">
                <a:solidFill>
                  <a:srgbClr val="517166"/>
                </a:solidFill>
                <a:latin typeface="Chewy"/>
                <a:ea typeface="Chewy"/>
                <a:cs typeface="Chewy"/>
                <a:sym typeface="Chewy"/>
              </a:rPr>
              <a:t>- Functional Testing (order placement, assignment)</a:t>
            </a:r>
          </a:p>
          <a:p>
            <a:pPr algn="ctr">
              <a:lnSpc>
                <a:spcPts val="5532"/>
              </a:lnSpc>
            </a:pPr>
            <a:r>
              <a:rPr lang="en-US" sz="3592" spc="93">
                <a:solidFill>
                  <a:srgbClr val="517166"/>
                </a:solidFill>
                <a:latin typeface="Chewy"/>
                <a:ea typeface="Chewy"/>
                <a:cs typeface="Chewy"/>
                <a:sym typeface="Chewy"/>
              </a:rPr>
              <a:t>- Integration Testing (frontend-backend flow)</a:t>
            </a:r>
          </a:p>
          <a:p>
            <a:pPr algn="ctr">
              <a:lnSpc>
                <a:spcPts val="5532"/>
              </a:lnSpc>
            </a:pPr>
            <a:r>
              <a:rPr lang="en-US" sz="3592" spc="93">
                <a:solidFill>
                  <a:srgbClr val="517166"/>
                </a:solidFill>
                <a:latin typeface="Chewy"/>
                <a:ea typeface="Chewy"/>
                <a:cs typeface="Chewy"/>
                <a:sym typeface="Chewy"/>
              </a:rPr>
              <a:t>- Security Testing (authentication, role access)</a:t>
            </a:r>
          </a:p>
          <a:p>
            <a:pPr algn="ctr">
              <a:lnSpc>
                <a:spcPts val="5532"/>
              </a:lnSpc>
            </a:pPr>
          </a:p>
          <a:p>
            <a:pPr algn="ctr">
              <a:lnSpc>
                <a:spcPts val="5532"/>
              </a:lnSpc>
            </a:pPr>
          </a:p>
        </p:txBody>
      </p:sp>
      <p:sp>
        <p:nvSpPr>
          <p:cNvPr name="Freeform 6" id="6"/>
          <p:cNvSpPr/>
          <p:nvPr/>
        </p:nvSpPr>
        <p:spPr>
          <a:xfrm flipH="false" flipV="false" rot="-4558807">
            <a:off x="568798" y="7546212"/>
            <a:ext cx="919804" cy="1496722"/>
          </a:xfrm>
          <a:custGeom>
            <a:avLst/>
            <a:gdLst/>
            <a:ahLst/>
            <a:cxnLst/>
            <a:rect r="r" b="b" t="t" l="l"/>
            <a:pathLst>
              <a:path h="1496722" w="919804">
                <a:moveTo>
                  <a:pt x="0" y="0"/>
                </a:moveTo>
                <a:lnTo>
                  <a:pt x="919804" y="0"/>
                </a:lnTo>
                <a:lnTo>
                  <a:pt x="919804" y="1496722"/>
                </a:lnTo>
                <a:lnTo>
                  <a:pt x="0" y="149672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4701613" y="8439805"/>
            <a:ext cx="818495" cy="818495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17166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07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2897130" y="1608272"/>
            <a:ext cx="548305" cy="548305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17166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07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5984616" y="2302907"/>
            <a:ext cx="541249" cy="541249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17166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07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13784225" y="3658363"/>
            <a:ext cx="4400781" cy="4008712"/>
          </a:xfrm>
          <a:custGeom>
            <a:avLst/>
            <a:gdLst/>
            <a:ahLst/>
            <a:cxnLst/>
            <a:rect r="r" b="b" t="t" l="l"/>
            <a:pathLst>
              <a:path h="4008712" w="4400781">
                <a:moveTo>
                  <a:pt x="0" y="0"/>
                </a:moveTo>
                <a:lnTo>
                  <a:pt x="4400781" y="0"/>
                </a:lnTo>
                <a:lnTo>
                  <a:pt x="4400781" y="4008711"/>
                </a:lnTo>
                <a:lnTo>
                  <a:pt x="0" y="400871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true" flipV="false" rot="0">
            <a:off x="368558" y="2123558"/>
            <a:ext cx="3336248" cy="2996557"/>
          </a:xfrm>
          <a:custGeom>
            <a:avLst/>
            <a:gdLst/>
            <a:ahLst/>
            <a:cxnLst/>
            <a:rect r="r" b="b" t="t" l="l"/>
            <a:pathLst>
              <a:path h="2996557" w="3336248">
                <a:moveTo>
                  <a:pt x="3336248" y="0"/>
                </a:moveTo>
                <a:lnTo>
                  <a:pt x="0" y="0"/>
                </a:lnTo>
                <a:lnTo>
                  <a:pt x="0" y="2996557"/>
                </a:lnTo>
                <a:lnTo>
                  <a:pt x="3336248" y="2996557"/>
                </a:lnTo>
                <a:lnTo>
                  <a:pt x="3336248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700983" y="5561877"/>
            <a:ext cx="2301680" cy="2562599"/>
          </a:xfrm>
          <a:custGeom>
            <a:avLst/>
            <a:gdLst/>
            <a:ahLst/>
            <a:cxnLst/>
            <a:rect r="r" b="b" t="t" l="l"/>
            <a:pathLst>
              <a:path h="2562599" w="2301680">
                <a:moveTo>
                  <a:pt x="0" y="0"/>
                </a:moveTo>
                <a:lnTo>
                  <a:pt x="2301680" y="0"/>
                </a:lnTo>
                <a:lnTo>
                  <a:pt x="2301680" y="2562599"/>
                </a:lnTo>
                <a:lnTo>
                  <a:pt x="0" y="2562599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fade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334900">
            <a:off x="4158297" y="-6006127"/>
            <a:ext cx="9203671" cy="22008778"/>
          </a:xfrm>
          <a:custGeom>
            <a:avLst/>
            <a:gdLst/>
            <a:ahLst/>
            <a:cxnLst/>
            <a:rect r="r" b="b" t="t" l="l"/>
            <a:pathLst>
              <a:path h="22008778" w="9203671">
                <a:moveTo>
                  <a:pt x="0" y="0"/>
                </a:moveTo>
                <a:lnTo>
                  <a:pt x="9203671" y="0"/>
                </a:lnTo>
                <a:lnTo>
                  <a:pt x="9203671" y="22008778"/>
                </a:lnTo>
                <a:lnTo>
                  <a:pt x="0" y="2200877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002663" y="1452593"/>
            <a:ext cx="10373466" cy="21074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05"/>
              </a:lnSpc>
            </a:pPr>
            <a:r>
              <a:rPr lang="en-US" sz="9636">
                <a:solidFill>
                  <a:srgbClr val="517166"/>
                </a:solidFill>
                <a:latin typeface="Londrina Sketch"/>
                <a:ea typeface="Londrina Sketch"/>
                <a:cs typeface="Londrina Sketch"/>
                <a:sym typeface="Londrina Sketch"/>
              </a:rPr>
              <a:t>R</a:t>
            </a:r>
            <a:r>
              <a:rPr lang="en-US" sz="9636">
                <a:solidFill>
                  <a:srgbClr val="517166"/>
                </a:solidFill>
                <a:latin typeface="Londrina Sketch"/>
                <a:ea typeface="Londrina Sketch"/>
                <a:cs typeface="Londrina Sketch"/>
                <a:sym typeface="Londrina Sketch"/>
              </a:rPr>
              <a:t>ESULTS &amp; DISCUSSION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073613" y="3190383"/>
            <a:ext cx="10302515" cy="64639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30"/>
              </a:lnSpc>
            </a:pPr>
            <a:r>
              <a:rPr lang="en-US" sz="3331" spc="86">
                <a:solidFill>
                  <a:srgbClr val="517166"/>
                </a:solidFill>
                <a:latin typeface="Chewy"/>
                <a:ea typeface="Chewy"/>
                <a:cs typeface="Chewy"/>
                <a:sym typeface="Chewy"/>
              </a:rPr>
              <a:t>Input:</a:t>
            </a:r>
          </a:p>
          <a:p>
            <a:pPr algn="ctr">
              <a:lnSpc>
                <a:spcPts val="5130"/>
              </a:lnSpc>
            </a:pPr>
            <a:r>
              <a:rPr lang="en-US" sz="3331" spc="86">
                <a:solidFill>
                  <a:srgbClr val="517166"/>
                </a:solidFill>
                <a:latin typeface="Chewy"/>
                <a:ea typeface="Chewy"/>
                <a:cs typeface="Chewy"/>
                <a:sym typeface="Chewy"/>
              </a:rPr>
              <a:t>- User location, order details</a:t>
            </a:r>
          </a:p>
          <a:p>
            <a:pPr algn="ctr">
              <a:lnSpc>
                <a:spcPts val="5130"/>
              </a:lnSpc>
            </a:pPr>
            <a:r>
              <a:rPr lang="en-US" sz="3331" spc="86">
                <a:solidFill>
                  <a:srgbClr val="517166"/>
                </a:solidFill>
                <a:latin typeface="Chewy"/>
                <a:ea typeface="Chewy"/>
                <a:cs typeface="Chewy"/>
                <a:sym typeface="Chewy"/>
              </a:rPr>
              <a:t>Output:</a:t>
            </a:r>
          </a:p>
          <a:p>
            <a:pPr algn="ctr">
              <a:lnSpc>
                <a:spcPts val="5130"/>
              </a:lnSpc>
            </a:pPr>
            <a:r>
              <a:rPr lang="en-US" sz="3331" spc="86">
                <a:solidFill>
                  <a:srgbClr val="517166"/>
                </a:solidFill>
                <a:latin typeface="Chewy"/>
                <a:ea typeface="Chewy"/>
                <a:cs typeface="Chewy"/>
                <a:sym typeface="Chewy"/>
              </a:rPr>
              <a:t>- Nearest vendor selection</a:t>
            </a:r>
          </a:p>
          <a:p>
            <a:pPr algn="ctr">
              <a:lnSpc>
                <a:spcPts val="5130"/>
              </a:lnSpc>
            </a:pPr>
            <a:r>
              <a:rPr lang="en-US" sz="3331" spc="86">
                <a:solidFill>
                  <a:srgbClr val="517166"/>
                </a:solidFill>
                <a:latin typeface="Chewy"/>
                <a:ea typeface="Chewy"/>
                <a:cs typeface="Chewy"/>
                <a:sym typeface="Chewy"/>
              </a:rPr>
              <a:t>- Optimized delivery partner assignment</a:t>
            </a:r>
          </a:p>
          <a:p>
            <a:pPr algn="ctr">
              <a:lnSpc>
                <a:spcPts val="5130"/>
              </a:lnSpc>
            </a:pPr>
            <a:r>
              <a:rPr lang="en-US" sz="3331" spc="86">
                <a:solidFill>
                  <a:srgbClr val="517166"/>
                </a:solidFill>
                <a:latin typeface="Chewy"/>
                <a:ea typeface="Chewy"/>
                <a:cs typeface="Chewy"/>
                <a:sym typeface="Chewy"/>
              </a:rPr>
              <a:t>Result:</a:t>
            </a:r>
          </a:p>
          <a:p>
            <a:pPr algn="ctr">
              <a:lnSpc>
                <a:spcPts val="5130"/>
              </a:lnSpc>
            </a:pPr>
            <a:r>
              <a:rPr lang="en-US" sz="3331" spc="86">
                <a:solidFill>
                  <a:srgbClr val="517166"/>
                </a:solidFill>
                <a:latin typeface="Chewy"/>
                <a:ea typeface="Chewy"/>
                <a:cs typeface="Chewy"/>
                <a:sym typeface="Chewy"/>
              </a:rPr>
              <a:t>- Reduced delivery time</a:t>
            </a:r>
          </a:p>
          <a:p>
            <a:pPr algn="ctr">
              <a:lnSpc>
                <a:spcPts val="5130"/>
              </a:lnSpc>
            </a:pPr>
            <a:r>
              <a:rPr lang="en-US" sz="3331" spc="86">
                <a:solidFill>
                  <a:srgbClr val="517166"/>
                </a:solidFill>
                <a:latin typeface="Chewy"/>
                <a:ea typeface="Chewy"/>
                <a:cs typeface="Chewy"/>
                <a:sym typeface="Chewy"/>
              </a:rPr>
              <a:t>- Improved efficiency</a:t>
            </a:r>
          </a:p>
          <a:p>
            <a:pPr algn="ctr">
              <a:lnSpc>
                <a:spcPts val="5130"/>
              </a:lnSpc>
            </a:pPr>
            <a:r>
              <a:rPr lang="en-US" sz="3331" spc="86">
                <a:solidFill>
                  <a:srgbClr val="517166"/>
                </a:solidFill>
                <a:latin typeface="Chewy"/>
                <a:ea typeface="Chewy"/>
                <a:cs typeface="Chewy"/>
                <a:sym typeface="Chewy"/>
              </a:rPr>
              <a:t>- Better workload distribution</a:t>
            </a:r>
          </a:p>
          <a:p>
            <a:pPr algn="ctr">
              <a:lnSpc>
                <a:spcPts val="5130"/>
              </a:lnSpc>
            </a:pPr>
          </a:p>
        </p:txBody>
      </p:sp>
      <p:sp>
        <p:nvSpPr>
          <p:cNvPr name="Freeform 6" id="6"/>
          <p:cNvSpPr/>
          <p:nvPr/>
        </p:nvSpPr>
        <p:spPr>
          <a:xfrm flipH="false" flipV="false" rot="-4558807">
            <a:off x="14092957" y="1035276"/>
            <a:ext cx="566344" cy="921566"/>
          </a:xfrm>
          <a:custGeom>
            <a:avLst/>
            <a:gdLst/>
            <a:ahLst/>
            <a:cxnLst/>
            <a:rect r="r" b="b" t="t" l="l"/>
            <a:pathLst>
              <a:path h="921566" w="566344">
                <a:moveTo>
                  <a:pt x="0" y="0"/>
                </a:moveTo>
                <a:lnTo>
                  <a:pt x="566344" y="0"/>
                </a:lnTo>
                <a:lnTo>
                  <a:pt x="566344" y="921566"/>
                </a:lnTo>
                <a:lnTo>
                  <a:pt x="0" y="92156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5984616" y="1882424"/>
            <a:ext cx="482267" cy="482267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17166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07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2897130" y="1608272"/>
            <a:ext cx="548305" cy="548305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17166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07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6988675" y="8294573"/>
            <a:ext cx="541249" cy="541249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17166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07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13090575" y="2364691"/>
            <a:ext cx="5788082" cy="4114800"/>
          </a:xfrm>
          <a:custGeom>
            <a:avLst/>
            <a:gdLst/>
            <a:ahLst/>
            <a:cxnLst/>
            <a:rect r="r" b="b" t="t" l="l"/>
            <a:pathLst>
              <a:path h="4114800" w="5788082">
                <a:moveTo>
                  <a:pt x="0" y="0"/>
                </a:moveTo>
                <a:lnTo>
                  <a:pt x="5788082" y="0"/>
                </a:lnTo>
                <a:lnTo>
                  <a:pt x="578808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0" y="4422091"/>
            <a:ext cx="5245298" cy="4371081"/>
          </a:xfrm>
          <a:custGeom>
            <a:avLst/>
            <a:gdLst/>
            <a:ahLst/>
            <a:cxnLst/>
            <a:rect r="r" b="b" t="t" l="l"/>
            <a:pathLst>
              <a:path h="4371081" w="5245298">
                <a:moveTo>
                  <a:pt x="0" y="0"/>
                </a:moveTo>
                <a:lnTo>
                  <a:pt x="5245298" y="0"/>
                </a:lnTo>
                <a:lnTo>
                  <a:pt x="5245298" y="4371081"/>
                </a:lnTo>
                <a:lnTo>
                  <a:pt x="0" y="437108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fade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334900">
            <a:off x="4353482" y="-6268999"/>
            <a:ext cx="9430477" cy="22551140"/>
          </a:xfrm>
          <a:custGeom>
            <a:avLst/>
            <a:gdLst/>
            <a:ahLst/>
            <a:cxnLst/>
            <a:rect r="r" b="b" t="t" l="l"/>
            <a:pathLst>
              <a:path h="22551140" w="9430477">
                <a:moveTo>
                  <a:pt x="0" y="0"/>
                </a:moveTo>
                <a:lnTo>
                  <a:pt x="9430476" y="0"/>
                </a:lnTo>
                <a:lnTo>
                  <a:pt x="9430476" y="22551141"/>
                </a:lnTo>
                <a:lnTo>
                  <a:pt x="0" y="2255114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236344" y="989474"/>
            <a:ext cx="9815312" cy="1051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85"/>
              </a:lnSpc>
            </a:pPr>
            <a:r>
              <a:rPr lang="en-US" sz="9118">
                <a:solidFill>
                  <a:srgbClr val="517166"/>
                </a:solidFill>
                <a:latin typeface="Londrina Sketch"/>
                <a:ea typeface="Londrina Sketch"/>
                <a:cs typeface="Londrina Sketch"/>
                <a:sym typeface="Londrina Sketch"/>
              </a:rPr>
              <a:t>PROB</a:t>
            </a:r>
            <a:r>
              <a:rPr lang="en-US" sz="9118">
                <a:solidFill>
                  <a:srgbClr val="517166"/>
                </a:solidFill>
                <a:latin typeface="Londrina Sketch"/>
                <a:ea typeface="Londrina Sketch"/>
                <a:cs typeface="Londrina Sketch"/>
                <a:sym typeface="Londrina Sketch"/>
              </a:rPr>
              <a:t>LEM STATEMENT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489016" y="1926874"/>
            <a:ext cx="10402770" cy="68784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29"/>
              </a:lnSpc>
            </a:pPr>
            <a:r>
              <a:rPr lang="en-US" sz="2941" spc="76">
                <a:solidFill>
                  <a:srgbClr val="517166"/>
                </a:solidFill>
                <a:latin typeface="Chewy"/>
                <a:ea typeface="Chewy"/>
                <a:cs typeface="Chewy"/>
                <a:sym typeface="Chewy"/>
              </a:rPr>
              <a:t>Most small-scale delivery platforms face operational inefficiencies due to:</a:t>
            </a:r>
          </a:p>
          <a:p>
            <a:pPr algn="l">
              <a:lnSpc>
                <a:spcPts val="4529"/>
              </a:lnSpc>
            </a:pPr>
          </a:p>
          <a:p>
            <a:pPr algn="l" marL="635038" indent="-317519" lvl="1">
              <a:lnSpc>
                <a:spcPts val="4529"/>
              </a:lnSpc>
              <a:buFont typeface="Arial"/>
              <a:buChar char="•"/>
            </a:pPr>
            <a:r>
              <a:rPr lang="en-US" sz="2941" spc="76">
                <a:solidFill>
                  <a:srgbClr val="517166"/>
                </a:solidFill>
                <a:latin typeface="Chewy"/>
                <a:ea typeface="Chewy"/>
                <a:cs typeface="Chewy"/>
                <a:sym typeface="Chewy"/>
              </a:rPr>
              <a:t>Lack of intelligent delivery partner assignment leads to inefficient deliveries.</a:t>
            </a:r>
          </a:p>
          <a:p>
            <a:pPr algn="l" marL="635038" indent="-317519" lvl="1">
              <a:lnSpc>
                <a:spcPts val="4529"/>
              </a:lnSpc>
              <a:buFont typeface="Arial"/>
              <a:buChar char="•"/>
            </a:pPr>
            <a:r>
              <a:rPr lang="en-US" sz="2941" spc="76">
                <a:solidFill>
                  <a:srgbClr val="517166"/>
                </a:solidFill>
                <a:latin typeface="Chewy"/>
                <a:ea typeface="Chewy"/>
                <a:cs typeface="Chewy"/>
                <a:sym typeface="Chewy"/>
              </a:rPr>
              <a:t>No geolocation-based optimization results in poor vendor selection</a:t>
            </a:r>
          </a:p>
          <a:p>
            <a:pPr algn="l" marL="635038" indent="-317519" lvl="1">
              <a:lnSpc>
                <a:spcPts val="4529"/>
              </a:lnSpc>
              <a:buFont typeface="Arial"/>
              <a:buChar char="•"/>
            </a:pPr>
            <a:r>
              <a:rPr lang="en-US" sz="2941" spc="76">
                <a:solidFill>
                  <a:srgbClr val="517166"/>
                </a:solidFill>
                <a:latin typeface="Chewy"/>
                <a:ea typeface="Chewy"/>
                <a:cs typeface="Chewy"/>
                <a:sym typeface="Chewy"/>
              </a:rPr>
              <a:t>Manual complaint handling slows down issue resolution</a:t>
            </a:r>
          </a:p>
          <a:p>
            <a:pPr algn="l" marL="635038" indent="-317519" lvl="1">
              <a:lnSpc>
                <a:spcPts val="4529"/>
              </a:lnSpc>
              <a:buFont typeface="Arial"/>
              <a:buChar char="•"/>
            </a:pPr>
            <a:r>
              <a:rPr lang="en-US" sz="2941" spc="76">
                <a:solidFill>
                  <a:srgbClr val="517166"/>
                </a:solidFill>
                <a:latin typeface="Chewy"/>
                <a:ea typeface="Chewy"/>
                <a:cs typeface="Chewy"/>
                <a:sym typeface="Chewy"/>
              </a:rPr>
              <a:t>Absence of delivery authentication creates security risks</a:t>
            </a:r>
          </a:p>
          <a:p>
            <a:pPr algn="l" marL="635038" indent="-317519" lvl="1">
              <a:lnSpc>
                <a:spcPts val="4529"/>
              </a:lnSpc>
              <a:buFont typeface="Arial"/>
              <a:buChar char="•"/>
            </a:pPr>
            <a:r>
              <a:rPr lang="en-US" sz="2941" spc="76">
                <a:solidFill>
                  <a:srgbClr val="517166"/>
                </a:solidFill>
                <a:latin typeface="Chewy"/>
                <a:ea typeface="Chewy"/>
                <a:cs typeface="Chewy"/>
                <a:sym typeface="Chewy"/>
              </a:rPr>
              <a:t>Poor multi-vendor stock synchronization causes inconsistencies</a:t>
            </a:r>
          </a:p>
          <a:p>
            <a:pPr algn="l" marL="635038" indent="-317519" lvl="1">
              <a:lnSpc>
                <a:spcPts val="4529"/>
              </a:lnSpc>
              <a:buFont typeface="Arial"/>
              <a:buChar char="•"/>
            </a:pPr>
            <a:r>
              <a:rPr lang="en-US" sz="2941" spc="76">
                <a:solidFill>
                  <a:srgbClr val="517166"/>
                </a:solidFill>
                <a:latin typeface="Chewy"/>
                <a:ea typeface="Chewy"/>
                <a:cs typeface="Chewy"/>
                <a:sym typeface="Chewy"/>
              </a:rPr>
              <a:t>No workload balancing increases delivery delays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-4558807">
            <a:off x="14092957" y="1035276"/>
            <a:ext cx="566344" cy="921566"/>
          </a:xfrm>
          <a:custGeom>
            <a:avLst/>
            <a:gdLst/>
            <a:ahLst/>
            <a:cxnLst/>
            <a:rect r="r" b="b" t="t" l="l"/>
            <a:pathLst>
              <a:path h="921566" w="566344">
                <a:moveTo>
                  <a:pt x="0" y="0"/>
                </a:moveTo>
                <a:lnTo>
                  <a:pt x="566344" y="0"/>
                </a:lnTo>
                <a:lnTo>
                  <a:pt x="566344" y="921566"/>
                </a:lnTo>
                <a:lnTo>
                  <a:pt x="0" y="92156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5984616" y="1882424"/>
            <a:ext cx="482267" cy="482267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17166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07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2897130" y="1608272"/>
            <a:ext cx="548305" cy="548305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17166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07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6988675" y="8294573"/>
            <a:ext cx="541249" cy="541249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17166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07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true" flipV="false" rot="0">
            <a:off x="-3559770" y="1823642"/>
            <a:ext cx="8048786" cy="6365858"/>
          </a:xfrm>
          <a:custGeom>
            <a:avLst/>
            <a:gdLst/>
            <a:ahLst/>
            <a:cxnLst/>
            <a:rect r="r" b="b" t="t" l="l"/>
            <a:pathLst>
              <a:path h="6365858" w="8048786">
                <a:moveTo>
                  <a:pt x="8048786" y="0"/>
                </a:moveTo>
                <a:lnTo>
                  <a:pt x="0" y="0"/>
                </a:lnTo>
                <a:lnTo>
                  <a:pt x="0" y="6365859"/>
                </a:lnTo>
                <a:lnTo>
                  <a:pt x="8048786" y="6365859"/>
                </a:lnTo>
                <a:lnTo>
                  <a:pt x="8048786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4439324" y="2877642"/>
            <a:ext cx="2549352" cy="2838347"/>
          </a:xfrm>
          <a:custGeom>
            <a:avLst/>
            <a:gdLst/>
            <a:ahLst/>
            <a:cxnLst/>
            <a:rect r="r" b="b" t="t" l="l"/>
            <a:pathLst>
              <a:path h="2838347" w="2549352">
                <a:moveTo>
                  <a:pt x="0" y="0"/>
                </a:moveTo>
                <a:lnTo>
                  <a:pt x="2549351" y="0"/>
                </a:lnTo>
                <a:lnTo>
                  <a:pt x="2549351" y="2838347"/>
                </a:lnTo>
                <a:lnTo>
                  <a:pt x="0" y="283834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fade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334900">
            <a:off x="4158297" y="-6006127"/>
            <a:ext cx="9203671" cy="22008778"/>
          </a:xfrm>
          <a:custGeom>
            <a:avLst/>
            <a:gdLst/>
            <a:ahLst/>
            <a:cxnLst/>
            <a:rect r="r" b="b" t="t" l="l"/>
            <a:pathLst>
              <a:path h="22008778" w="9203671">
                <a:moveTo>
                  <a:pt x="0" y="0"/>
                </a:moveTo>
                <a:lnTo>
                  <a:pt x="9203671" y="0"/>
                </a:lnTo>
                <a:lnTo>
                  <a:pt x="9203671" y="22008778"/>
                </a:lnTo>
                <a:lnTo>
                  <a:pt x="0" y="2200877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002663" y="1452593"/>
            <a:ext cx="10373466" cy="1120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05"/>
              </a:lnSpc>
            </a:pPr>
            <a:r>
              <a:rPr lang="en-US" sz="9636">
                <a:solidFill>
                  <a:srgbClr val="517166"/>
                </a:solidFill>
                <a:latin typeface="Londrina Sketch"/>
                <a:ea typeface="Londrina Sketch"/>
                <a:cs typeface="Londrina Sketch"/>
                <a:sym typeface="Londrina Sketch"/>
              </a:rPr>
              <a:t>PROJ</a:t>
            </a:r>
            <a:r>
              <a:rPr lang="en-US" sz="9636">
                <a:solidFill>
                  <a:srgbClr val="517166"/>
                </a:solidFill>
                <a:latin typeface="Londrina Sketch"/>
                <a:ea typeface="Londrina Sketch"/>
                <a:cs typeface="Londrina Sketch"/>
                <a:sym typeface="Londrina Sketch"/>
              </a:rPr>
              <a:t>ECT OBJECTIVE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-4558807">
            <a:off x="1261186" y="3184479"/>
            <a:ext cx="566344" cy="921566"/>
          </a:xfrm>
          <a:custGeom>
            <a:avLst/>
            <a:gdLst/>
            <a:ahLst/>
            <a:cxnLst/>
            <a:rect r="r" b="b" t="t" l="l"/>
            <a:pathLst>
              <a:path h="921566" w="566344">
                <a:moveTo>
                  <a:pt x="0" y="0"/>
                </a:moveTo>
                <a:lnTo>
                  <a:pt x="566344" y="0"/>
                </a:lnTo>
                <a:lnTo>
                  <a:pt x="566344" y="921566"/>
                </a:lnTo>
                <a:lnTo>
                  <a:pt x="0" y="92156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5984616" y="1882424"/>
            <a:ext cx="482267" cy="482267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17166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07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897130" y="1608272"/>
            <a:ext cx="548305" cy="548305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17166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07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6988675" y="8294573"/>
            <a:ext cx="541249" cy="541249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17166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07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4853706" y="3645262"/>
            <a:ext cx="3226354" cy="2996476"/>
          </a:xfrm>
          <a:custGeom>
            <a:avLst/>
            <a:gdLst/>
            <a:ahLst/>
            <a:cxnLst/>
            <a:rect r="r" b="b" t="t" l="l"/>
            <a:pathLst>
              <a:path h="2996476" w="3226354">
                <a:moveTo>
                  <a:pt x="0" y="0"/>
                </a:moveTo>
                <a:lnTo>
                  <a:pt x="3226354" y="0"/>
                </a:lnTo>
                <a:lnTo>
                  <a:pt x="3226354" y="2996476"/>
                </a:lnTo>
                <a:lnTo>
                  <a:pt x="0" y="299647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4430073" y="2468749"/>
            <a:ext cx="10039393" cy="61525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82831" indent="-341416" lvl="1">
              <a:lnSpc>
                <a:spcPts val="4870"/>
              </a:lnSpc>
              <a:buFont typeface="Arial"/>
              <a:buChar char="•"/>
            </a:pPr>
            <a:r>
              <a:rPr lang="en-US" sz="3162" spc="82">
                <a:solidFill>
                  <a:srgbClr val="517166"/>
                </a:solidFill>
                <a:latin typeface="Chewy"/>
                <a:ea typeface="Chewy"/>
                <a:cs typeface="Chewy"/>
                <a:sym typeface="Chewy"/>
              </a:rPr>
              <a:t>Design a scalable multi-vendor delivery backend system</a:t>
            </a:r>
          </a:p>
          <a:p>
            <a:pPr algn="l" marL="682831" indent="-341416" lvl="1">
              <a:lnSpc>
                <a:spcPts val="4870"/>
              </a:lnSpc>
              <a:buFont typeface="Arial"/>
              <a:buChar char="•"/>
            </a:pPr>
            <a:r>
              <a:rPr lang="en-US" sz="3162" spc="82">
                <a:solidFill>
                  <a:srgbClr val="517166"/>
                </a:solidFill>
                <a:latin typeface="Chewy"/>
                <a:ea typeface="Chewy"/>
                <a:cs typeface="Chewy"/>
                <a:sym typeface="Chewy"/>
              </a:rPr>
              <a:t>Implement smart delivery partner assignment using geospatial logic</a:t>
            </a:r>
          </a:p>
          <a:p>
            <a:pPr algn="l" marL="682831" indent="-341416" lvl="1">
              <a:lnSpc>
                <a:spcPts val="4870"/>
              </a:lnSpc>
              <a:buFont typeface="Arial"/>
              <a:buChar char="•"/>
            </a:pPr>
            <a:r>
              <a:rPr lang="en-US" sz="3162" spc="82">
                <a:solidFill>
                  <a:srgbClr val="517166"/>
                </a:solidFill>
                <a:latin typeface="Chewy"/>
                <a:ea typeface="Chewy"/>
                <a:cs typeface="Chewy"/>
                <a:sym typeface="Chewy"/>
              </a:rPr>
              <a:t>Enable secure OTP-based delivery verification</a:t>
            </a:r>
          </a:p>
          <a:p>
            <a:pPr algn="l" marL="682831" indent="-341416" lvl="1">
              <a:lnSpc>
                <a:spcPts val="4870"/>
              </a:lnSpc>
              <a:buFont typeface="Arial"/>
              <a:buChar char="•"/>
            </a:pPr>
            <a:r>
              <a:rPr lang="en-US" sz="3162" spc="82">
                <a:solidFill>
                  <a:srgbClr val="517166"/>
                </a:solidFill>
                <a:latin typeface="Chewy"/>
                <a:ea typeface="Chewy"/>
                <a:cs typeface="Chewy"/>
                <a:sym typeface="Chewy"/>
              </a:rPr>
              <a:t>Provide admin analytics and complaint management system</a:t>
            </a:r>
          </a:p>
          <a:p>
            <a:pPr algn="l" marL="682831" indent="-341416" lvl="1">
              <a:lnSpc>
                <a:spcPts val="4870"/>
              </a:lnSpc>
              <a:buFont typeface="Arial"/>
              <a:buChar char="•"/>
            </a:pPr>
            <a:r>
              <a:rPr lang="en-US" sz="3162" spc="82">
                <a:solidFill>
                  <a:srgbClr val="517166"/>
                </a:solidFill>
                <a:latin typeface="Chewy"/>
                <a:ea typeface="Chewy"/>
                <a:cs typeface="Chewy"/>
                <a:sym typeface="Chewy"/>
              </a:rPr>
              <a:t>Maintain vendor-specific inventory and order control</a:t>
            </a:r>
          </a:p>
          <a:p>
            <a:pPr algn="l" marL="682831" indent="-341416" lvl="1">
              <a:lnSpc>
                <a:spcPts val="4870"/>
              </a:lnSpc>
              <a:buFont typeface="Arial"/>
              <a:buChar char="•"/>
            </a:pPr>
            <a:r>
              <a:rPr lang="en-US" sz="3162" spc="82">
                <a:solidFill>
                  <a:srgbClr val="517166"/>
                </a:solidFill>
                <a:latin typeface="Chewy"/>
                <a:ea typeface="Chewy"/>
                <a:cs typeface="Chewy"/>
                <a:sym typeface="Chewy"/>
              </a:rPr>
              <a:t>Ensure role-based access (Customer, Vendor, Delivery, Admin)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0" y="4450398"/>
            <a:ext cx="4137367" cy="4114800"/>
          </a:xfrm>
          <a:custGeom>
            <a:avLst/>
            <a:gdLst/>
            <a:ahLst/>
            <a:cxnLst/>
            <a:rect r="r" b="b" t="t" l="l"/>
            <a:pathLst>
              <a:path h="4114800" w="4137367">
                <a:moveTo>
                  <a:pt x="0" y="0"/>
                </a:moveTo>
                <a:lnTo>
                  <a:pt x="4137367" y="0"/>
                </a:lnTo>
                <a:lnTo>
                  <a:pt x="413736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fade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334900">
            <a:off x="4158297" y="-6006127"/>
            <a:ext cx="9203671" cy="22008778"/>
          </a:xfrm>
          <a:custGeom>
            <a:avLst/>
            <a:gdLst/>
            <a:ahLst/>
            <a:cxnLst/>
            <a:rect r="r" b="b" t="t" l="l"/>
            <a:pathLst>
              <a:path h="22008778" w="9203671">
                <a:moveTo>
                  <a:pt x="0" y="0"/>
                </a:moveTo>
                <a:lnTo>
                  <a:pt x="9203671" y="0"/>
                </a:lnTo>
                <a:lnTo>
                  <a:pt x="9203671" y="22008778"/>
                </a:lnTo>
                <a:lnTo>
                  <a:pt x="0" y="2200877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002663" y="1452593"/>
            <a:ext cx="10373466" cy="21074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05"/>
              </a:lnSpc>
            </a:pPr>
            <a:r>
              <a:rPr lang="en-US" sz="9636">
                <a:solidFill>
                  <a:srgbClr val="517166"/>
                </a:solidFill>
                <a:latin typeface="Londrina Sketch"/>
                <a:ea typeface="Londrina Sketch"/>
                <a:cs typeface="Londrina Sketch"/>
                <a:sym typeface="Londrina Sketch"/>
              </a:rPr>
              <a:t>PROPOS</a:t>
            </a:r>
            <a:r>
              <a:rPr lang="en-US" sz="9636">
                <a:solidFill>
                  <a:srgbClr val="517166"/>
                </a:solidFill>
                <a:latin typeface="Londrina Sketch"/>
                <a:ea typeface="Londrina Sketch"/>
                <a:cs typeface="Londrina Sketch"/>
                <a:sym typeface="Londrina Sketch"/>
              </a:rPr>
              <a:t>ED SYSTEM OVERVIEW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853250" y="3651799"/>
            <a:ext cx="9522878" cy="46609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620"/>
              </a:lnSpc>
              <a:buFont typeface="Arial"/>
              <a:buChar char="•"/>
            </a:pPr>
            <a:r>
              <a:rPr lang="en-US" sz="3000" spc="78">
                <a:solidFill>
                  <a:srgbClr val="517166"/>
                </a:solidFill>
                <a:latin typeface="Chewy"/>
                <a:ea typeface="Chewy"/>
                <a:cs typeface="Chewy"/>
                <a:sym typeface="Chewy"/>
              </a:rPr>
              <a:t>Geofencing-  Filters vendors within a fixed radius using real-world distance</a:t>
            </a:r>
          </a:p>
          <a:p>
            <a:pPr algn="l" marL="647700" indent="-323850" lvl="1">
              <a:lnSpc>
                <a:spcPts val="4620"/>
              </a:lnSpc>
              <a:buFont typeface="Arial"/>
              <a:buChar char="•"/>
            </a:pPr>
            <a:r>
              <a:rPr lang="en-US" sz="3000" spc="78">
                <a:solidFill>
                  <a:srgbClr val="517166"/>
                </a:solidFill>
                <a:latin typeface="Chewy"/>
                <a:ea typeface="Chewy"/>
                <a:cs typeface="Chewy"/>
                <a:sym typeface="Chewy"/>
              </a:rPr>
              <a:t>Nearest-Agent Assignment-  Automatically assigns the closest available delivery partner</a:t>
            </a:r>
          </a:p>
          <a:p>
            <a:pPr algn="l" marL="647700" indent="-323850" lvl="1">
              <a:lnSpc>
                <a:spcPts val="4620"/>
              </a:lnSpc>
              <a:buFont typeface="Arial"/>
              <a:buChar char="•"/>
            </a:pPr>
            <a:r>
              <a:rPr lang="en-US" sz="3000" spc="78">
                <a:solidFill>
                  <a:srgbClr val="517166"/>
                </a:solidFill>
                <a:latin typeface="Chewy"/>
                <a:ea typeface="Chewy"/>
                <a:cs typeface="Chewy"/>
                <a:sym typeface="Chewy"/>
              </a:rPr>
              <a:t>Secure Delivery Workflow-  OTP-based delivery confirmation via email</a:t>
            </a:r>
          </a:p>
          <a:p>
            <a:pPr algn="l" marL="647700" indent="-323850" lvl="1">
              <a:lnSpc>
                <a:spcPts val="4620"/>
              </a:lnSpc>
              <a:buFont typeface="Arial"/>
              <a:buChar char="•"/>
            </a:pPr>
            <a:r>
              <a:rPr lang="en-US" sz="3000" spc="78">
                <a:solidFill>
                  <a:srgbClr val="517166"/>
                </a:solidFill>
                <a:latin typeface="Chewy"/>
                <a:ea typeface="Chewy"/>
                <a:cs typeface="Chewy"/>
                <a:sym typeface="Chewy"/>
              </a:rPr>
              <a:t>Live Tracking- Displays rider location for order monitoring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-4558807">
            <a:off x="14092957" y="1035276"/>
            <a:ext cx="566344" cy="921566"/>
          </a:xfrm>
          <a:custGeom>
            <a:avLst/>
            <a:gdLst/>
            <a:ahLst/>
            <a:cxnLst/>
            <a:rect r="r" b="b" t="t" l="l"/>
            <a:pathLst>
              <a:path h="921566" w="566344">
                <a:moveTo>
                  <a:pt x="0" y="0"/>
                </a:moveTo>
                <a:lnTo>
                  <a:pt x="566344" y="0"/>
                </a:lnTo>
                <a:lnTo>
                  <a:pt x="566344" y="921566"/>
                </a:lnTo>
                <a:lnTo>
                  <a:pt x="0" y="92156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5984616" y="1882424"/>
            <a:ext cx="482267" cy="482267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17166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07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2897130" y="1608272"/>
            <a:ext cx="548305" cy="548305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17166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07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6988675" y="8294573"/>
            <a:ext cx="541249" cy="541249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17166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07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626709" y="3138361"/>
            <a:ext cx="4226541" cy="4842912"/>
          </a:xfrm>
          <a:custGeom>
            <a:avLst/>
            <a:gdLst/>
            <a:ahLst/>
            <a:cxnLst/>
            <a:rect r="r" b="b" t="t" l="l"/>
            <a:pathLst>
              <a:path h="4842912" w="4226541">
                <a:moveTo>
                  <a:pt x="0" y="0"/>
                </a:moveTo>
                <a:lnTo>
                  <a:pt x="4226541" y="0"/>
                </a:lnTo>
                <a:lnTo>
                  <a:pt x="4226541" y="4842912"/>
                </a:lnTo>
                <a:lnTo>
                  <a:pt x="0" y="484291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true" flipV="false" rot="0">
            <a:off x="14617982" y="4592434"/>
            <a:ext cx="3215535" cy="3010910"/>
          </a:xfrm>
          <a:custGeom>
            <a:avLst/>
            <a:gdLst/>
            <a:ahLst/>
            <a:cxnLst/>
            <a:rect r="r" b="b" t="t" l="l"/>
            <a:pathLst>
              <a:path h="3010910" w="3215535">
                <a:moveTo>
                  <a:pt x="3215535" y="0"/>
                </a:moveTo>
                <a:lnTo>
                  <a:pt x="0" y="0"/>
                </a:lnTo>
                <a:lnTo>
                  <a:pt x="0" y="3010911"/>
                </a:lnTo>
                <a:lnTo>
                  <a:pt x="3215535" y="3010911"/>
                </a:lnTo>
                <a:lnTo>
                  <a:pt x="3215535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fade/>
  </p:transition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334900">
            <a:off x="-713005" y="-12993206"/>
            <a:ext cx="15007276" cy="35886963"/>
          </a:xfrm>
          <a:custGeom>
            <a:avLst/>
            <a:gdLst/>
            <a:ahLst/>
            <a:cxnLst/>
            <a:rect r="r" b="b" t="t" l="l"/>
            <a:pathLst>
              <a:path h="35886963" w="15007276">
                <a:moveTo>
                  <a:pt x="0" y="0"/>
                </a:moveTo>
                <a:lnTo>
                  <a:pt x="15007275" y="0"/>
                </a:lnTo>
                <a:lnTo>
                  <a:pt x="15007275" y="35886964"/>
                </a:lnTo>
                <a:lnTo>
                  <a:pt x="0" y="3588696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839528">
            <a:off x="14920230" y="5891041"/>
            <a:ext cx="1688591" cy="2232512"/>
          </a:xfrm>
          <a:custGeom>
            <a:avLst/>
            <a:gdLst/>
            <a:ahLst/>
            <a:cxnLst/>
            <a:rect r="r" b="b" t="t" l="l"/>
            <a:pathLst>
              <a:path h="2232512" w="1688591">
                <a:moveTo>
                  <a:pt x="0" y="0"/>
                </a:moveTo>
                <a:lnTo>
                  <a:pt x="1688590" y="0"/>
                </a:lnTo>
                <a:lnTo>
                  <a:pt x="1688590" y="2232511"/>
                </a:lnTo>
                <a:lnTo>
                  <a:pt x="0" y="223251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4558807">
            <a:off x="9744203" y="181552"/>
            <a:ext cx="566344" cy="921566"/>
          </a:xfrm>
          <a:custGeom>
            <a:avLst/>
            <a:gdLst/>
            <a:ahLst/>
            <a:cxnLst/>
            <a:rect r="r" b="b" t="t" l="l"/>
            <a:pathLst>
              <a:path h="921566" w="566344">
                <a:moveTo>
                  <a:pt x="0" y="0"/>
                </a:moveTo>
                <a:lnTo>
                  <a:pt x="566344" y="0"/>
                </a:lnTo>
                <a:lnTo>
                  <a:pt x="566344" y="921565"/>
                </a:lnTo>
                <a:lnTo>
                  <a:pt x="0" y="92156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5523391" y="129183"/>
            <a:ext cx="482267" cy="482267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17166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07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5764525" y="9477155"/>
            <a:ext cx="548305" cy="548305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17166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07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28700" y="9477155"/>
            <a:ext cx="541249" cy="541249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17166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07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503950" y="3749343"/>
            <a:ext cx="3215535" cy="3010910"/>
          </a:xfrm>
          <a:custGeom>
            <a:avLst/>
            <a:gdLst/>
            <a:ahLst/>
            <a:cxnLst/>
            <a:rect r="r" b="b" t="t" l="l"/>
            <a:pathLst>
              <a:path h="3010910" w="3215535">
                <a:moveTo>
                  <a:pt x="0" y="0"/>
                </a:moveTo>
                <a:lnTo>
                  <a:pt x="3215535" y="0"/>
                </a:lnTo>
                <a:lnTo>
                  <a:pt x="3215535" y="3010910"/>
                </a:lnTo>
                <a:lnTo>
                  <a:pt x="0" y="301091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3860471" y="4468584"/>
            <a:ext cx="5102907" cy="4583339"/>
          </a:xfrm>
          <a:custGeom>
            <a:avLst/>
            <a:gdLst/>
            <a:ahLst/>
            <a:cxnLst/>
            <a:rect r="r" b="b" t="t" l="l"/>
            <a:pathLst>
              <a:path h="4583339" w="5102907">
                <a:moveTo>
                  <a:pt x="0" y="0"/>
                </a:moveTo>
                <a:lnTo>
                  <a:pt x="5102907" y="0"/>
                </a:lnTo>
                <a:lnTo>
                  <a:pt x="5102907" y="4583339"/>
                </a:lnTo>
                <a:lnTo>
                  <a:pt x="0" y="458333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-9303990">
            <a:off x="6229967" y="9093292"/>
            <a:ext cx="808761" cy="1316031"/>
          </a:xfrm>
          <a:custGeom>
            <a:avLst/>
            <a:gdLst/>
            <a:ahLst/>
            <a:cxnLst/>
            <a:rect r="r" b="b" t="t" l="l"/>
            <a:pathLst>
              <a:path h="1316031" w="808761">
                <a:moveTo>
                  <a:pt x="0" y="0"/>
                </a:moveTo>
                <a:lnTo>
                  <a:pt x="808761" y="0"/>
                </a:lnTo>
                <a:lnTo>
                  <a:pt x="808761" y="1316031"/>
                </a:lnTo>
                <a:lnTo>
                  <a:pt x="0" y="131603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0" y="1025028"/>
            <a:ext cx="18509988" cy="8236945"/>
          </a:xfrm>
          <a:custGeom>
            <a:avLst/>
            <a:gdLst/>
            <a:ahLst/>
            <a:cxnLst/>
            <a:rect r="r" b="b" t="t" l="l"/>
            <a:pathLst>
              <a:path h="8236945" w="18509988">
                <a:moveTo>
                  <a:pt x="0" y="0"/>
                </a:moveTo>
                <a:lnTo>
                  <a:pt x="18509988" y="0"/>
                </a:lnTo>
                <a:lnTo>
                  <a:pt x="18509988" y="8236944"/>
                </a:lnTo>
                <a:lnTo>
                  <a:pt x="0" y="823694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3990110" y="244924"/>
            <a:ext cx="541249" cy="541249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17166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07"/>
                </a:lnSpc>
              </a:pP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-407545" y="642335"/>
            <a:ext cx="18695545" cy="8810275"/>
          </a:xfrm>
          <a:custGeom>
            <a:avLst/>
            <a:gdLst/>
            <a:ahLst/>
            <a:cxnLst/>
            <a:rect r="r" b="b" t="t" l="l"/>
            <a:pathLst>
              <a:path h="8810275" w="18695545">
                <a:moveTo>
                  <a:pt x="0" y="0"/>
                </a:moveTo>
                <a:lnTo>
                  <a:pt x="18695545" y="0"/>
                </a:lnTo>
                <a:lnTo>
                  <a:pt x="18695545" y="8810275"/>
                </a:lnTo>
                <a:lnTo>
                  <a:pt x="0" y="881027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-2435589" y="666880"/>
            <a:ext cx="23381167" cy="8810275"/>
          </a:xfrm>
          <a:custGeom>
            <a:avLst/>
            <a:gdLst/>
            <a:ahLst/>
            <a:cxnLst/>
            <a:rect r="r" b="b" t="t" l="l"/>
            <a:pathLst>
              <a:path h="8810275" w="23381167">
                <a:moveTo>
                  <a:pt x="0" y="0"/>
                </a:moveTo>
                <a:lnTo>
                  <a:pt x="23381167" y="0"/>
                </a:lnTo>
                <a:lnTo>
                  <a:pt x="23381167" y="8810275"/>
                </a:lnTo>
                <a:lnTo>
                  <a:pt x="0" y="881027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-25735" r="-557" b="-16703"/>
            </a:stretch>
          </a:blipFill>
        </p:spPr>
      </p:sp>
    </p:spTree>
  </p:cSld>
  <p:clrMapOvr>
    <a:masterClrMapping/>
  </p:clrMapOvr>
  <p:transition spd="slow">
    <p:fade/>
  </p:transition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334900">
            <a:off x="4142691" y="-5910825"/>
            <a:ext cx="9203671" cy="22008778"/>
          </a:xfrm>
          <a:custGeom>
            <a:avLst/>
            <a:gdLst/>
            <a:ahLst/>
            <a:cxnLst/>
            <a:rect r="r" b="b" t="t" l="l"/>
            <a:pathLst>
              <a:path h="22008778" w="9203671">
                <a:moveTo>
                  <a:pt x="0" y="0"/>
                </a:moveTo>
                <a:lnTo>
                  <a:pt x="9203671" y="0"/>
                </a:lnTo>
                <a:lnTo>
                  <a:pt x="9203671" y="22008778"/>
                </a:lnTo>
                <a:lnTo>
                  <a:pt x="0" y="2200877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124952" y="1137764"/>
            <a:ext cx="11761862" cy="1120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05"/>
              </a:lnSpc>
            </a:pPr>
            <a:r>
              <a:rPr lang="en-US" sz="9636">
                <a:solidFill>
                  <a:srgbClr val="517166"/>
                </a:solidFill>
                <a:latin typeface="Londrina Sketch"/>
                <a:ea typeface="Londrina Sketch"/>
                <a:cs typeface="Londrina Sketch"/>
                <a:sym typeface="Londrina Sketch"/>
              </a:rPr>
              <a:t>SYSTEM ARCHITECTURE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5984616" y="1882424"/>
            <a:ext cx="482267" cy="482267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17166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07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2897130" y="1608272"/>
            <a:ext cx="548305" cy="548305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17166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07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7031448" y="6931191"/>
            <a:ext cx="455704" cy="455704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17166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76200" y="123825"/>
              <a:ext cx="660400" cy="612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144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8878634" y="1675830"/>
            <a:ext cx="30385" cy="1192073"/>
            <a:chOff x="0" y="0"/>
            <a:chExt cx="40513" cy="158943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0513" cy="1589405"/>
            </a:xfrm>
            <a:custGeom>
              <a:avLst/>
              <a:gdLst/>
              <a:ahLst/>
              <a:cxnLst/>
              <a:rect r="r" b="b" t="t" l="l"/>
              <a:pathLst>
                <a:path h="1589405" w="40513">
                  <a:moveTo>
                    <a:pt x="0" y="1570355"/>
                  </a:moveTo>
                  <a:lnTo>
                    <a:pt x="2413" y="19050"/>
                  </a:lnTo>
                  <a:cubicBezTo>
                    <a:pt x="2413" y="8509"/>
                    <a:pt x="10922" y="0"/>
                    <a:pt x="21463" y="0"/>
                  </a:cubicBezTo>
                  <a:cubicBezTo>
                    <a:pt x="32004" y="0"/>
                    <a:pt x="40513" y="8509"/>
                    <a:pt x="40513" y="19050"/>
                  </a:cubicBezTo>
                  <a:lnTo>
                    <a:pt x="38100" y="1570355"/>
                  </a:lnTo>
                  <a:cubicBezTo>
                    <a:pt x="38100" y="1580896"/>
                    <a:pt x="29591" y="1589405"/>
                    <a:pt x="19050" y="1589405"/>
                  </a:cubicBezTo>
                  <a:cubicBezTo>
                    <a:pt x="8509" y="1589405"/>
                    <a:pt x="0" y="1580896"/>
                    <a:pt x="0" y="1570355"/>
                  </a:cubicBezTo>
                  <a:close/>
                </a:path>
              </a:pathLst>
            </a:custGeom>
            <a:solidFill>
              <a:srgbClr val="D1AC97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2559016" y="2834575"/>
            <a:ext cx="13403998" cy="38310"/>
            <a:chOff x="0" y="0"/>
            <a:chExt cx="17773917" cy="50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25400" y="0"/>
              <a:ext cx="17723104" cy="50800"/>
            </a:xfrm>
            <a:custGeom>
              <a:avLst/>
              <a:gdLst/>
              <a:ahLst/>
              <a:cxnLst/>
              <a:rect r="r" b="b" t="t" l="l"/>
              <a:pathLst>
                <a:path h="50800" w="17723104">
                  <a:moveTo>
                    <a:pt x="0" y="0"/>
                  </a:moveTo>
                  <a:lnTo>
                    <a:pt x="17723104" y="0"/>
                  </a:lnTo>
                  <a:lnTo>
                    <a:pt x="17723104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D1AC97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017421" y="4171762"/>
            <a:ext cx="2694575" cy="672617"/>
            <a:chOff x="0" y="0"/>
            <a:chExt cx="4267200" cy="106517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267200" cy="1065149"/>
            </a:xfrm>
            <a:custGeom>
              <a:avLst/>
              <a:gdLst/>
              <a:ahLst/>
              <a:cxnLst/>
              <a:rect r="r" b="b" t="t" l="l"/>
              <a:pathLst>
                <a:path h="1065149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1065149"/>
                  </a:lnTo>
                  <a:lnTo>
                    <a:pt x="0" y="1065149"/>
                  </a:lnTo>
                  <a:close/>
                </a:path>
              </a:pathLst>
            </a:custGeom>
            <a:solidFill>
              <a:srgbClr val="FFFABE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921186" y="4205950"/>
            <a:ext cx="2694575" cy="672617"/>
            <a:chOff x="0" y="0"/>
            <a:chExt cx="4267200" cy="106517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267200" cy="1065172"/>
            </a:xfrm>
            <a:custGeom>
              <a:avLst/>
              <a:gdLst/>
              <a:ahLst/>
              <a:cxnLst/>
              <a:rect r="r" b="b" t="t" l="l"/>
              <a:pathLst>
                <a:path h="1065172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1065172"/>
                  </a:lnTo>
                  <a:lnTo>
                    <a:pt x="0" y="106517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8059" r="0" b="-28059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0"/>
              <a:ext cx="4267200" cy="10651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8"/>
                </a:lnSpc>
              </a:pPr>
              <a:r>
                <a:rPr lang="en-US" sz="2399" b="true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Frontend Layer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3825513" y="4420947"/>
            <a:ext cx="2694575" cy="672617"/>
            <a:chOff x="0" y="0"/>
            <a:chExt cx="4267200" cy="106517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267200" cy="1065149"/>
            </a:xfrm>
            <a:custGeom>
              <a:avLst/>
              <a:gdLst/>
              <a:ahLst/>
              <a:cxnLst/>
              <a:rect r="r" b="b" t="t" l="l"/>
              <a:pathLst>
                <a:path h="1065149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1065149"/>
                  </a:lnTo>
                  <a:lnTo>
                    <a:pt x="0" y="1065149"/>
                  </a:lnTo>
                  <a:close/>
                </a:path>
              </a:pathLst>
            </a:custGeom>
            <a:solidFill>
              <a:srgbClr val="FFFABE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3825513" y="4420947"/>
            <a:ext cx="2694575" cy="672617"/>
            <a:chOff x="0" y="0"/>
            <a:chExt cx="4267200" cy="1065173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267200" cy="1065172"/>
            </a:xfrm>
            <a:custGeom>
              <a:avLst/>
              <a:gdLst/>
              <a:ahLst/>
              <a:cxnLst/>
              <a:rect r="r" b="b" t="t" l="l"/>
              <a:pathLst>
                <a:path h="1065172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1065172"/>
                  </a:lnTo>
                  <a:lnTo>
                    <a:pt x="0" y="106517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8059" r="0" b="-28059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0"/>
              <a:ext cx="4267200" cy="10651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8"/>
                </a:lnSpc>
              </a:pPr>
              <a:r>
                <a:rPr lang="en-US" sz="2399" b="true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Backend Layer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065538" y="6931191"/>
            <a:ext cx="2598340" cy="672513"/>
            <a:chOff x="0" y="0"/>
            <a:chExt cx="4114800" cy="1065009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114800" cy="1065022"/>
            </a:xfrm>
            <a:custGeom>
              <a:avLst/>
              <a:gdLst/>
              <a:ahLst/>
              <a:cxnLst/>
              <a:rect r="r" b="b" t="t" l="l"/>
              <a:pathLst>
                <a:path h="1065022" w="4114800">
                  <a:moveTo>
                    <a:pt x="3086100" y="0"/>
                  </a:moveTo>
                  <a:lnTo>
                    <a:pt x="1028700" y="0"/>
                  </a:lnTo>
                  <a:lnTo>
                    <a:pt x="0" y="532511"/>
                  </a:lnTo>
                  <a:lnTo>
                    <a:pt x="1028700" y="1065022"/>
                  </a:lnTo>
                  <a:lnTo>
                    <a:pt x="3086100" y="1065022"/>
                  </a:lnTo>
                  <a:lnTo>
                    <a:pt x="4114800" y="532511"/>
                  </a:lnTo>
                  <a:lnTo>
                    <a:pt x="3086100" y="0"/>
                  </a:lnTo>
                  <a:close/>
                </a:path>
              </a:pathLst>
            </a:custGeom>
            <a:solidFill>
              <a:srgbClr val="FF977E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552727" y="6900741"/>
            <a:ext cx="1623963" cy="702960"/>
            <a:chOff x="0" y="0"/>
            <a:chExt cx="2571750" cy="1113226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571750" cy="1113220"/>
            </a:xfrm>
            <a:custGeom>
              <a:avLst/>
              <a:gdLst/>
              <a:ahLst/>
              <a:cxnLst/>
              <a:rect r="r" b="b" t="t" l="l"/>
              <a:pathLst>
                <a:path h="1113220" w="2571750">
                  <a:moveTo>
                    <a:pt x="0" y="0"/>
                  </a:moveTo>
                  <a:lnTo>
                    <a:pt x="2571750" y="0"/>
                  </a:lnTo>
                  <a:lnTo>
                    <a:pt x="2571750" y="1113220"/>
                  </a:lnTo>
                  <a:lnTo>
                    <a:pt x="0" y="11132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5538" t="0" r="-5538" b="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0"/>
              <a:ext cx="2571750" cy="111322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78"/>
                </a:lnSpc>
              </a:pPr>
              <a:r>
                <a:rPr lang="en-US" sz="1899" b="true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JavaScript 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017421" y="7764031"/>
            <a:ext cx="2598340" cy="672513"/>
            <a:chOff x="0" y="0"/>
            <a:chExt cx="4114800" cy="1065009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114800" cy="1065022"/>
            </a:xfrm>
            <a:custGeom>
              <a:avLst/>
              <a:gdLst/>
              <a:ahLst/>
              <a:cxnLst/>
              <a:rect r="r" b="b" t="t" l="l"/>
              <a:pathLst>
                <a:path h="1065022" w="4114800">
                  <a:moveTo>
                    <a:pt x="3086100" y="0"/>
                  </a:moveTo>
                  <a:lnTo>
                    <a:pt x="1028700" y="0"/>
                  </a:lnTo>
                  <a:lnTo>
                    <a:pt x="0" y="532511"/>
                  </a:lnTo>
                  <a:lnTo>
                    <a:pt x="1028700" y="1065022"/>
                  </a:lnTo>
                  <a:lnTo>
                    <a:pt x="3086100" y="1065022"/>
                  </a:lnTo>
                  <a:lnTo>
                    <a:pt x="4114800" y="532511"/>
                  </a:lnTo>
                  <a:lnTo>
                    <a:pt x="3086100" y="0"/>
                  </a:lnTo>
                  <a:close/>
                </a:path>
              </a:pathLst>
            </a:custGeom>
            <a:solidFill>
              <a:srgbClr val="FF977E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504610" y="7733581"/>
            <a:ext cx="1623963" cy="702960"/>
            <a:chOff x="0" y="0"/>
            <a:chExt cx="2571750" cy="111322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571750" cy="1113220"/>
            </a:xfrm>
            <a:custGeom>
              <a:avLst/>
              <a:gdLst/>
              <a:ahLst/>
              <a:cxnLst/>
              <a:rect r="r" b="b" t="t" l="l"/>
              <a:pathLst>
                <a:path h="1113220" w="2571750">
                  <a:moveTo>
                    <a:pt x="0" y="0"/>
                  </a:moveTo>
                  <a:lnTo>
                    <a:pt x="2571750" y="0"/>
                  </a:lnTo>
                  <a:lnTo>
                    <a:pt x="2571750" y="1113220"/>
                  </a:lnTo>
                  <a:lnTo>
                    <a:pt x="0" y="11132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5538" t="0" r="-5538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0"/>
              <a:ext cx="2571750" cy="111322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78"/>
                </a:lnSpc>
              </a:pPr>
              <a:r>
                <a:rPr lang="en-US" sz="1899" b="true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Chart.js 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017421" y="6074228"/>
            <a:ext cx="2598340" cy="672513"/>
            <a:chOff x="0" y="0"/>
            <a:chExt cx="4114800" cy="1065009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4114800" cy="1065022"/>
            </a:xfrm>
            <a:custGeom>
              <a:avLst/>
              <a:gdLst/>
              <a:ahLst/>
              <a:cxnLst/>
              <a:rect r="r" b="b" t="t" l="l"/>
              <a:pathLst>
                <a:path h="1065022" w="4114800">
                  <a:moveTo>
                    <a:pt x="3086100" y="0"/>
                  </a:moveTo>
                  <a:lnTo>
                    <a:pt x="1028700" y="0"/>
                  </a:lnTo>
                  <a:lnTo>
                    <a:pt x="0" y="532511"/>
                  </a:lnTo>
                  <a:lnTo>
                    <a:pt x="1028700" y="1065022"/>
                  </a:lnTo>
                  <a:lnTo>
                    <a:pt x="3086100" y="1065022"/>
                  </a:lnTo>
                  <a:lnTo>
                    <a:pt x="4114800" y="532511"/>
                  </a:lnTo>
                  <a:lnTo>
                    <a:pt x="3086100" y="0"/>
                  </a:lnTo>
                  <a:close/>
                </a:path>
              </a:pathLst>
            </a:custGeom>
            <a:solidFill>
              <a:srgbClr val="FF977E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504610" y="6043778"/>
            <a:ext cx="1623963" cy="702960"/>
            <a:chOff x="0" y="0"/>
            <a:chExt cx="2571750" cy="1113226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571750" cy="1113220"/>
            </a:xfrm>
            <a:custGeom>
              <a:avLst/>
              <a:gdLst/>
              <a:ahLst/>
              <a:cxnLst/>
              <a:rect r="r" b="b" t="t" l="l"/>
              <a:pathLst>
                <a:path h="1113220" w="2571750">
                  <a:moveTo>
                    <a:pt x="0" y="0"/>
                  </a:moveTo>
                  <a:lnTo>
                    <a:pt x="2571750" y="0"/>
                  </a:lnTo>
                  <a:lnTo>
                    <a:pt x="2571750" y="1113220"/>
                  </a:lnTo>
                  <a:lnTo>
                    <a:pt x="0" y="11132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5538" t="0" r="-5538" b="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0"/>
              <a:ext cx="2571750" cy="111322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78"/>
                </a:lnSpc>
              </a:pPr>
              <a:r>
                <a:rPr lang="en-US" sz="1899" b="true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CSS3 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066637" y="5131287"/>
            <a:ext cx="2598340" cy="672513"/>
            <a:chOff x="0" y="0"/>
            <a:chExt cx="4114800" cy="1065009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4114800" cy="1065022"/>
            </a:xfrm>
            <a:custGeom>
              <a:avLst/>
              <a:gdLst/>
              <a:ahLst/>
              <a:cxnLst/>
              <a:rect r="r" b="b" t="t" l="l"/>
              <a:pathLst>
                <a:path h="1065022" w="4114800">
                  <a:moveTo>
                    <a:pt x="3086100" y="0"/>
                  </a:moveTo>
                  <a:lnTo>
                    <a:pt x="1028700" y="0"/>
                  </a:lnTo>
                  <a:lnTo>
                    <a:pt x="0" y="532511"/>
                  </a:lnTo>
                  <a:lnTo>
                    <a:pt x="1028700" y="1065022"/>
                  </a:lnTo>
                  <a:lnTo>
                    <a:pt x="3086100" y="1065022"/>
                  </a:lnTo>
                  <a:lnTo>
                    <a:pt x="4114800" y="532511"/>
                  </a:lnTo>
                  <a:lnTo>
                    <a:pt x="3086100" y="0"/>
                  </a:lnTo>
                  <a:close/>
                </a:path>
              </a:pathLst>
            </a:custGeom>
            <a:solidFill>
              <a:srgbClr val="FF977E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504610" y="5184369"/>
            <a:ext cx="1623963" cy="702959"/>
            <a:chOff x="0" y="0"/>
            <a:chExt cx="2571750" cy="1113224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2571750" cy="1113230"/>
            </a:xfrm>
            <a:custGeom>
              <a:avLst/>
              <a:gdLst/>
              <a:ahLst/>
              <a:cxnLst/>
              <a:rect r="r" b="b" t="t" l="l"/>
              <a:pathLst>
                <a:path h="1113230" w="2571750">
                  <a:moveTo>
                    <a:pt x="0" y="0"/>
                  </a:moveTo>
                  <a:lnTo>
                    <a:pt x="2571750" y="0"/>
                  </a:lnTo>
                  <a:lnTo>
                    <a:pt x="2571750" y="1113230"/>
                  </a:lnTo>
                  <a:lnTo>
                    <a:pt x="0" y="111323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5538" t="0" r="-5538" b="1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0"/>
              <a:ext cx="2571750" cy="11132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78"/>
                </a:lnSpc>
              </a:pPr>
              <a:r>
                <a:rPr lang="en-US" sz="1899" b="true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HTML5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017421" y="8585787"/>
            <a:ext cx="2598340" cy="672513"/>
            <a:chOff x="0" y="0"/>
            <a:chExt cx="4114800" cy="1065009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4114800" cy="1065022"/>
            </a:xfrm>
            <a:custGeom>
              <a:avLst/>
              <a:gdLst/>
              <a:ahLst/>
              <a:cxnLst/>
              <a:rect r="r" b="b" t="t" l="l"/>
              <a:pathLst>
                <a:path h="1065022" w="4114800">
                  <a:moveTo>
                    <a:pt x="3086100" y="0"/>
                  </a:moveTo>
                  <a:lnTo>
                    <a:pt x="1028700" y="0"/>
                  </a:lnTo>
                  <a:lnTo>
                    <a:pt x="0" y="532511"/>
                  </a:lnTo>
                  <a:lnTo>
                    <a:pt x="1028700" y="1065022"/>
                  </a:lnTo>
                  <a:lnTo>
                    <a:pt x="3086100" y="1065022"/>
                  </a:lnTo>
                  <a:lnTo>
                    <a:pt x="4114800" y="532511"/>
                  </a:lnTo>
                  <a:lnTo>
                    <a:pt x="3086100" y="0"/>
                  </a:lnTo>
                  <a:close/>
                </a:path>
              </a:pathLst>
            </a:custGeom>
            <a:solidFill>
              <a:srgbClr val="FF977E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504610" y="8555337"/>
            <a:ext cx="1623963" cy="702960"/>
            <a:chOff x="0" y="0"/>
            <a:chExt cx="2571750" cy="1113226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2571750" cy="1113220"/>
            </a:xfrm>
            <a:custGeom>
              <a:avLst/>
              <a:gdLst/>
              <a:ahLst/>
              <a:cxnLst/>
              <a:rect r="r" b="b" t="t" l="l"/>
              <a:pathLst>
                <a:path h="1113220" w="2571750">
                  <a:moveTo>
                    <a:pt x="0" y="0"/>
                  </a:moveTo>
                  <a:lnTo>
                    <a:pt x="2571750" y="0"/>
                  </a:lnTo>
                  <a:lnTo>
                    <a:pt x="2571750" y="1113220"/>
                  </a:lnTo>
                  <a:lnTo>
                    <a:pt x="0" y="11132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5538" t="0" r="-5538" b="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0"/>
              <a:ext cx="2571750" cy="111322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78"/>
                </a:lnSpc>
              </a:pPr>
              <a:r>
                <a:rPr lang="en-US" sz="1899" b="true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Leaflet.js 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3825513" y="8109452"/>
            <a:ext cx="2598340" cy="672513"/>
            <a:chOff x="0" y="0"/>
            <a:chExt cx="4114800" cy="1065009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4114800" cy="1065022"/>
            </a:xfrm>
            <a:custGeom>
              <a:avLst/>
              <a:gdLst/>
              <a:ahLst/>
              <a:cxnLst/>
              <a:rect r="r" b="b" t="t" l="l"/>
              <a:pathLst>
                <a:path h="1065022" w="4114800">
                  <a:moveTo>
                    <a:pt x="3086100" y="0"/>
                  </a:moveTo>
                  <a:lnTo>
                    <a:pt x="1028700" y="0"/>
                  </a:lnTo>
                  <a:lnTo>
                    <a:pt x="0" y="532511"/>
                  </a:lnTo>
                  <a:lnTo>
                    <a:pt x="1028700" y="1065022"/>
                  </a:lnTo>
                  <a:lnTo>
                    <a:pt x="3086100" y="1065022"/>
                  </a:lnTo>
                  <a:lnTo>
                    <a:pt x="4114800" y="532511"/>
                  </a:lnTo>
                  <a:lnTo>
                    <a:pt x="3086100" y="0"/>
                  </a:lnTo>
                  <a:close/>
                </a:path>
              </a:pathLst>
            </a:custGeom>
            <a:solidFill>
              <a:srgbClr val="FF977E"/>
            </a:solid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14312702" y="8079001"/>
            <a:ext cx="1623963" cy="702959"/>
            <a:chOff x="0" y="0"/>
            <a:chExt cx="2571750" cy="1113224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2571750" cy="1113230"/>
            </a:xfrm>
            <a:custGeom>
              <a:avLst/>
              <a:gdLst/>
              <a:ahLst/>
              <a:cxnLst/>
              <a:rect r="r" b="b" t="t" l="l"/>
              <a:pathLst>
                <a:path h="1113230" w="2571750">
                  <a:moveTo>
                    <a:pt x="0" y="0"/>
                  </a:moveTo>
                  <a:lnTo>
                    <a:pt x="2571750" y="0"/>
                  </a:lnTo>
                  <a:lnTo>
                    <a:pt x="2571750" y="1113230"/>
                  </a:lnTo>
                  <a:lnTo>
                    <a:pt x="0" y="111323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5538" t="0" r="-5538" b="1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0"/>
              <a:ext cx="2571750" cy="11132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78"/>
                </a:lnSpc>
              </a:pPr>
              <a:r>
                <a:rPr lang="en-US" sz="1899" b="true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Bcrypt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13708804" y="7228502"/>
            <a:ext cx="2939276" cy="672513"/>
            <a:chOff x="0" y="0"/>
            <a:chExt cx="4654715" cy="1065009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4654677" cy="1065022"/>
            </a:xfrm>
            <a:custGeom>
              <a:avLst/>
              <a:gdLst/>
              <a:ahLst/>
              <a:cxnLst/>
              <a:rect r="r" b="b" t="t" l="l"/>
              <a:pathLst>
                <a:path h="1065022" w="4654677">
                  <a:moveTo>
                    <a:pt x="3625977" y="0"/>
                  </a:moveTo>
                  <a:lnTo>
                    <a:pt x="1028700" y="0"/>
                  </a:lnTo>
                  <a:lnTo>
                    <a:pt x="0" y="532511"/>
                  </a:lnTo>
                  <a:lnTo>
                    <a:pt x="1028700" y="1065022"/>
                  </a:lnTo>
                  <a:lnTo>
                    <a:pt x="3625977" y="1065022"/>
                  </a:lnTo>
                  <a:lnTo>
                    <a:pt x="4654677" y="532511"/>
                  </a:lnTo>
                  <a:lnTo>
                    <a:pt x="3625977" y="0"/>
                  </a:lnTo>
                  <a:close/>
                </a:path>
              </a:pathLst>
            </a:custGeom>
            <a:solidFill>
              <a:srgbClr val="FF977E"/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14195993" y="7198052"/>
            <a:ext cx="1964899" cy="702959"/>
            <a:chOff x="0" y="0"/>
            <a:chExt cx="3111665" cy="1113224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3111665" cy="1113230"/>
            </a:xfrm>
            <a:custGeom>
              <a:avLst/>
              <a:gdLst/>
              <a:ahLst/>
              <a:cxnLst/>
              <a:rect r="r" b="b" t="t" l="l"/>
              <a:pathLst>
                <a:path h="1113230" w="3111665">
                  <a:moveTo>
                    <a:pt x="0" y="0"/>
                  </a:moveTo>
                  <a:lnTo>
                    <a:pt x="3111665" y="0"/>
                  </a:lnTo>
                  <a:lnTo>
                    <a:pt x="3111665" y="1113230"/>
                  </a:lnTo>
                  <a:lnTo>
                    <a:pt x="0" y="111323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464" r="0" b="-4463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0"/>
              <a:ext cx="3111665" cy="11132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78"/>
                </a:lnSpc>
              </a:pPr>
              <a:r>
                <a:rPr lang="en-US" sz="1899" b="true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 SQLAlchemy  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13825513" y="6347416"/>
            <a:ext cx="2598340" cy="672513"/>
            <a:chOff x="0" y="0"/>
            <a:chExt cx="4114800" cy="1065009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4114800" cy="1065022"/>
            </a:xfrm>
            <a:custGeom>
              <a:avLst/>
              <a:gdLst/>
              <a:ahLst/>
              <a:cxnLst/>
              <a:rect r="r" b="b" t="t" l="l"/>
              <a:pathLst>
                <a:path h="1065022" w="4114800">
                  <a:moveTo>
                    <a:pt x="3086100" y="0"/>
                  </a:moveTo>
                  <a:lnTo>
                    <a:pt x="1028700" y="0"/>
                  </a:lnTo>
                  <a:lnTo>
                    <a:pt x="0" y="532511"/>
                  </a:lnTo>
                  <a:lnTo>
                    <a:pt x="1028700" y="1065022"/>
                  </a:lnTo>
                  <a:lnTo>
                    <a:pt x="3086100" y="1065022"/>
                  </a:lnTo>
                  <a:lnTo>
                    <a:pt x="4114800" y="532511"/>
                  </a:lnTo>
                  <a:lnTo>
                    <a:pt x="3086100" y="0"/>
                  </a:lnTo>
                  <a:close/>
                </a:path>
              </a:pathLst>
            </a:custGeom>
            <a:solidFill>
              <a:srgbClr val="FF977E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14312702" y="6316966"/>
            <a:ext cx="1623963" cy="702959"/>
            <a:chOff x="0" y="0"/>
            <a:chExt cx="2571750" cy="1113224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2571750" cy="1113230"/>
            </a:xfrm>
            <a:custGeom>
              <a:avLst/>
              <a:gdLst/>
              <a:ahLst/>
              <a:cxnLst/>
              <a:rect r="r" b="b" t="t" l="l"/>
              <a:pathLst>
                <a:path h="1113230" w="2571750">
                  <a:moveTo>
                    <a:pt x="0" y="0"/>
                  </a:moveTo>
                  <a:lnTo>
                    <a:pt x="2571750" y="0"/>
                  </a:lnTo>
                  <a:lnTo>
                    <a:pt x="2571750" y="1113230"/>
                  </a:lnTo>
                  <a:lnTo>
                    <a:pt x="0" y="111323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5538" t="0" r="-5538" b="1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0"/>
              <a:ext cx="2571750" cy="11132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78"/>
                </a:lnSpc>
              </a:pPr>
              <a:r>
                <a:rPr lang="en-US" sz="1899" b="true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Flask  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13825513" y="5464004"/>
            <a:ext cx="2598340" cy="672513"/>
            <a:chOff x="0" y="0"/>
            <a:chExt cx="4114800" cy="1065009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4114800" cy="1065022"/>
            </a:xfrm>
            <a:custGeom>
              <a:avLst/>
              <a:gdLst/>
              <a:ahLst/>
              <a:cxnLst/>
              <a:rect r="r" b="b" t="t" l="l"/>
              <a:pathLst>
                <a:path h="1065022" w="4114800">
                  <a:moveTo>
                    <a:pt x="3086100" y="0"/>
                  </a:moveTo>
                  <a:lnTo>
                    <a:pt x="1028700" y="0"/>
                  </a:lnTo>
                  <a:lnTo>
                    <a:pt x="0" y="532511"/>
                  </a:lnTo>
                  <a:lnTo>
                    <a:pt x="1028700" y="1065022"/>
                  </a:lnTo>
                  <a:lnTo>
                    <a:pt x="3086100" y="1065022"/>
                  </a:lnTo>
                  <a:lnTo>
                    <a:pt x="4114800" y="532511"/>
                  </a:lnTo>
                  <a:lnTo>
                    <a:pt x="3086100" y="0"/>
                  </a:lnTo>
                  <a:close/>
                </a:path>
              </a:pathLst>
            </a:custGeom>
            <a:solidFill>
              <a:srgbClr val="FF977E"/>
            </a:solid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14312702" y="5433554"/>
            <a:ext cx="1623963" cy="702959"/>
            <a:chOff x="0" y="0"/>
            <a:chExt cx="2571750" cy="1113224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2571750" cy="1113230"/>
            </a:xfrm>
            <a:custGeom>
              <a:avLst/>
              <a:gdLst/>
              <a:ahLst/>
              <a:cxnLst/>
              <a:rect r="r" b="b" t="t" l="l"/>
              <a:pathLst>
                <a:path h="1113230" w="2571750">
                  <a:moveTo>
                    <a:pt x="0" y="0"/>
                  </a:moveTo>
                  <a:lnTo>
                    <a:pt x="2571750" y="0"/>
                  </a:lnTo>
                  <a:lnTo>
                    <a:pt x="2571750" y="1113230"/>
                  </a:lnTo>
                  <a:lnTo>
                    <a:pt x="0" y="111323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5538" t="0" r="-5538" b="1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0"/>
              <a:ext cx="2571750" cy="11132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78"/>
                </a:lnSpc>
              </a:pPr>
              <a:r>
                <a:rPr lang="en-US" sz="1899" b="true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Python 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8744526" y="4191935"/>
            <a:ext cx="3373728" cy="828978"/>
            <a:chOff x="0" y="0"/>
            <a:chExt cx="6143320" cy="1509509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6143371" cy="1509522"/>
            </a:xfrm>
            <a:custGeom>
              <a:avLst/>
              <a:gdLst/>
              <a:ahLst/>
              <a:cxnLst/>
              <a:rect r="r" b="b" t="t" l="l"/>
              <a:pathLst>
                <a:path h="1509522" w="6143371">
                  <a:moveTo>
                    <a:pt x="5114671" y="0"/>
                  </a:moveTo>
                  <a:lnTo>
                    <a:pt x="1028700" y="0"/>
                  </a:lnTo>
                  <a:lnTo>
                    <a:pt x="0" y="754761"/>
                  </a:lnTo>
                  <a:lnTo>
                    <a:pt x="1028700" y="1509522"/>
                  </a:lnTo>
                  <a:lnTo>
                    <a:pt x="5114671" y="1509522"/>
                  </a:lnTo>
                  <a:lnTo>
                    <a:pt x="6143371" y="754761"/>
                  </a:lnTo>
                  <a:lnTo>
                    <a:pt x="5114671" y="0"/>
                  </a:lnTo>
                  <a:close/>
                </a:path>
              </a:pathLst>
            </a:custGeom>
            <a:solidFill>
              <a:srgbClr val="FF977E"/>
            </a:solid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9168225" y="4165453"/>
            <a:ext cx="2526331" cy="855456"/>
            <a:chOff x="0" y="0"/>
            <a:chExt cx="4600270" cy="1557724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4600275" cy="1557730"/>
            </a:xfrm>
            <a:custGeom>
              <a:avLst/>
              <a:gdLst/>
              <a:ahLst/>
              <a:cxnLst/>
              <a:rect r="r" b="b" t="t" l="l"/>
              <a:pathLst>
                <a:path h="1557730" w="4600275">
                  <a:moveTo>
                    <a:pt x="0" y="0"/>
                  </a:moveTo>
                  <a:lnTo>
                    <a:pt x="4600275" y="0"/>
                  </a:lnTo>
                  <a:lnTo>
                    <a:pt x="4600275" y="1557730"/>
                  </a:lnTo>
                  <a:lnTo>
                    <a:pt x="0" y="155773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7543" r="0" b="-7542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0"/>
              <a:ext cx="4600270" cy="15577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78"/>
                </a:lnSpc>
              </a:pPr>
              <a:r>
                <a:rPr lang="en-US" sz="1899" b="true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OpenStreetMap Reverse Geocoding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5007069" y="4272154"/>
            <a:ext cx="2723365" cy="672513"/>
            <a:chOff x="0" y="0"/>
            <a:chExt cx="4312793" cy="1065009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4312793" cy="1065022"/>
            </a:xfrm>
            <a:custGeom>
              <a:avLst/>
              <a:gdLst/>
              <a:ahLst/>
              <a:cxnLst/>
              <a:rect r="r" b="b" t="t" l="l"/>
              <a:pathLst>
                <a:path h="1065022" w="4312793">
                  <a:moveTo>
                    <a:pt x="3284093" y="0"/>
                  </a:moveTo>
                  <a:lnTo>
                    <a:pt x="1028700" y="0"/>
                  </a:lnTo>
                  <a:lnTo>
                    <a:pt x="0" y="532511"/>
                  </a:lnTo>
                  <a:lnTo>
                    <a:pt x="1028700" y="1065022"/>
                  </a:lnTo>
                  <a:lnTo>
                    <a:pt x="3284093" y="1065022"/>
                  </a:lnTo>
                  <a:lnTo>
                    <a:pt x="4312793" y="532511"/>
                  </a:lnTo>
                  <a:lnTo>
                    <a:pt x="3284093" y="0"/>
                  </a:lnTo>
                  <a:close/>
                </a:path>
              </a:pathLst>
            </a:custGeom>
            <a:solidFill>
              <a:srgbClr val="FF977E"/>
            </a:solid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5494258" y="4241703"/>
            <a:ext cx="1748988" cy="702959"/>
            <a:chOff x="0" y="0"/>
            <a:chExt cx="2769743" cy="1113224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2769739" cy="1113230"/>
            </a:xfrm>
            <a:custGeom>
              <a:avLst/>
              <a:gdLst/>
              <a:ahLst/>
              <a:cxnLst/>
              <a:rect r="r" b="b" t="t" l="l"/>
              <a:pathLst>
                <a:path h="1113230" w="2769739">
                  <a:moveTo>
                    <a:pt x="0" y="0"/>
                  </a:moveTo>
                  <a:lnTo>
                    <a:pt x="2769739" y="0"/>
                  </a:lnTo>
                  <a:lnTo>
                    <a:pt x="2769739" y="1113230"/>
                  </a:lnTo>
                  <a:lnTo>
                    <a:pt x="0" y="111323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567" t="0" r="-1568" b="1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0"/>
              <a:ext cx="2769743" cy="11132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78"/>
                </a:lnSpc>
              </a:pPr>
              <a:r>
                <a:rPr lang="en-US" sz="1899" b="true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Gmail SMTP</a:t>
              </a:r>
            </a:p>
          </p:txBody>
        </p:sp>
      </p:grpSp>
      <p:sp>
        <p:nvSpPr>
          <p:cNvPr name="Freeform 83" id="83"/>
          <p:cNvSpPr/>
          <p:nvPr/>
        </p:nvSpPr>
        <p:spPr>
          <a:xfrm flipH="false" flipV="false" rot="0">
            <a:off x="4095772" y="5785034"/>
            <a:ext cx="9297509" cy="3155082"/>
          </a:xfrm>
          <a:custGeom>
            <a:avLst/>
            <a:gdLst/>
            <a:ahLst/>
            <a:cxnLst/>
            <a:rect r="r" b="b" t="t" l="l"/>
            <a:pathLst>
              <a:path h="3155082" w="9297509">
                <a:moveTo>
                  <a:pt x="0" y="0"/>
                </a:moveTo>
                <a:lnTo>
                  <a:pt x="9297509" y="0"/>
                </a:lnTo>
                <a:lnTo>
                  <a:pt x="9297509" y="3155081"/>
                </a:lnTo>
                <a:lnTo>
                  <a:pt x="0" y="315508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4" id="84"/>
          <p:cNvGrpSpPr/>
          <p:nvPr/>
        </p:nvGrpSpPr>
        <p:grpSpPr>
          <a:xfrm rot="0">
            <a:off x="4268547" y="6599179"/>
            <a:ext cx="9220173" cy="1575433"/>
            <a:chOff x="0" y="0"/>
            <a:chExt cx="7362469" cy="1258011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7362471" cy="1258016"/>
            </a:xfrm>
            <a:custGeom>
              <a:avLst/>
              <a:gdLst/>
              <a:ahLst/>
              <a:cxnLst/>
              <a:rect r="r" b="b" t="t" l="l"/>
              <a:pathLst>
                <a:path h="1258016" w="7362471">
                  <a:moveTo>
                    <a:pt x="0" y="0"/>
                  </a:moveTo>
                  <a:lnTo>
                    <a:pt x="7362471" y="0"/>
                  </a:lnTo>
                  <a:lnTo>
                    <a:pt x="7362471" y="1258016"/>
                  </a:lnTo>
                  <a:lnTo>
                    <a:pt x="0" y="125801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1577" r="-8302" b="-105429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0"/>
              <a:ext cx="7362469" cy="12580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99"/>
                </a:lnSpc>
              </a:pPr>
            </a:p>
            <a:p>
              <a:pPr algn="ctr">
                <a:lnSpc>
                  <a:spcPts val="2999"/>
                </a:lnSpc>
              </a:pPr>
              <a:r>
                <a:rPr lang="en-US" sz="2498">
                  <a:solidFill>
                    <a:srgbClr val="1F2924"/>
                  </a:solidFill>
                  <a:latin typeface="Chewy"/>
                  <a:ea typeface="Chewy"/>
                  <a:cs typeface="Chewy"/>
                  <a:sym typeface="Chewy"/>
                </a:rPr>
                <a:t>A layered architecture is used to separate user interface, external </a:t>
              </a:r>
            </a:p>
            <a:p>
              <a:pPr algn="ctr">
                <a:lnSpc>
                  <a:spcPts val="2999"/>
                </a:lnSpc>
              </a:pPr>
              <a:r>
                <a:rPr lang="en-US" sz="2498">
                  <a:solidFill>
                    <a:srgbClr val="1F2924"/>
                  </a:solidFill>
                  <a:latin typeface="Chewy"/>
                  <a:ea typeface="Chewy"/>
                  <a:cs typeface="Chewy"/>
                  <a:sym typeface="Chewy"/>
                </a:rPr>
                <a:t>services, and backend logic, ensuring secure, scalable, and efficient </a:t>
              </a:r>
            </a:p>
            <a:p>
              <a:pPr algn="ctr">
                <a:lnSpc>
                  <a:spcPts val="2999"/>
                </a:lnSpc>
              </a:pPr>
              <a:r>
                <a:rPr lang="en-US" sz="2498">
                  <a:solidFill>
                    <a:srgbClr val="1F2924"/>
                  </a:solidFill>
                  <a:latin typeface="Chewy"/>
                  <a:ea typeface="Chewy"/>
                  <a:cs typeface="Chewy"/>
                  <a:sym typeface="Chewy"/>
                </a:rPr>
                <a:t>multi-vendor delivery management.</a:t>
              </a: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6364272" y="2873850"/>
            <a:ext cx="34865" cy="1367853"/>
            <a:chOff x="0" y="0"/>
            <a:chExt cx="40513" cy="1589430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40513" cy="1589405"/>
            </a:xfrm>
            <a:custGeom>
              <a:avLst/>
              <a:gdLst/>
              <a:ahLst/>
              <a:cxnLst/>
              <a:rect r="r" b="b" t="t" l="l"/>
              <a:pathLst>
                <a:path h="1589405" w="40513">
                  <a:moveTo>
                    <a:pt x="0" y="1570355"/>
                  </a:moveTo>
                  <a:lnTo>
                    <a:pt x="2413" y="19050"/>
                  </a:lnTo>
                  <a:cubicBezTo>
                    <a:pt x="2413" y="8509"/>
                    <a:pt x="10922" y="0"/>
                    <a:pt x="21463" y="0"/>
                  </a:cubicBezTo>
                  <a:cubicBezTo>
                    <a:pt x="32004" y="0"/>
                    <a:pt x="40513" y="8509"/>
                    <a:pt x="40513" y="19050"/>
                  </a:cubicBezTo>
                  <a:lnTo>
                    <a:pt x="38100" y="1570355"/>
                  </a:lnTo>
                  <a:cubicBezTo>
                    <a:pt x="38100" y="1580896"/>
                    <a:pt x="29591" y="1589405"/>
                    <a:pt x="19050" y="1589405"/>
                  </a:cubicBezTo>
                  <a:cubicBezTo>
                    <a:pt x="8509" y="1589405"/>
                    <a:pt x="0" y="1580896"/>
                    <a:pt x="0" y="1570355"/>
                  </a:cubicBezTo>
                  <a:close/>
                </a:path>
              </a:pathLst>
            </a:custGeom>
            <a:solidFill>
              <a:srgbClr val="D1AC97"/>
            </a:solidFill>
          </p:spPr>
        </p:sp>
      </p:grpSp>
      <p:grpSp>
        <p:nvGrpSpPr>
          <p:cNvPr name="Group 89" id="89"/>
          <p:cNvGrpSpPr/>
          <p:nvPr/>
        </p:nvGrpSpPr>
        <p:grpSpPr>
          <a:xfrm rot="0">
            <a:off x="10401006" y="2834575"/>
            <a:ext cx="33923" cy="1330878"/>
            <a:chOff x="0" y="0"/>
            <a:chExt cx="40513" cy="158943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40513" cy="1589405"/>
            </a:xfrm>
            <a:custGeom>
              <a:avLst/>
              <a:gdLst/>
              <a:ahLst/>
              <a:cxnLst/>
              <a:rect r="r" b="b" t="t" l="l"/>
              <a:pathLst>
                <a:path h="1589405" w="40513">
                  <a:moveTo>
                    <a:pt x="0" y="1570355"/>
                  </a:moveTo>
                  <a:lnTo>
                    <a:pt x="2413" y="19050"/>
                  </a:lnTo>
                  <a:cubicBezTo>
                    <a:pt x="2413" y="8509"/>
                    <a:pt x="10922" y="0"/>
                    <a:pt x="21463" y="0"/>
                  </a:cubicBezTo>
                  <a:cubicBezTo>
                    <a:pt x="32004" y="0"/>
                    <a:pt x="40513" y="8509"/>
                    <a:pt x="40513" y="19050"/>
                  </a:cubicBezTo>
                  <a:lnTo>
                    <a:pt x="38100" y="1570355"/>
                  </a:lnTo>
                  <a:cubicBezTo>
                    <a:pt x="38100" y="1580896"/>
                    <a:pt x="29591" y="1589405"/>
                    <a:pt x="19050" y="1589405"/>
                  </a:cubicBezTo>
                  <a:cubicBezTo>
                    <a:pt x="8509" y="1589405"/>
                    <a:pt x="0" y="1580896"/>
                    <a:pt x="0" y="1570355"/>
                  </a:cubicBezTo>
                  <a:close/>
                </a:path>
              </a:pathLst>
            </a:custGeom>
            <a:solidFill>
              <a:srgbClr val="D1AC97"/>
            </a:solidFill>
          </p:spPr>
        </p:sp>
      </p:grpSp>
      <p:grpSp>
        <p:nvGrpSpPr>
          <p:cNvPr name="Group 91" id="91"/>
          <p:cNvGrpSpPr/>
          <p:nvPr/>
        </p:nvGrpSpPr>
        <p:grpSpPr>
          <a:xfrm rot="0">
            <a:off x="2528631" y="2903978"/>
            <a:ext cx="30385" cy="1192073"/>
            <a:chOff x="0" y="0"/>
            <a:chExt cx="40513" cy="1589430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40513" cy="1589405"/>
            </a:xfrm>
            <a:custGeom>
              <a:avLst/>
              <a:gdLst/>
              <a:ahLst/>
              <a:cxnLst/>
              <a:rect r="r" b="b" t="t" l="l"/>
              <a:pathLst>
                <a:path h="1589405" w="40513">
                  <a:moveTo>
                    <a:pt x="0" y="1570355"/>
                  </a:moveTo>
                  <a:lnTo>
                    <a:pt x="2413" y="19050"/>
                  </a:lnTo>
                  <a:cubicBezTo>
                    <a:pt x="2413" y="8509"/>
                    <a:pt x="10922" y="0"/>
                    <a:pt x="21463" y="0"/>
                  </a:cubicBezTo>
                  <a:cubicBezTo>
                    <a:pt x="32004" y="0"/>
                    <a:pt x="40513" y="8509"/>
                    <a:pt x="40513" y="19050"/>
                  </a:cubicBezTo>
                  <a:lnTo>
                    <a:pt x="38100" y="1570355"/>
                  </a:lnTo>
                  <a:cubicBezTo>
                    <a:pt x="38100" y="1580896"/>
                    <a:pt x="29591" y="1589405"/>
                    <a:pt x="19050" y="1589405"/>
                  </a:cubicBezTo>
                  <a:cubicBezTo>
                    <a:pt x="8509" y="1589405"/>
                    <a:pt x="0" y="1580896"/>
                    <a:pt x="0" y="1570355"/>
                  </a:cubicBezTo>
                  <a:close/>
                </a:path>
              </a:pathLst>
            </a:custGeom>
            <a:solidFill>
              <a:srgbClr val="D1AC97"/>
            </a:solidFill>
          </p:spPr>
        </p:sp>
      </p:grpSp>
      <p:grpSp>
        <p:nvGrpSpPr>
          <p:cNvPr name="Group 93" id="93"/>
          <p:cNvGrpSpPr/>
          <p:nvPr/>
        </p:nvGrpSpPr>
        <p:grpSpPr>
          <a:xfrm rot="0">
            <a:off x="15932629" y="2834575"/>
            <a:ext cx="40435" cy="1586372"/>
            <a:chOff x="0" y="0"/>
            <a:chExt cx="40513" cy="1589430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40513" cy="1589405"/>
            </a:xfrm>
            <a:custGeom>
              <a:avLst/>
              <a:gdLst/>
              <a:ahLst/>
              <a:cxnLst/>
              <a:rect r="r" b="b" t="t" l="l"/>
              <a:pathLst>
                <a:path h="1589405" w="40513">
                  <a:moveTo>
                    <a:pt x="0" y="1570355"/>
                  </a:moveTo>
                  <a:lnTo>
                    <a:pt x="2413" y="19050"/>
                  </a:lnTo>
                  <a:cubicBezTo>
                    <a:pt x="2413" y="8509"/>
                    <a:pt x="10922" y="0"/>
                    <a:pt x="21463" y="0"/>
                  </a:cubicBezTo>
                  <a:cubicBezTo>
                    <a:pt x="32004" y="0"/>
                    <a:pt x="40513" y="8509"/>
                    <a:pt x="40513" y="19050"/>
                  </a:cubicBezTo>
                  <a:lnTo>
                    <a:pt x="38100" y="1570355"/>
                  </a:lnTo>
                  <a:cubicBezTo>
                    <a:pt x="38100" y="1580896"/>
                    <a:pt x="29591" y="1589405"/>
                    <a:pt x="19050" y="1589405"/>
                  </a:cubicBezTo>
                  <a:cubicBezTo>
                    <a:pt x="8509" y="1589405"/>
                    <a:pt x="0" y="1580896"/>
                    <a:pt x="0" y="1570355"/>
                  </a:cubicBezTo>
                  <a:close/>
                </a:path>
              </a:pathLst>
            </a:custGeom>
            <a:solidFill>
              <a:srgbClr val="D1AC97"/>
            </a:solidFill>
          </p:spPr>
        </p:sp>
      </p:grpSp>
    </p:spTree>
  </p:cSld>
  <p:clrMapOvr>
    <a:masterClrMapping/>
  </p:clrMapOvr>
  <p:transition spd="slow">
    <p:fade/>
  </p:transition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334900">
            <a:off x="4158297" y="-6006127"/>
            <a:ext cx="9203671" cy="22008778"/>
          </a:xfrm>
          <a:custGeom>
            <a:avLst/>
            <a:gdLst/>
            <a:ahLst/>
            <a:cxnLst/>
            <a:rect r="r" b="b" t="t" l="l"/>
            <a:pathLst>
              <a:path h="22008778" w="9203671">
                <a:moveTo>
                  <a:pt x="0" y="0"/>
                </a:moveTo>
                <a:lnTo>
                  <a:pt x="9203671" y="0"/>
                </a:lnTo>
                <a:lnTo>
                  <a:pt x="9203671" y="22008778"/>
                </a:lnTo>
                <a:lnTo>
                  <a:pt x="0" y="2200877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699438" y="1371600"/>
            <a:ext cx="10889123" cy="1120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05"/>
              </a:lnSpc>
            </a:pPr>
            <a:r>
              <a:rPr lang="en-US" sz="9636">
                <a:solidFill>
                  <a:srgbClr val="517166"/>
                </a:solidFill>
                <a:latin typeface="Londrina Sketch"/>
                <a:ea typeface="Londrina Sketch"/>
                <a:cs typeface="Londrina Sketch"/>
                <a:sym typeface="Londrina Sketch"/>
              </a:rPr>
              <a:t>SY</a:t>
            </a:r>
            <a:r>
              <a:rPr lang="en-US" sz="9636">
                <a:solidFill>
                  <a:srgbClr val="517166"/>
                </a:solidFill>
                <a:latin typeface="Londrina Sketch"/>
                <a:ea typeface="Londrina Sketch"/>
                <a:cs typeface="Londrina Sketch"/>
                <a:sym typeface="Londrina Sketch"/>
              </a:rPr>
              <a:t>STEM ARCHITECTURE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090031" y="2713666"/>
            <a:ext cx="8587492" cy="5541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93"/>
              </a:lnSpc>
            </a:pPr>
            <a:r>
              <a:rPr lang="en-US" sz="3567" spc="92">
                <a:solidFill>
                  <a:srgbClr val="517166"/>
                </a:solidFill>
                <a:latin typeface="Chewy"/>
                <a:ea typeface="Chewy"/>
                <a:cs typeface="Chewy"/>
                <a:sym typeface="Chewy"/>
              </a:rPr>
              <a:t>The system follows a client–server architecture to manage users, orders, and deliveries efficiently.</a:t>
            </a:r>
          </a:p>
          <a:p>
            <a:pPr algn="l" marL="770230" indent="-385115" lvl="1">
              <a:lnSpc>
                <a:spcPts val="5493"/>
              </a:lnSpc>
              <a:buFont typeface="Arial"/>
              <a:buChar char="•"/>
            </a:pPr>
            <a:r>
              <a:rPr lang="en-US" sz="3567" spc="92">
                <a:solidFill>
                  <a:srgbClr val="517166"/>
                </a:solidFill>
                <a:latin typeface="Chewy"/>
                <a:ea typeface="Chewy"/>
                <a:cs typeface="Chewy"/>
                <a:sym typeface="Chewy"/>
              </a:rPr>
              <a:t>Web Client handles user interaction</a:t>
            </a:r>
          </a:p>
          <a:p>
            <a:pPr algn="l" marL="770230" indent="-385115" lvl="1">
              <a:lnSpc>
                <a:spcPts val="5493"/>
              </a:lnSpc>
              <a:buFont typeface="Arial"/>
              <a:buChar char="•"/>
            </a:pPr>
            <a:r>
              <a:rPr lang="en-US" sz="3567" spc="92">
                <a:solidFill>
                  <a:srgbClr val="517166"/>
                </a:solidFill>
                <a:latin typeface="Chewy"/>
                <a:ea typeface="Chewy"/>
                <a:cs typeface="Chewy"/>
                <a:sym typeface="Chewy"/>
              </a:rPr>
              <a:t>Flask Backend processes business logic</a:t>
            </a:r>
          </a:p>
          <a:p>
            <a:pPr algn="l" marL="770230" indent="-385115" lvl="1">
              <a:lnSpc>
                <a:spcPts val="5493"/>
              </a:lnSpc>
              <a:buFont typeface="Arial"/>
              <a:buChar char="•"/>
            </a:pPr>
            <a:r>
              <a:rPr lang="en-US" sz="3567" spc="92">
                <a:solidFill>
                  <a:srgbClr val="517166"/>
                </a:solidFill>
                <a:latin typeface="Chewy"/>
                <a:ea typeface="Chewy"/>
                <a:cs typeface="Chewy"/>
                <a:sym typeface="Chewy"/>
              </a:rPr>
              <a:t> SQLite Database stores all system data</a:t>
            </a:r>
          </a:p>
          <a:p>
            <a:pPr algn="l" marL="770230" indent="-385115" lvl="1">
              <a:lnSpc>
                <a:spcPts val="5493"/>
              </a:lnSpc>
              <a:buFont typeface="Arial"/>
              <a:buChar char="•"/>
            </a:pPr>
            <a:r>
              <a:rPr lang="en-US" sz="3567" spc="92">
                <a:solidFill>
                  <a:srgbClr val="517166"/>
                </a:solidFill>
                <a:latin typeface="Chewy"/>
                <a:ea typeface="Chewy"/>
                <a:cs typeface="Chewy"/>
                <a:sym typeface="Chewy"/>
              </a:rPr>
              <a:t>Email SMTP service sends OTP and notifications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839528">
            <a:off x="14920230" y="5891041"/>
            <a:ext cx="1688591" cy="2232512"/>
          </a:xfrm>
          <a:custGeom>
            <a:avLst/>
            <a:gdLst/>
            <a:ahLst/>
            <a:cxnLst/>
            <a:rect r="r" b="b" t="t" l="l"/>
            <a:pathLst>
              <a:path h="2232512" w="1688591">
                <a:moveTo>
                  <a:pt x="0" y="0"/>
                </a:moveTo>
                <a:lnTo>
                  <a:pt x="1688590" y="0"/>
                </a:lnTo>
                <a:lnTo>
                  <a:pt x="1688590" y="2232511"/>
                </a:lnTo>
                <a:lnTo>
                  <a:pt x="0" y="223251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2130778" y="2041174"/>
            <a:ext cx="7220809" cy="7010749"/>
          </a:xfrm>
          <a:custGeom>
            <a:avLst/>
            <a:gdLst/>
            <a:ahLst/>
            <a:cxnLst/>
            <a:rect r="r" b="b" t="t" l="l"/>
            <a:pathLst>
              <a:path h="7010749" w="7220809">
                <a:moveTo>
                  <a:pt x="0" y="0"/>
                </a:moveTo>
                <a:lnTo>
                  <a:pt x="7220809" y="0"/>
                </a:lnTo>
                <a:lnTo>
                  <a:pt x="7220809" y="7010749"/>
                </a:lnTo>
                <a:lnTo>
                  <a:pt x="0" y="701074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997099" y="3922087"/>
            <a:ext cx="4686165" cy="5336213"/>
          </a:xfrm>
          <a:custGeom>
            <a:avLst/>
            <a:gdLst/>
            <a:ahLst/>
            <a:cxnLst/>
            <a:rect r="r" b="b" t="t" l="l"/>
            <a:pathLst>
              <a:path h="5336213" w="4686165">
                <a:moveTo>
                  <a:pt x="0" y="0"/>
                </a:moveTo>
                <a:lnTo>
                  <a:pt x="4686165" y="0"/>
                </a:lnTo>
                <a:lnTo>
                  <a:pt x="4686165" y="5336213"/>
                </a:lnTo>
                <a:lnTo>
                  <a:pt x="0" y="533621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4558807">
            <a:off x="14907868" y="1147489"/>
            <a:ext cx="566344" cy="921566"/>
          </a:xfrm>
          <a:custGeom>
            <a:avLst/>
            <a:gdLst/>
            <a:ahLst/>
            <a:cxnLst/>
            <a:rect r="r" b="b" t="t" l="l"/>
            <a:pathLst>
              <a:path h="921566" w="566344">
                <a:moveTo>
                  <a:pt x="0" y="0"/>
                </a:moveTo>
                <a:lnTo>
                  <a:pt x="566344" y="0"/>
                </a:lnTo>
                <a:lnTo>
                  <a:pt x="566344" y="921565"/>
                </a:lnTo>
                <a:lnTo>
                  <a:pt x="0" y="92156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5984616" y="1882424"/>
            <a:ext cx="482267" cy="482267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17166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07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2897130" y="1608272"/>
            <a:ext cx="548305" cy="548305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17166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07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6988675" y="8294573"/>
            <a:ext cx="541249" cy="541249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17166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07"/>
                </a:lnSpc>
              </a:pPr>
            </a:p>
          </p:txBody>
        </p:sp>
      </p:grpSp>
    </p:spTree>
  </p:cSld>
  <p:clrMapOvr>
    <a:masterClrMapping/>
  </p:clrMapOvr>
  <p:transition spd="slow">
    <p:fade/>
  </p:transition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334900">
            <a:off x="4158297" y="-6006127"/>
            <a:ext cx="9203671" cy="22008778"/>
          </a:xfrm>
          <a:custGeom>
            <a:avLst/>
            <a:gdLst/>
            <a:ahLst/>
            <a:cxnLst/>
            <a:rect r="r" b="b" t="t" l="l"/>
            <a:pathLst>
              <a:path h="22008778" w="9203671">
                <a:moveTo>
                  <a:pt x="0" y="0"/>
                </a:moveTo>
                <a:lnTo>
                  <a:pt x="9203671" y="0"/>
                </a:lnTo>
                <a:lnTo>
                  <a:pt x="9203671" y="22008778"/>
                </a:lnTo>
                <a:lnTo>
                  <a:pt x="0" y="2200877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699438" y="1371600"/>
            <a:ext cx="10889123" cy="21074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05"/>
              </a:lnSpc>
            </a:pPr>
            <a:r>
              <a:rPr lang="en-US" sz="9636">
                <a:solidFill>
                  <a:srgbClr val="517166"/>
                </a:solidFill>
                <a:latin typeface="Londrina Sketch"/>
                <a:ea typeface="Londrina Sketch"/>
                <a:cs typeface="Londrina Sketch"/>
                <a:sym typeface="Londrina Sketch"/>
              </a:rPr>
              <a:t>GEOFENCING U</a:t>
            </a:r>
            <a:r>
              <a:rPr lang="en-US" sz="9636">
                <a:solidFill>
                  <a:srgbClr val="517166"/>
                </a:solidFill>
                <a:latin typeface="Londrina Sketch"/>
                <a:ea typeface="Londrina Sketch"/>
                <a:cs typeface="Londrina Sketch"/>
                <a:sym typeface="Londrina Sketch"/>
              </a:rPr>
              <a:t>SING HAVERSINE FORMULA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-4558807">
            <a:off x="14907868" y="1147489"/>
            <a:ext cx="566344" cy="921566"/>
          </a:xfrm>
          <a:custGeom>
            <a:avLst/>
            <a:gdLst/>
            <a:ahLst/>
            <a:cxnLst/>
            <a:rect r="r" b="b" t="t" l="l"/>
            <a:pathLst>
              <a:path h="921566" w="566344">
                <a:moveTo>
                  <a:pt x="0" y="0"/>
                </a:moveTo>
                <a:lnTo>
                  <a:pt x="566344" y="0"/>
                </a:lnTo>
                <a:lnTo>
                  <a:pt x="566344" y="921565"/>
                </a:lnTo>
                <a:lnTo>
                  <a:pt x="0" y="92156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5984616" y="1882424"/>
            <a:ext cx="482267" cy="482267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17166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07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897130" y="1608272"/>
            <a:ext cx="548305" cy="548305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17166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07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6988675" y="8294573"/>
            <a:ext cx="541249" cy="541249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17166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07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5" y="3779811"/>
            <a:ext cx="5556914" cy="1053589"/>
          </a:xfrm>
          <a:custGeom>
            <a:avLst/>
            <a:gdLst/>
            <a:ahLst/>
            <a:cxnLst/>
            <a:rect r="r" b="b" t="t" l="l"/>
            <a:pathLst>
              <a:path h="1053589" w="5556914">
                <a:moveTo>
                  <a:pt x="0" y="0"/>
                </a:moveTo>
                <a:lnTo>
                  <a:pt x="5556913" y="0"/>
                </a:lnTo>
                <a:lnTo>
                  <a:pt x="5556913" y="1053588"/>
                </a:lnTo>
                <a:lnTo>
                  <a:pt x="0" y="105358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565537" y="3866674"/>
            <a:ext cx="4341343" cy="879862"/>
            <a:chOff x="0" y="0"/>
            <a:chExt cx="5788457" cy="117315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788451" cy="1173144"/>
            </a:xfrm>
            <a:custGeom>
              <a:avLst/>
              <a:gdLst/>
              <a:ahLst/>
              <a:cxnLst/>
              <a:rect r="r" b="b" t="t" l="l"/>
              <a:pathLst>
                <a:path h="1173144" w="5788451">
                  <a:moveTo>
                    <a:pt x="0" y="0"/>
                  </a:moveTo>
                  <a:lnTo>
                    <a:pt x="5788451" y="0"/>
                  </a:lnTo>
                  <a:lnTo>
                    <a:pt x="5788451" y="1173144"/>
                  </a:lnTo>
                  <a:lnTo>
                    <a:pt x="0" y="1173144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46141" r="0" b="-46142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9525"/>
              <a:ext cx="5788457" cy="1182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60"/>
                </a:lnSpc>
              </a:pPr>
              <a:r>
                <a:rPr lang="en-US" sz="2300" b="true">
                  <a:solidFill>
                    <a:srgbClr val="000000"/>
                  </a:solidFill>
                  <a:latin typeface="Lato Bold"/>
                  <a:ea typeface="Lato Bold"/>
                  <a:cs typeface="Lato Bold"/>
                  <a:sym typeface="Lato Bold"/>
                </a:rPr>
                <a:t>Why not Euclidean distance?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38899" y="6619461"/>
            <a:ext cx="2758230" cy="837343"/>
            <a:chOff x="0" y="0"/>
            <a:chExt cx="3677641" cy="1116457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677666" cy="1116457"/>
            </a:xfrm>
            <a:custGeom>
              <a:avLst/>
              <a:gdLst/>
              <a:ahLst/>
              <a:cxnLst/>
              <a:rect r="r" b="b" t="t" l="l"/>
              <a:pathLst>
                <a:path h="1116457" w="3677666">
                  <a:moveTo>
                    <a:pt x="2444115" y="0"/>
                  </a:moveTo>
                  <a:cubicBezTo>
                    <a:pt x="3125343" y="0"/>
                    <a:pt x="3677666" y="249936"/>
                    <a:pt x="3677666" y="558165"/>
                  </a:cubicBezTo>
                  <a:cubicBezTo>
                    <a:pt x="3677666" y="866394"/>
                    <a:pt x="3125343" y="1116457"/>
                    <a:pt x="2444115" y="1116457"/>
                  </a:cubicBezTo>
                  <a:lnTo>
                    <a:pt x="1233551" y="1116457"/>
                  </a:lnTo>
                  <a:cubicBezTo>
                    <a:pt x="552323" y="1116457"/>
                    <a:pt x="0" y="866521"/>
                    <a:pt x="0" y="558165"/>
                  </a:cubicBezTo>
                  <a:cubicBezTo>
                    <a:pt x="0" y="249809"/>
                    <a:pt x="552323" y="0"/>
                    <a:pt x="1233551" y="0"/>
                  </a:cubicBezTo>
                  <a:close/>
                </a:path>
              </a:pathLst>
            </a:custGeom>
            <a:solidFill>
              <a:srgbClr val="E3D0F4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20231" y="6619461"/>
            <a:ext cx="2758230" cy="880710"/>
            <a:chOff x="0" y="0"/>
            <a:chExt cx="3677641" cy="117428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677635" cy="1174282"/>
            </a:xfrm>
            <a:custGeom>
              <a:avLst/>
              <a:gdLst/>
              <a:ahLst/>
              <a:cxnLst/>
              <a:rect r="r" b="b" t="t" l="l"/>
              <a:pathLst>
                <a:path h="1174282" w="3677635">
                  <a:moveTo>
                    <a:pt x="0" y="0"/>
                  </a:moveTo>
                  <a:lnTo>
                    <a:pt x="3677635" y="0"/>
                  </a:lnTo>
                  <a:lnTo>
                    <a:pt x="3677635" y="1174282"/>
                  </a:lnTo>
                  <a:lnTo>
                    <a:pt x="0" y="1174282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11023" r="0" b="-11023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9525"/>
              <a:ext cx="3677641" cy="11838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60"/>
                </a:lnSpc>
              </a:pPr>
              <a:r>
                <a:rPr lang="en-US" sz="2300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Earth is spherical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2897130" y="6527082"/>
            <a:ext cx="3633521" cy="2551290"/>
            <a:chOff x="0" y="0"/>
            <a:chExt cx="4844694" cy="340172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63"/>
              <a:ext cx="4844669" cy="3401568"/>
            </a:xfrm>
            <a:custGeom>
              <a:avLst/>
              <a:gdLst/>
              <a:ahLst/>
              <a:cxnLst/>
              <a:rect r="r" b="b" t="t" l="l"/>
              <a:pathLst>
                <a:path h="3401568" w="4844669">
                  <a:moveTo>
                    <a:pt x="2702687" y="87821"/>
                  </a:moveTo>
                  <a:lnTo>
                    <a:pt x="4742815" y="1505903"/>
                  </a:lnTo>
                  <a:cubicBezTo>
                    <a:pt x="4806696" y="1550226"/>
                    <a:pt x="4844669" y="1623124"/>
                    <a:pt x="4844669" y="1700721"/>
                  </a:cubicBezTo>
                  <a:cubicBezTo>
                    <a:pt x="4844669" y="1778318"/>
                    <a:pt x="4806569" y="1851216"/>
                    <a:pt x="4742815" y="1895539"/>
                  </a:cubicBezTo>
                  <a:lnTo>
                    <a:pt x="2702687" y="3313748"/>
                  </a:lnTo>
                  <a:cubicBezTo>
                    <a:pt x="2534158" y="3430842"/>
                    <a:pt x="2310511" y="3430842"/>
                    <a:pt x="2141982" y="3313748"/>
                  </a:cubicBezTo>
                  <a:lnTo>
                    <a:pt x="101854" y="1895666"/>
                  </a:lnTo>
                  <a:cubicBezTo>
                    <a:pt x="38100" y="1851343"/>
                    <a:pt x="0" y="1778572"/>
                    <a:pt x="0" y="1700848"/>
                  </a:cubicBezTo>
                  <a:cubicBezTo>
                    <a:pt x="0" y="1623124"/>
                    <a:pt x="38100" y="1550353"/>
                    <a:pt x="101854" y="1506030"/>
                  </a:cubicBezTo>
                  <a:lnTo>
                    <a:pt x="2141982" y="87821"/>
                  </a:lnTo>
                  <a:cubicBezTo>
                    <a:pt x="2310511" y="-29273"/>
                    <a:pt x="2534158" y="-29273"/>
                    <a:pt x="2702687" y="87821"/>
                  </a:cubicBezTo>
                  <a:close/>
                </a:path>
              </a:pathLst>
            </a:custGeom>
            <a:solidFill>
              <a:srgbClr val="CEEBC6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3445434" y="6778676"/>
            <a:ext cx="2560196" cy="1820589"/>
            <a:chOff x="0" y="0"/>
            <a:chExt cx="3413595" cy="2427453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413590" cy="2427453"/>
            </a:xfrm>
            <a:custGeom>
              <a:avLst/>
              <a:gdLst/>
              <a:ahLst/>
              <a:cxnLst/>
              <a:rect r="r" b="b" t="t" l="l"/>
              <a:pathLst>
                <a:path h="2427453" w="3413590">
                  <a:moveTo>
                    <a:pt x="0" y="0"/>
                  </a:moveTo>
                  <a:lnTo>
                    <a:pt x="3413590" y="0"/>
                  </a:lnTo>
                  <a:lnTo>
                    <a:pt x="3413590" y="2427453"/>
                  </a:lnTo>
                  <a:lnTo>
                    <a:pt x="0" y="2427453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41238" t="0" r="-41238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9525"/>
              <a:ext cx="3413595" cy="24369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59"/>
                </a:lnSpc>
              </a:pPr>
              <a:r>
                <a:rPr lang="en-US" sz="2299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Latitude and longitude are angular measurements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4976052" y="5236243"/>
            <a:ext cx="3880799" cy="887997"/>
            <a:chOff x="0" y="0"/>
            <a:chExt cx="5174399" cy="118399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174361" cy="1183894"/>
            </a:xfrm>
            <a:custGeom>
              <a:avLst/>
              <a:gdLst/>
              <a:ahLst/>
              <a:cxnLst/>
              <a:rect r="r" b="b" t="t" l="l"/>
              <a:pathLst>
                <a:path h="1183894" w="5174361">
                  <a:moveTo>
                    <a:pt x="3934587" y="0"/>
                  </a:moveTo>
                  <a:cubicBezTo>
                    <a:pt x="4619244" y="0"/>
                    <a:pt x="5174361" y="265049"/>
                    <a:pt x="5174361" y="591947"/>
                  </a:cubicBezTo>
                  <a:cubicBezTo>
                    <a:pt x="5174361" y="918845"/>
                    <a:pt x="4619244" y="1183894"/>
                    <a:pt x="3934587" y="1183894"/>
                  </a:cubicBezTo>
                  <a:lnTo>
                    <a:pt x="1239774" y="1183894"/>
                  </a:lnTo>
                  <a:cubicBezTo>
                    <a:pt x="555117" y="1184021"/>
                    <a:pt x="0" y="918972"/>
                    <a:pt x="0" y="591947"/>
                  </a:cubicBezTo>
                  <a:cubicBezTo>
                    <a:pt x="0" y="264922"/>
                    <a:pt x="555117" y="0"/>
                    <a:pt x="1239774" y="0"/>
                  </a:cubicBezTo>
                  <a:close/>
                </a:path>
              </a:pathLst>
            </a:custGeom>
            <a:solidFill>
              <a:srgbClr val="E3D0F4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5050469" y="5307014"/>
            <a:ext cx="3880799" cy="931583"/>
            <a:chOff x="0" y="0"/>
            <a:chExt cx="5174399" cy="1242111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5174393" cy="1242107"/>
            </a:xfrm>
            <a:custGeom>
              <a:avLst/>
              <a:gdLst/>
              <a:ahLst/>
              <a:cxnLst/>
              <a:rect r="r" b="b" t="t" l="l"/>
              <a:pathLst>
                <a:path h="1242107" w="5174393">
                  <a:moveTo>
                    <a:pt x="0" y="0"/>
                  </a:moveTo>
                  <a:lnTo>
                    <a:pt x="5174393" y="0"/>
                  </a:lnTo>
                  <a:lnTo>
                    <a:pt x="5174393" y="1242107"/>
                  </a:lnTo>
                  <a:lnTo>
                    <a:pt x="0" y="1242107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31171" r="0" b="-31171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9525"/>
              <a:ext cx="5174399" cy="12516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60"/>
                </a:lnSpc>
              </a:pPr>
              <a:r>
                <a:rPr lang="en-US" sz="2300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Euclidean distance causes inaccuracy</a:t>
              </a:r>
            </a:p>
          </p:txBody>
        </p:sp>
      </p:grpSp>
      <p:sp>
        <p:nvSpPr>
          <p:cNvPr name="Freeform 34" id="34"/>
          <p:cNvSpPr/>
          <p:nvPr/>
        </p:nvSpPr>
        <p:spPr>
          <a:xfrm flipH="false" flipV="false" rot="6657180">
            <a:off x="4163402" y="4576075"/>
            <a:ext cx="454514" cy="1461878"/>
          </a:xfrm>
          <a:custGeom>
            <a:avLst/>
            <a:gdLst/>
            <a:ahLst/>
            <a:cxnLst/>
            <a:rect r="r" b="b" t="t" l="l"/>
            <a:pathLst>
              <a:path h="1461878" w="454514">
                <a:moveTo>
                  <a:pt x="0" y="0"/>
                </a:moveTo>
                <a:lnTo>
                  <a:pt x="454514" y="0"/>
                </a:lnTo>
                <a:lnTo>
                  <a:pt x="454514" y="1461878"/>
                </a:lnTo>
                <a:lnTo>
                  <a:pt x="0" y="146187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125" t="0" r="-123" b="0"/>
            </a:stretch>
          </a:blipFill>
        </p:spPr>
      </p:sp>
      <p:sp>
        <p:nvSpPr>
          <p:cNvPr name="Freeform 35" id="35"/>
          <p:cNvSpPr/>
          <p:nvPr/>
        </p:nvSpPr>
        <p:spPr>
          <a:xfrm flipH="true" flipV="false" rot="-9199020">
            <a:off x="919413" y="4807982"/>
            <a:ext cx="686029" cy="1738789"/>
          </a:xfrm>
          <a:custGeom>
            <a:avLst/>
            <a:gdLst/>
            <a:ahLst/>
            <a:cxnLst/>
            <a:rect r="r" b="b" t="t" l="l"/>
            <a:pathLst>
              <a:path h="1738789" w="686029">
                <a:moveTo>
                  <a:pt x="686028" y="0"/>
                </a:moveTo>
                <a:lnTo>
                  <a:pt x="0" y="0"/>
                </a:lnTo>
                <a:lnTo>
                  <a:pt x="0" y="1738788"/>
                </a:lnTo>
                <a:lnTo>
                  <a:pt x="686028" y="1738788"/>
                </a:lnTo>
                <a:lnTo>
                  <a:pt x="686028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-552" t="0" r="-553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-10309560">
            <a:off x="2250510" y="5043291"/>
            <a:ext cx="1679219" cy="1624260"/>
          </a:xfrm>
          <a:custGeom>
            <a:avLst/>
            <a:gdLst/>
            <a:ahLst/>
            <a:cxnLst/>
            <a:rect r="r" b="b" t="t" l="l"/>
            <a:pathLst>
              <a:path h="1624260" w="1679219">
                <a:moveTo>
                  <a:pt x="0" y="0"/>
                </a:moveTo>
                <a:lnTo>
                  <a:pt x="1679219" y="0"/>
                </a:lnTo>
                <a:lnTo>
                  <a:pt x="1679219" y="1624260"/>
                </a:lnTo>
                <a:lnTo>
                  <a:pt x="0" y="162426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-60" t="0" r="-6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9624955" y="3339654"/>
            <a:ext cx="8348682" cy="2264035"/>
          </a:xfrm>
          <a:custGeom>
            <a:avLst/>
            <a:gdLst/>
            <a:ahLst/>
            <a:cxnLst/>
            <a:rect r="r" b="b" t="t" l="l"/>
            <a:pathLst>
              <a:path h="2264035" w="8348682">
                <a:moveTo>
                  <a:pt x="0" y="0"/>
                </a:moveTo>
                <a:lnTo>
                  <a:pt x="8348682" y="0"/>
                </a:lnTo>
                <a:lnTo>
                  <a:pt x="8348682" y="2264035"/>
                </a:lnTo>
                <a:lnTo>
                  <a:pt x="0" y="2264035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8" id="38"/>
          <p:cNvGrpSpPr/>
          <p:nvPr/>
        </p:nvGrpSpPr>
        <p:grpSpPr>
          <a:xfrm rot="0">
            <a:off x="10228000" y="3779811"/>
            <a:ext cx="7565993" cy="1611373"/>
            <a:chOff x="0" y="0"/>
            <a:chExt cx="10087991" cy="2148497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0087991" cy="2148501"/>
            </a:xfrm>
            <a:custGeom>
              <a:avLst/>
              <a:gdLst/>
              <a:ahLst/>
              <a:cxnLst/>
              <a:rect r="r" b="b" t="t" l="l"/>
              <a:pathLst>
                <a:path h="2148501" w="10087991">
                  <a:moveTo>
                    <a:pt x="0" y="0"/>
                  </a:moveTo>
                  <a:lnTo>
                    <a:pt x="10087991" y="0"/>
                  </a:lnTo>
                  <a:lnTo>
                    <a:pt x="10087991" y="2148501"/>
                  </a:lnTo>
                  <a:lnTo>
                    <a:pt x="0" y="2148501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41489" r="0" b="-41489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9525"/>
              <a:ext cx="10087991" cy="21580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The system calculates distance between user and vendors using the Haversine formula.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0769556" y="5947473"/>
            <a:ext cx="7204081" cy="1159219"/>
            <a:chOff x="0" y="0"/>
            <a:chExt cx="7084555" cy="1139986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7084568" cy="1140024"/>
            </a:xfrm>
            <a:custGeom>
              <a:avLst/>
              <a:gdLst/>
              <a:ahLst/>
              <a:cxnLst/>
              <a:rect r="r" b="b" t="t" l="l"/>
              <a:pathLst>
                <a:path h="1140024" w="7084568">
                  <a:moveTo>
                    <a:pt x="0" y="0"/>
                  </a:moveTo>
                  <a:lnTo>
                    <a:pt x="7084568" y="0"/>
                  </a:lnTo>
                  <a:lnTo>
                    <a:pt x="7084568" y="1140024"/>
                  </a:lnTo>
                  <a:lnTo>
                    <a:pt x="0" y="11400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-9755" r="0" b="-9752"/>
              </a:stretch>
            </a:blip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2899287" y="7500171"/>
            <a:ext cx="2944619" cy="1597603"/>
            <a:chOff x="0" y="0"/>
            <a:chExt cx="2774594" cy="1505356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774569" cy="1505331"/>
            </a:xfrm>
            <a:custGeom>
              <a:avLst/>
              <a:gdLst/>
              <a:ahLst/>
              <a:cxnLst/>
              <a:rect r="r" b="b" t="t" l="l"/>
              <a:pathLst>
                <a:path h="1505331" w="2774569">
                  <a:moveTo>
                    <a:pt x="0" y="0"/>
                  </a:moveTo>
                  <a:lnTo>
                    <a:pt x="2774569" y="0"/>
                  </a:lnTo>
                  <a:lnTo>
                    <a:pt x="2774569" y="1505331"/>
                  </a:lnTo>
                  <a:lnTo>
                    <a:pt x="0" y="15053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-81" t="0" r="-82" b="-1"/>
              </a:stretch>
            </a:blipFill>
          </p:spPr>
        </p:sp>
      </p:grpSp>
    </p:spTree>
  </p:cSld>
  <p:clrMapOvr>
    <a:masterClrMapping/>
  </p:clrMapOvr>
  <p:transition spd="slow">
    <p:fade/>
  </p:transition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334900">
            <a:off x="4353482" y="-6268999"/>
            <a:ext cx="9430477" cy="22551140"/>
          </a:xfrm>
          <a:custGeom>
            <a:avLst/>
            <a:gdLst/>
            <a:ahLst/>
            <a:cxnLst/>
            <a:rect r="r" b="b" t="t" l="l"/>
            <a:pathLst>
              <a:path h="22551140" w="9430477">
                <a:moveTo>
                  <a:pt x="0" y="0"/>
                </a:moveTo>
                <a:lnTo>
                  <a:pt x="9430476" y="0"/>
                </a:lnTo>
                <a:lnTo>
                  <a:pt x="9430476" y="22551141"/>
                </a:lnTo>
                <a:lnTo>
                  <a:pt x="0" y="2255114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2338" y="2336449"/>
            <a:ext cx="2948824" cy="927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22"/>
              </a:lnSpc>
            </a:pPr>
            <a:r>
              <a:rPr lang="en-US" sz="8052">
                <a:solidFill>
                  <a:srgbClr val="517166"/>
                </a:solidFill>
                <a:latin typeface="Londrina Sketch"/>
                <a:ea typeface="Londrina Sketch"/>
                <a:cs typeface="Londrina Sketch"/>
                <a:sym typeface="Londrina Sketch"/>
              </a:rPr>
              <a:t>SYSTEM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489016" y="1945924"/>
            <a:ext cx="9662491" cy="5106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7"/>
              </a:lnSpc>
            </a:pPr>
          </a:p>
        </p:txBody>
      </p:sp>
      <p:sp>
        <p:nvSpPr>
          <p:cNvPr name="Freeform 6" id="6"/>
          <p:cNvSpPr/>
          <p:nvPr/>
        </p:nvSpPr>
        <p:spPr>
          <a:xfrm flipH="false" flipV="false" rot="-4558807">
            <a:off x="14092957" y="1035276"/>
            <a:ext cx="566344" cy="921566"/>
          </a:xfrm>
          <a:custGeom>
            <a:avLst/>
            <a:gdLst/>
            <a:ahLst/>
            <a:cxnLst/>
            <a:rect r="r" b="b" t="t" l="l"/>
            <a:pathLst>
              <a:path h="921566" w="566344">
                <a:moveTo>
                  <a:pt x="0" y="0"/>
                </a:moveTo>
                <a:lnTo>
                  <a:pt x="566344" y="0"/>
                </a:lnTo>
                <a:lnTo>
                  <a:pt x="566344" y="921566"/>
                </a:lnTo>
                <a:lnTo>
                  <a:pt x="0" y="92156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5984616" y="1882424"/>
            <a:ext cx="482267" cy="482267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17166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07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6988675" y="8294573"/>
            <a:ext cx="541249" cy="541249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17166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07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749342" y="6081127"/>
            <a:ext cx="2145773" cy="3345571"/>
          </a:xfrm>
          <a:custGeom>
            <a:avLst/>
            <a:gdLst/>
            <a:ahLst/>
            <a:cxnLst/>
            <a:rect r="r" b="b" t="t" l="l"/>
            <a:pathLst>
              <a:path h="3345571" w="2145773">
                <a:moveTo>
                  <a:pt x="0" y="0"/>
                </a:moveTo>
                <a:lnTo>
                  <a:pt x="2145773" y="0"/>
                </a:lnTo>
                <a:lnTo>
                  <a:pt x="2145773" y="3345570"/>
                </a:lnTo>
                <a:lnTo>
                  <a:pt x="0" y="334557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3158700" y="860303"/>
            <a:ext cx="2145773" cy="3345571"/>
          </a:xfrm>
          <a:custGeom>
            <a:avLst/>
            <a:gdLst/>
            <a:ahLst/>
            <a:cxnLst/>
            <a:rect r="r" b="b" t="t" l="l"/>
            <a:pathLst>
              <a:path h="3345571" w="2145773">
                <a:moveTo>
                  <a:pt x="0" y="0"/>
                </a:moveTo>
                <a:lnTo>
                  <a:pt x="2145773" y="0"/>
                </a:lnTo>
                <a:lnTo>
                  <a:pt x="2145773" y="3345570"/>
                </a:lnTo>
                <a:lnTo>
                  <a:pt x="0" y="334557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6403562" y="860303"/>
            <a:ext cx="2145773" cy="3345571"/>
          </a:xfrm>
          <a:custGeom>
            <a:avLst/>
            <a:gdLst/>
            <a:ahLst/>
            <a:cxnLst/>
            <a:rect r="r" b="b" t="t" l="l"/>
            <a:pathLst>
              <a:path h="3345571" w="2145773">
                <a:moveTo>
                  <a:pt x="0" y="0"/>
                </a:moveTo>
                <a:lnTo>
                  <a:pt x="2145773" y="0"/>
                </a:lnTo>
                <a:lnTo>
                  <a:pt x="2145773" y="3345570"/>
                </a:lnTo>
                <a:lnTo>
                  <a:pt x="0" y="334557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4779836" y="6081127"/>
            <a:ext cx="2145773" cy="3345571"/>
          </a:xfrm>
          <a:custGeom>
            <a:avLst/>
            <a:gdLst/>
            <a:ahLst/>
            <a:cxnLst/>
            <a:rect r="r" b="b" t="t" l="l"/>
            <a:pathLst>
              <a:path h="3345571" w="2145773">
                <a:moveTo>
                  <a:pt x="0" y="0"/>
                </a:moveTo>
                <a:lnTo>
                  <a:pt x="2145772" y="0"/>
                </a:lnTo>
                <a:lnTo>
                  <a:pt x="2145772" y="3345570"/>
                </a:lnTo>
                <a:lnTo>
                  <a:pt x="0" y="334557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951090" y="4739235"/>
            <a:ext cx="16446265" cy="956424"/>
          </a:xfrm>
          <a:custGeom>
            <a:avLst/>
            <a:gdLst/>
            <a:ahLst/>
            <a:cxnLst/>
            <a:rect r="r" b="b" t="t" l="l"/>
            <a:pathLst>
              <a:path h="956424" w="16446265">
                <a:moveTo>
                  <a:pt x="0" y="0"/>
                </a:moveTo>
                <a:lnTo>
                  <a:pt x="16446265" y="0"/>
                </a:lnTo>
                <a:lnTo>
                  <a:pt x="16446265" y="956424"/>
                </a:lnTo>
                <a:lnTo>
                  <a:pt x="0" y="956424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-282" r="0" b="-281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2509514" y="4929964"/>
            <a:ext cx="669417" cy="1531382"/>
          </a:xfrm>
          <a:custGeom>
            <a:avLst/>
            <a:gdLst/>
            <a:ahLst/>
            <a:cxnLst/>
            <a:rect r="r" b="b" t="t" l="l"/>
            <a:pathLst>
              <a:path h="1531382" w="669417">
                <a:moveTo>
                  <a:pt x="0" y="0"/>
                </a:moveTo>
                <a:lnTo>
                  <a:pt x="669417" y="0"/>
                </a:lnTo>
                <a:lnTo>
                  <a:pt x="669417" y="1531382"/>
                </a:lnTo>
                <a:lnTo>
                  <a:pt x="0" y="1531382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3874894" y="3825654"/>
            <a:ext cx="669417" cy="1531382"/>
          </a:xfrm>
          <a:custGeom>
            <a:avLst/>
            <a:gdLst/>
            <a:ahLst/>
            <a:cxnLst/>
            <a:rect r="r" b="b" t="t" l="l"/>
            <a:pathLst>
              <a:path h="1531382" w="669417">
                <a:moveTo>
                  <a:pt x="0" y="0"/>
                </a:moveTo>
                <a:lnTo>
                  <a:pt x="669417" y="0"/>
                </a:lnTo>
                <a:lnTo>
                  <a:pt x="669417" y="1531382"/>
                </a:lnTo>
                <a:lnTo>
                  <a:pt x="0" y="1531382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7119757" y="3825654"/>
            <a:ext cx="669417" cy="1531382"/>
          </a:xfrm>
          <a:custGeom>
            <a:avLst/>
            <a:gdLst/>
            <a:ahLst/>
            <a:cxnLst/>
            <a:rect r="r" b="b" t="t" l="l"/>
            <a:pathLst>
              <a:path h="1531382" w="669417">
                <a:moveTo>
                  <a:pt x="0" y="0"/>
                </a:moveTo>
                <a:lnTo>
                  <a:pt x="669417" y="0"/>
                </a:lnTo>
                <a:lnTo>
                  <a:pt x="669417" y="1531382"/>
                </a:lnTo>
                <a:lnTo>
                  <a:pt x="0" y="1531382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5539997" y="4929964"/>
            <a:ext cx="669417" cy="1531382"/>
          </a:xfrm>
          <a:custGeom>
            <a:avLst/>
            <a:gdLst/>
            <a:ahLst/>
            <a:cxnLst/>
            <a:rect r="r" b="b" t="t" l="l"/>
            <a:pathLst>
              <a:path h="1531382" w="669417">
                <a:moveTo>
                  <a:pt x="0" y="0"/>
                </a:moveTo>
                <a:lnTo>
                  <a:pt x="669417" y="0"/>
                </a:lnTo>
                <a:lnTo>
                  <a:pt x="669417" y="1531382"/>
                </a:lnTo>
                <a:lnTo>
                  <a:pt x="0" y="1531382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2485758" y="5816398"/>
            <a:ext cx="720252" cy="672941"/>
          </a:xfrm>
          <a:custGeom>
            <a:avLst/>
            <a:gdLst/>
            <a:ahLst/>
            <a:cxnLst/>
            <a:rect r="r" b="b" t="t" l="l"/>
            <a:pathLst>
              <a:path h="672941" w="720252">
                <a:moveTo>
                  <a:pt x="0" y="0"/>
                </a:moveTo>
                <a:lnTo>
                  <a:pt x="720252" y="0"/>
                </a:lnTo>
                <a:lnTo>
                  <a:pt x="720252" y="672942"/>
                </a:lnTo>
                <a:lnTo>
                  <a:pt x="0" y="672942"/>
                </a:lnTo>
                <a:lnTo>
                  <a:pt x="0" y="0"/>
                </a:lnTo>
                <a:close/>
              </a:path>
            </a:pathLst>
          </a:custGeom>
          <a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3847805" y="3797679"/>
            <a:ext cx="720252" cy="672941"/>
          </a:xfrm>
          <a:custGeom>
            <a:avLst/>
            <a:gdLst/>
            <a:ahLst/>
            <a:cxnLst/>
            <a:rect r="r" b="b" t="t" l="l"/>
            <a:pathLst>
              <a:path h="672941" w="720252">
                <a:moveTo>
                  <a:pt x="0" y="0"/>
                </a:moveTo>
                <a:lnTo>
                  <a:pt x="720252" y="0"/>
                </a:lnTo>
                <a:lnTo>
                  <a:pt x="720252" y="672942"/>
                </a:lnTo>
                <a:lnTo>
                  <a:pt x="0" y="672942"/>
                </a:lnTo>
                <a:lnTo>
                  <a:pt x="0" y="0"/>
                </a:lnTo>
                <a:close/>
              </a:path>
            </a:pathLst>
          </a:custGeom>
          <a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7092658" y="3797679"/>
            <a:ext cx="720252" cy="672941"/>
          </a:xfrm>
          <a:custGeom>
            <a:avLst/>
            <a:gdLst/>
            <a:ahLst/>
            <a:cxnLst/>
            <a:rect r="r" b="b" t="t" l="l"/>
            <a:pathLst>
              <a:path h="672941" w="720252">
                <a:moveTo>
                  <a:pt x="0" y="0"/>
                </a:moveTo>
                <a:lnTo>
                  <a:pt x="720252" y="0"/>
                </a:lnTo>
                <a:lnTo>
                  <a:pt x="720252" y="672942"/>
                </a:lnTo>
                <a:lnTo>
                  <a:pt x="0" y="672942"/>
                </a:lnTo>
                <a:lnTo>
                  <a:pt x="0" y="0"/>
                </a:lnTo>
                <a:close/>
              </a:path>
            </a:pathLst>
          </a:custGeom>
          <a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5516251" y="5816398"/>
            <a:ext cx="720252" cy="672941"/>
          </a:xfrm>
          <a:custGeom>
            <a:avLst/>
            <a:gdLst/>
            <a:ahLst/>
            <a:cxnLst/>
            <a:rect r="r" b="b" t="t" l="l"/>
            <a:pathLst>
              <a:path h="672941" w="720252">
                <a:moveTo>
                  <a:pt x="0" y="0"/>
                </a:moveTo>
                <a:lnTo>
                  <a:pt x="720252" y="0"/>
                </a:lnTo>
                <a:lnTo>
                  <a:pt x="720252" y="672942"/>
                </a:lnTo>
                <a:lnTo>
                  <a:pt x="0" y="672942"/>
                </a:lnTo>
                <a:lnTo>
                  <a:pt x="0" y="0"/>
                </a:lnTo>
                <a:close/>
              </a:path>
            </a:pathLst>
          </a:custGeom>
          <a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2673315" y="5906019"/>
            <a:ext cx="297847" cy="512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46"/>
              </a:lnSpc>
            </a:pPr>
            <a:r>
              <a:rPr lang="en-US" sz="3514" b="true">
                <a:solidFill>
                  <a:srgbClr val="1F292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4031285" y="3886290"/>
            <a:ext cx="400602" cy="513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46"/>
              </a:lnSpc>
            </a:pPr>
            <a:r>
              <a:rPr lang="en-US" sz="3514" b="true">
                <a:solidFill>
                  <a:srgbClr val="1F292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2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7327525" y="3887300"/>
            <a:ext cx="297847" cy="512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46"/>
              </a:lnSpc>
            </a:pPr>
            <a:r>
              <a:rPr lang="en-US" sz="3514" b="true">
                <a:solidFill>
                  <a:srgbClr val="1F292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4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5703799" y="5906019"/>
            <a:ext cx="297847" cy="512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46"/>
              </a:lnSpc>
            </a:pPr>
            <a:r>
              <a:rPr lang="en-US" sz="3514" b="true">
                <a:solidFill>
                  <a:srgbClr val="1F292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3</a:t>
            </a:r>
          </a:p>
        </p:txBody>
      </p:sp>
      <p:sp>
        <p:nvSpPr>
          <p:cNvPr name="Freeform 30" id="30"/>
          <p:cNvSpPr/>
          <p:nvPr/>
        </p:nvSpPr>
        <p:spPr>
          <a:xfrm flipH="false" flipV="false" rot="0">
            <a:off x="8101336" y="6081127"/>
            <a:ext cx="2145773" cy="3345571"/>
          </a:xfrm>
          <a:custGeom>
            <a:avLst/>
            <a:gdLst/>
            <a:ahLst/>
            <a:cxnLst/>
            <a:rect r="r" b="b" t="t" l="l"/>
            <a:pathLst>
              <a:path h="3345571" w="2145773">
                <a:moveTo>
                  <a:pt x="0" y="0"/>
                </a:moveTo>
                <a:lnTo>
                  <a:pt x="2145773" y="0"/>
                </a:lnTo>
                <a:lnTo>
                  <a:pt x="2145773" y="3345570"/>
                </a:lnTo>
                <a:lnTo>
                  <a:pt x="0" y="3345570"/>
                </a:lnTo>
                <a:lnTo>
                  <a:pt x="0" y="0"/>
                </a:lnTo>
                <a:close/>
              </a:path>
            </a:pathLst>
          </a:custGeom>
          <a:blipFill>
            <a:blip r:embed="rId29"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8861508" y="4929964"/>
            <a:ext cx="669417" cy="1531382"/>
          </a:xfrm>
          <a:custGeom>
            <a:avLst/>
            <a:gdLst/>
            <a:ahLst/>
            <a:cxnLst/>
            <a:rect r="r" b="b" t="t" l="l"/>
            <a:pathLst>
              <a:path h="1531382" w="669417">
                <a:moveTo>
                  <a:pt x="0" y="0"/>
                </a:moveTo>
                <a:lnTo>
                  <a:pt x="669417" y="0"/>
                </a:lnTo>
                <a:lnTo>
                  <a:pt x="669417" y="1531382"/>
                </a:lnTo>
                <a:lnTo>
                  <a:pt x="0" y="1531382"/>
                </a:lnTo>
                <a:lnTo>
                  <a:pt x="0" y="0"/>
                </a:lnTo>
                <a:close/>
              </a:path>
            </a:pathLst>
          </a:custGeom>
          <a:blipFill>
            <a:blip r:embed="rId31">
              <a:extLst>
                <a:ext uri="{96DAC541-7B7A-43D3-8B79-37D633B846F1}">
                  <asvg:svgBlip xmlns:asvg="http://schemas.microsoft.com/office/drawing/2016/SVG/main" r:embed="rId3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8837752" y="5816398"/>
            <a:ext cx="720252" cy="672941"/>
          </a:xfrm>
          <a:custGeom>
            <a:avLst/>
            <a:gdLst/>
            <a:ahLst/>
            <a:cxnLst/>
            <a:rect r="r" b="b" t="t" l="l"/>
            <a:pathLst>
              <a:path h="672941" w="720252">
                <a:moveTo>
                  <a:pt x="0" y="0"/>
                </a:moveTo>
                <a:lnTo>
                  <a:pt x="720252" y="0"/>
                </a:lnTo>
                <a:lnTo>
                  <a:pt x="720252" y="672942"/>
                </a:lnTo>
                <a:lnTo>
                  <a:pt x="0" y="672942"/>
                </a:lnTo>
                <a:lnTo>
                  <a:pt x="0" y="0"/>
                </a:lnTo>
                <a:close/>
              </a:path>
            </a:pathLst>
          </a:custGeom>
          <a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3" id="33"/>
          <p:cNvSpPr txBox="true"/>
          <p:nvPr/>
        </p:nvSpPr>
        <p:spPr>
          <a:xfrm rot="0">
            <a:off x="9025299" y="5906019"/>
            <a:ext cx="297847" cy="512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46"/>
              </a:lnSpc>
            </a:pPr>
            <a:r>
              <a:rPr lang="en-US" sz="3514" b="true">
                <a:solidFill>
                  <a:srgbClr val="1F292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5</a:t>
            </a:r>
          </a:p>
        </p:txBody>
      </p:sp>
      <p:sp>
        <p:nvSpPr>
          <p:cNvPr name="Freeform 34" id="34"/>
          <p:cNvSpPr/>
          <p:nvPr/>
        </p:nvSpPr>
        <p:spPr>
          <a:xfrm flipH="false" flipV="false" rot="0">
            <a:off x="11418684" y="6081127"/>
            <a:ext cx="2145773" cy="3345571"/>
          </a:xfrm>
          <a:custGeom>
            <a:avLst/>
            <a:gdLst/>
            <a:ahLst/>
            <a:cxnLst/>
            <a:rect r="r" b="b" t="t" l="l"/>
            <a:pathLst>
              <a:path h="3345571" w="2145773">
                <a:moveTo>
                  <a:pt x="0" y="0"/>
                </a:moveTo>
                <a:lnTo>
                  <a:pt x="2145773" y="0"/>
                </a:lnTo>
                <a:lnTo>
                  <a:pt x="2145773" y="3345570"/>
                </a:lnTo>
                <a:lnTo>
                  <a:pt x="0" y="3345570"/>
                </a:lnTo>
                <a:lnTo>
                  <a:pt x="0" y="0"/>
                </a:lnTo>
                <a:close/>
              </a:path>
            </a:pathLst>
          </a:custGeom>
          <a:blipFill>
            <a:blip r:embed="rId33">
              <a:extLst>
                <a:ext uri="{96DAC541-7B7A-43D3-8B79-37D633B846F1}">
                  <asvg:svgBlip xmlns:asvg="http://schemas.microsoft.com/office/drawing/2016/SVG/main" r:embed="rId3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12178856" y="4929964"/>
            <a:ext cx="669417" cy="1531382"/>
          </a:xfrm>
          <a:custGeom>
            <a:avLst/>
            <a:gdLst/>
            <a:ahLst/>
            <a:cxnLst/>
            <a:rect r="r" b="b" t="t" l="l"/>
            <a:pathLst>
              <a:path h="1531382" w="669417">
                <a:moveTo>
                  <a:pt x="0" y="0"/>
                </a:moveTo>
                <a:lnTo>
                  <a:pt x="669417" y="0"/>
                </a:lnTo>
                <a:lnTo>
                  <a:pt x="669417" y="1531382"/>
                </a:lnTo>
                <a:lnTo>
                  <a:pt x="0" y="1531382"/>
                </a:lnTo>
                <a:lnTo>
                  <a:pt x="0" y="0"/>
                </a:lnTo>
                <a:close/>
              </a:path>
            </a:pathLst>
          </a:custGeom>
          <a:blipFill>
            <a:blip r:embed="rId35">
              <a:extLst>
                <a:ext uri="{96DAC541-7B7A-43D3-8B79-37D633B846F1}">
                  <asvg:svgBlip xmlns:asvg="http://schemas.microsoft.com/office/drawing/2016/SVG/main" r:embed="rId3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12155100" y="5816398"/>
            <a:ext cx="720252" cy="672941"/>
          </a:xfrm>
          <a:custGeom>
            <a:avLst/>
            <a:gdLst/>
            <a:ahLst/>
            <a:cxnLst/>
            <a:rect r="r" b="b" t="t" l="l"/>
            <a:pathLst>
              <a:path h="672941" w="720252">
                <a:moveTo>
                  <a:pt x="0" y="0"/>
                </a:moveTo>
                <a:lnTo>
                  <a:pt x="720252" y="0"/>
                </a:lnTo>
                <a:lnTo>
                  <a:pt x="720252" y="672942"/>
                </a:lnTo>
                <a:lnTo>
                  <a:pt x="0" y="672942"/>
                </a:lnTo>
                <a:lnTo>
                  <a:pt x="0" y="0"/>
                </a:lnTo>
                <a:close/>
              </a:path>
            </a:pathLst>
          </a:custGeom>
          <a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7" id="37"/>
          <p:cNvSpPr txBox="true"/>
          <p:nvPr/>
        </p:nvSpPr>
        <p:spPr>
          <a:xfrm rot="0">
            <a:off x="12342647" y="5906019"/>
            <a:ext cx="297847" cy="512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46"/>
              </a:lnSpc>
            </a:pPr>
            <a:r>
              <a:rPr lang="en-US" sz="3514" b="true">
                <a:solidFill>
                  <a:srgbClr val="1F292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7</a:t>
            </a:r>
          </a:p>
        </p:txBody>
      </p:sp>
      <p:sp>
        <p:nvSpPr>
          <p:cNvPr name="Freeform 38" id="38"/>
          <p:cNvSpPr/>
          <p:nvPr/>
        </p:nvSpPr>
        <p:spPr>
          <a:xfrm flipH="false" flipV="false" rot="0">
            <a:off x="14601568" y="5959597"/>
            <a:ext cx="2145773" cy="3345571"/>
          </a:xfrm>
          <a:custGeom>
            <a:avLst/>
            <a:gdLst/>
            <a:ahLst/>
            <a:cxnLst/>
            <a:rect r="r" b="b" t="t" l="l"/>
            <a:pathLst>
              <a:path h="3345571" w="2145773">
                <a:moveTo>
                  <a:pt x="0" y="0"/>
                </a:moveTo>
                <a:lnTo>
                  <a:pt x="2145773" y="0"/>
                </a:lnTo>
                <a:lnTo>
                  <a:pt x="2145773" y="3345571"/>
                </a:lnTo>
                <a:lnTo>
                  <a:pt x="0" y="3345571"/>
                </a:lnTo>
                <a:lnTo>
                  <a:pt x="0" y="0"/>
                </a:lnTo>
                <a:close/>
              </a:path>
            </a:pathLst>
          </a:custGeom>
          <a:blipFill>
            <a:blip r:embed="rId37">
              <a:extLst>
                <a:ext uri="{96DAC541-7B7A-43D3-8B79-37D633B846F1}">
                  <asvg:svgBlip xmlns:asvg="http://schemas.microsoft.com/office/drawing/2016/SVG/main" r:embed="rId3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0">
            <a:off x="15361739" y="4808434"/>
            <a:ext cx="669417" cy="1531382"/>
          </a:xfrm>
          <a:custGeom>
            <a:avLst/>
            <a:gdLst/>
            <a:ahLst/>
            <a:cxnLst/>
            <a:rect r="r" b="b" t="t" l="l"/>
            <a:pathLst>
              <a:path h="1531382" w="669417">
                <a:moveTo>
                  <a:pt x="0" y="0"/>
                </a:moveTo>
                <a:lnTo>
                  <a:pt x="669417" y="0"/>
                </a:lnTo>
                <a:lnTo>
                  <a:pt x="669417" y="1531382"/>
                </a:lnTo>
                <a:lnTo>
                  <a:pt x="0" y="1531382"/>
                </a:lnTo>
                <a:lnTo>
                  <a:pt x="0" y="0"/>
                </a:lnTo>
                <a:close/>
              </a:path>
            </a:pathLst>
          </a:custGeom>
          <a:blipFill>
            <a:blip r:embed="rId39">
              <a:extLst>
                <a:ext uri="{96DAC541-7B7A-43D3-8B79-37D633B846F1}">
                  <asvg:svgBlip xmlns:asvg="http://schemas.microsoft.com/office/drawing/2016/SVG/main" r:embed="rId4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0" id="40"/>
          <p:cNvSpPr/>
          <p:nvPr/>
        </p:nvSpPr>
        <p:spPr>
          <a:xfrm flipH="false" flipV="false" rot="0">
            <a:off x="15337984" y="5694859"/>
            <a:ext cx="720252" cy="672941"/>
          </a:xfrm>
          <a:custGeom>
            <a:avLst/>
            <a:gdLst/>
            <a:ahLst/>
            <a:cxnLst/>
            <a:rect r="r" b="b" t="t" l="l"/>
            <a:pathLst>
              <a:path h="672941" w="720252">
                <a:moveTo>
                  <a:pt x="0" y="0"/>
                </a:moveTo>
                <a:lnTo>
                  <a:pt x="720252" y="0"/>
                </a:lnTo>
                <a:lnTo>
                  <a:pt x="720252" y="672942"/>
                </a:lnTo>
                <a:lnTo>
                  <a:pt x="0" y="672942"/>
                </a:lnTo>
                <a:lnTo>
                  <a:pt x="0" y="0"/>
                </a:lnTo>
                <a:close/>
              </a:path>
            </a:pathLst>
          </a:custGeom>
          <a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1" id="41"/>
          <p:cNvSpPr txBox="true"/>
          <p:nvPr/>
        </p:nvSpPr>
        <p:spPr>
          <a:xfrm rot="0">
            <a:off x="15525531" y="5784480"/>
            <a:ext cx="297847" cy="512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46"/>
              </a:lnSpc>
            </a:pPr>
            <a:r>
              <a:rPr lang="en-US" sz="3514" b="true">
                <a:solidFill>
                  <a:srgbClr val="1F292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9</a:t>
            </a:r>
          </a:p>
        </p:txBody>
      </p:sp>
      <p:sp>
        <p:nvSpPr>
          <p:cNvPr name="Freeform 42" id="42"/>
          <p:cNvSpPr/>
          <p:nvPr/>
        </p:nvSpPr>
        <p:spPr>
          <a:xfrm flipH="false" flipV="false" rot="0">
            <a:off x="9760010" y="846313"/>
            <a:ext cx="2154745" cy="3359560"/>
          </a:xfrm>
          <a:custGeom>
            <a:avLst/>
            <a:gdLst/>
            <a:ahLst/>
            <a:cxnLst/>
            <a:rect r="r" b="b" t="t" l="l"/>
            <a:pathLst>
              <a:path h="3359560" w="2154745">
                <a:moveTo>
                  <a:pt x="0" y="0"/>
                </a:moveTo>
                <a:lnTo>
                  <a:pt x="2154746" y="0"/>
                </a:lnTo>
                <a:lnTo>
                  <a:pt x="2154746" y="3359560"/>
                </a:lnTo>
                <a:lnTo>
                  <a:pt x="0" y="3359560"/>
                </a:lnTo>
                <a:lnTo>
                  <a:pt x="0" y="0"/>
                </a:lnTo>
                <a:close/>
              </a:path>
            </a:pathLst>
          </a:custGeom>
          <a:blipFill>
            <a:blip r:embed="rId41">
              <a:extLst>
                <a:ext uri="{96DAC541-7B7A-43D3-8B79-37D633B846F1}">
                  <asvg:svgBlip xmlns:asvg="http://schemas.microsoft.com/office/drawing/2016/SVG/main" r:embed="rId4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3" id="43"/>
          <p:cNvSpPr/>
          <p:nvPr/>
        </p:nvSpPr>
        <p:spPr>
          <a:xfrm flipH="false" flipV="false" rot="0">
            <a:off x="10476205" y="3825654"/>
            <a:ext cx="669417" cy="1531382"/>
          </a:xfrm>
          <a:custGeom>
            <a:avLst/>
            <a:gdLst/>
            <a:ahLst/>
            <a:cxnLst/>
            <a:rect r="r" b="b" t="t" l="l"/>
            <a:pathLst>
              <a:path h="1531382" w="669417">
                <a:moveTo>
                  <a:pt x="0" y="0"/>
                </a:moveTo>
                <a:lnTo>
                  <a:pt x="669417" y="0"/>
                </a:lnTo>
                <a:lnTo>
                  <a:pt x="669417" y="1531382"/>
                </a:lnTo>
                <a:lnTo>
                  <a:pt x="0" y="1531382"/>
                </a:lnTo>
                <a:lnTo>
                  <a:pt x="0" y="0"/>
                </a:lnTo>
                <a:close/>
              </a:path>
            </a:pathLst>
          </a:custGeom>
          <a:blipFill>
            <a:blip r:embed="rId43">
              <a:extLst>
                <a:ext uri="{96DAC541-7B7A-43D3-8B79-37D633B846F1}">
                  <asvg:svgBlip xmlns:asvg="http://schemas.microsoft.com/office/drawing/2016/SVG/main" r:embed="rId4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4" id="44"/>
          <p:cNvSpPr/>
          <p:nvPr/>
        </p:nvSpPr>
        <p:spPr>
          <a:xfrm flipH="false" flipV="false" rot="0">
            <a:off x="10449116" y="3797679"/>
            <a:ext cx="720252" cy="672941"/>
          </a:xfrm>
          <a:custGeom>
            <a:avLst/>
            <a:gdLst/>
            <a:ahLst/>
            <a:cxnLst/>
            <a:rect r="r" b="b" t="t" l="l"/>
            <a:pathLst>
              <a:path h="672941" w="720252">
                <a:moveTo>
                  <a:pt x="0" y="0"/>
                </a:moveTo>
                <a:lnTo>
                  <a:pt x="720251" y="0"/>
                </a:lnTo>
                <a:lnTo>
                  <a:pt x="720251" y="672942"/>
                </a:lnTo>
                <a:lnTo>
                  <a:pt x="0" y="672942"/>
                </a:lnTo>
                <a:lnTo>
                  <a:pt x="0" y="0"/>
                </a:lnTo>
                <a:close/>
              </a:path>
            </a:pathLst>
          </a:custGeom>
          <a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5" id="45"/>
          <p:cNvSpPr txBox="true"/>
          <p:nvPr/>
        </p:nvSpPr>
        <p:spPr>
          <a:xfrm rot="0">
            <a:off x="10683973" y="3887300"/>
            <a:ext cx="297847" cy="512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46"/>
              </a:lnSpc>
            </a:pPr>
            <a:r>
              <a:rPr lang="en-US" sz="3514" b="true">
                <a:solidFill>
                  <a:srgbClr val="1F292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6</a:t>
            </a:r>
          </a:p>
        </p:txBody>
      </p:sp>
      <p:sp>
        <p:nvSpPr>
          <p:cNvPr name="Freeform 46" id="46"/>
          <p:cNvSpPr/>
          <p:nvPr/>
        </p:nvSpPr>
        <p:spPr>
          <a:xfrm flipH="false" flipV="false" rot="0">
            <a:off x="13010131" y="860303"/>
            <a:ext cx="2145773" cy="3345571"/>
          </a:xfrm>
          <a:custGeom>
            <a:avLst/>
            <a:gdLst/>
            <a:ahLst/>
            <a:cxnLst/>
            <a:rect r="r" b="b" t="t" l="l"/>
            <a:pathLst>
              <a:path h="3345571" w="2145773">
                <a:moveTo>
                  <a:pt x="0" y="0"/>
                </a:moveTo>
                <a:lnTo>
                  <a:pt x="2145773" y="0"/>
                </a:lnTo>
                <a:lnTo>
                  <a:pt x="2145773" y="3345570"/>
                </a:lnTo>
                <a:lnTo>
                  <a:pt x="0" y="3345570"/>
                </a:lnTo>
                <a:lnTo>
                  <a:pt x="0" y="0"/>
                </a:lnTo>
                <a:close/>
              </a:path>
            </a:pathLst>
          </a:custGeom>
          <a:blipFill>
            <a:blip r:embed="rId45">
              <a:extLst>
                <a:ext uri="{96DAC541-7B7A-43D3-8B79-37D633B846F1}">
                  <asvg:svgBlip xmlns:asvg="http://schemas.microsoft.com/office/drawing/2016/SVG/main" r:embed="rId4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7" id="47"/>
          <p:cNvSpPr/>
          <p:nvPr/>
        </p:nvSpPr>
        <p:spPr>
          <a:xfrm flipH="false" flipV="false" rot="0">
            <a:off x="13726316" y="3825654"/>
            <a:ext cx="669417" cy="1531382"/>
          </a:xfrm>
          <a:custGeom>
            <a:avLst/>
            <a:gdLst/>
            <a:ahLst/>
            <a:cxnLst/>
            <a:rect r="r" b="b" t="t" l="l"/>
            <a:pathLst>
              <a:path h="1531382" w="669417">
                <a:moveTo>
                  <a:pt x="0" y="0"/>
                </a:moveTo>
                <a:lnTo>
                  <a:pt x="669417" y="0"/>
                </a:lnTo>
                <a:lnTo>
                  <a:pt x="669417" y="1531382"/>
                </a:lnTo>
                <a:lnTo>
                  <a:pt x="0" y="1531382"/>
                </a:lnTo>
                <a:lnTo>
                  <a:pt x="0" y="0"/>
                </a:lnTo>
                <a:close/>
              </a:path>
            </a:pathLst>
          </a:custGeom>
          <a:blipFill>
            <a:blip r:embed="rId47">
              <a:extLst>
                <a:ext uri="{96DAC541-7B7A-43D3-8B79-37D633B846F1}">
                  <asvg:svgBlip xmlns:asvg="http://schemas.microsoft.com/office/drawing/2016/SVG/main" r:embed="rId4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8" id="48"/>
          <p:cNvSpPr/>
          <p:nvPr/>
        </p:nvSpPr>
        <p:spPr>
          <a:xfrm flipH="false" flipV="false" rot="0">
            <a:off x="13699226" y="3797679"/>
            <a:ext cx="720252" cy="672941"/>
          </a:xfrm>
          <a:custGeom>
            <a:avLst/>
            <a:gdLst/>
            <a:ahLst/>
            <a:cxnLst/>
            <a:rect r="r" b="b" t="t" l="l"/>
            <a:pathLst>
              <a:path h="672941" w="720252">
                <a:moveTo>
                  <a:pt x="0" y="0"/>
                </a:moveTo>
                <a:lnTo>
                  <a:pt x="720252" y="0"/>
                </a:lnTo>
                <a:lnTo>
                  <a:pt x="720252" y="672942"/>
                </a:lnTo>
                <a:lnTo>
                  <a:pt x="0" y="672942"/>
                </a:lnTo>
                <a:lnTo>
                  <a:pt x="0" y="0"/>
                </a:lnTo>
                <a:close/>
              </a:path>
            </a:pathLst>
          </a:custGeom>
          <a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9" id="49"/>
          <p:cNvSpPr txBox="true"/>
          <p:nvPr/>
        </p:nvSpPr>
        <p:spPr>
          <a:xfrm rot="0">
            <a:off x="13934094" y="3887300"/>
            <a:ext cx="297847" cy="512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46"/>
              </a:lnSpc>
            </a:pPr>
            <a:r>
              <a:rPr lang="en-US" sz="3514" b="true">
                <a:solidFill>
                  <a:srgbClr val="1F292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8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904943" y="7128324"/>
            <a:ext cx="1834582" cy="19204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17"/>
              </a:lnSpc>
            </a:pPr>
            <a:r>
              <a:rPr lang="en-US" sz="159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User opens the website or application to start the ordering process.</a:t>
            </a:r>
          </a:p>
          <a:p>
            <a:pPr algn="ctr">
              <a:lnSpc>
                <a:spcPts val="2617"/>
              </a:lnSpc>
            </a:pPr>
          </a:p>
        </p:txBody>
      </p:sp>
      <p:sp>
        <p:nvSpPr>
          <p:cNvPr name="TextBox 51" id="51"/>
          <p:cNvSpPr txBox="true"/>
          <p:nvPr/>
        </p:nvSpPr>
        <p:spPr>
          <a:xfrm rot="0">
            <a:off x="3314300" y="1698398"/>
            <a:ext cx="1834582" cy="19204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17"/>
              </a:lnSpc>
            </a:pPr>
            <a:r>
              <a:rPr lang="en-US" sz="159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The system requests and obtains the user's live location for accurate service.</a:t>
            </a:r>
          </a:p>
          <a:p>
            <a:pPr algn="ctr">
              <a:lnSpc>
                <a:spcPts val="2617"/>
              </a:lnSpc>
            </a:pPr>
          </a:p>
        </p:txBody>
      </p:sp>
      <p:sp>
        <p:nvSpPr>
          <p:cNvPr name="TextBox 52" id="52"/>
          <p:cNvSpPr txBox="true"/>
          <p:nvPr/>
        </p:nvSpPr>
        <p:spPr>
          <a:xfrm rot="0">
            <a:off x="6559153" y="1698398"/>
            <a:ext cx="1834582" cy="22443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17"/>
              </a:lnSpc>
            </a:pPr>
            <a:r>
              <a:rPr lang="en-US" sz="159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User selects products from</a:t>
            </a:r>
          </a:p>
          <a:p>
            <a:pPr algn="ctr">
              <a:lnSpc>
                <a:spcPts val="2617"/>
              </a:lnSpc>
            </a:pPr>
            <a:r>
              <a:rPr lang="en-US" sz="159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multiple vendors available</a:t>
            </a:r>
          </a:p>
          <a:p>
            <a:pPr algn="ctr">
              <a:lnSpc>
                <a:spcPts val="2617"/>
              </a:lnSpc>
            </a:pPr>
            <a:r>
              <a:rPr lang="en-US" sz="159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in the nearby area.</a:t>
            </a:r>
          </a:p>
          <a:p>
            <a:pPr algn="ctr">
              <a:lnSpc>
                <a:spcPts val="2617"/>
              </a:lnSpc>
            </a:pPr>
          </a:p>
        </p:txBody>
      </p:sp>
      <p:sp>
        <p:nvSpPr>
          <p:cNvPr name="TextBox 53" id="53"/>
          <p:cNvSpPr txBox="true"/>
          <p:nvPr/>
        </p:nvSpPr>
        <p:spPr>
          <a:xfrm rot="0">
            <a:off x="4953924" y="7151603"/>
            <a:ext cx="1797587" cy="22443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17"/>
              </a:lnSpc>
            </a:pPr>
            <a:r>
              <a:rPr lang="en-US" sz="159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Backend filters nearby vendors</a:t>
            </a:r>
          </a:p>
          <a:p>
            <a:pPr algn="ctr">
              <a:lnSpc>
                <a:spcPts val="2617"/>
              </a:lnSpc>
            </a:pPr>
            <a:r>
              <a:rPr lang="en-US" sz="159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using geofencing based on</a:t>
            </a:r>
          </a:p>
          <a:p>
            <a:pPr algn="ctr">
              <a:lnSpc>
                <a:spcPts val="2617"/>
              </a:lnSpc>
            </a:pPr>
            <a:r>
              <a:rPr lang="en-US" sz="159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the user’s location.</a:t>
            </a:r>
          </a:p>
          <a:p>
            <a:pPr algn="ctr">
              <a:lnSpc>
                <a:spcPts val="2617"/>
              </a:lnSpc>
            </a:pPr>
          </a:p>
        </p:txBody>
      </p:sp>
      <p:sp>
        <p:nvSpPr>
          <p:cNvPr name="TextBox 54" id="54"/>
          <p:cNvSpPr txBox="true"/>
          <p:nvPr/>
        </p:nvSpPr>
        <p:spPr>
          <a:xfrm rot="0">
            <a:off x="1980486" y="6746505"/>
            <a:ext cx="1683487" cy="2865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95"/>
              </a:lnSpc>
            </a:pPr>
            <a:r>
              <a:rPr lang="en-US" sz="1794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User Access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3389843" y="1030829"/>
            <a:ext cx="1683487" cy="572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95"/>
              </a:lnSpc>
            </a:pPr>
            <a:r>
              <a:rPr lang="en-US" sz="1794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Location Permission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6634705" y="1030829"/>
            <a:ext cx="1683487" cy="572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95"/>
              </a:lnSpc>
            </a:pPr>
            <a:r>
              <a:rPr lang="en-US" sz="1794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Item Selection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4920577" y="6485453"/>
            <a:ext cx="1906095" cy="572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95"/>
              </a:lnSpc>
            </a:pPr>
            <a:r>
              <a:rPr lang="en-US" sz="1794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Vendor Filtering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8218818" y="7153023"/>
            <a:ext cx="1910801" cy="19204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17"/>
              </a:lnSpc>
            </a:pPr>
            <a:r>
              <a:rPr lang="en-US" sz="159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Selected items are confirmed</a:t>
            </a:r>
          </a:p>
          <a:p>
            <a:pPr algn="ctr">
              <a:lnSpc>
                <a:spcPts val="2617"/>
              </a:lnSpc>
            </a:pPr>
            <a:r>
              <a:rPr lang="en-US" sz="159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and the order is successfully</a:t>
            </a:r>
          </a:p>
          <a:p>
            <a:pPr algn="ctr">
              <a:lnSpc>
                <a:spcPts val="2617"/>
              </a:lnSpc>
            </a:pPr>
            <a:r>
              <a:rPr lang="en-US" sz="159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placed.</a:t>
            </a:r>
          </a:p>
          <a:p>
            <a:pPr algn="ctr">
              <a:lnSpc>
                <a:spcPts val="2617"/>
              </a:lnSpc>
            </a:pPr>
          </a:p>
        </p:txBody>
      </p:sp>
      <p:sp>
        <p:nvSpPr>
          <p:cNvPr name="TextBox 59" id="59"/>
          <p:cNvSpPr txBox="true"/>
          <p:nvPr/>
        </p:nvSpPr>
        <p:spPr>
          <a:xfrm rot="0">
            <a:off x="11659762" y="7151603"/>
            <a:ext cx="1663627" cy="22443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17"/>
              </a:lnSpc>
            </a:pPr>
            <a:r>
              <a:rPr lang="en-US" sz="159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 secure OTP is generated and</a:t>
            </a:r>
          </a:p>
          <a:p>
            <a:pPr algn="ctr">
              <a:lnSpc>
                <a:spcPts val="2617"/>
              </a:lnSpc>
            </a:pPr>
            <a:r>
              <a:rPr lang="en-US" sz="159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sent to the user via email</a:t>
            </a:r>
          </a:p>
          <a:p>
            <a:pPr algn="ctr">
              <a:lnSpc>
                <a:spcPts val="2617"/>
              </a:lnSpc>
            </a:pPr>
            <a:r>
              <a:rPr lang="en-US" sz="159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for delivery verification.</a:t>
            </a:r>
          </a:p>
          <a:p>
            <a:pPr algn="ctr">
              <a:lnSpc>
                <a:spcPts val="2617"/>
              </a:lnSpc>
            </a:pPr>
          </a:p>
        </p:txBody>
      </p:sp>
      <p:sp>
        <p:nvSpPr>
          <p:cNvPr name="TextBox 60" id="60"/>
          <p:cNvSpPr txBox="true"/>
          <p:nvPr/>
        </p:nvSpPr>
        <p:spPr>
          <a:xfrm rot="0">
            <a:off x="14842646" y="7151603"/>
            <a:ext cx="1663627" cy="22443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17"/>
              </a:lnSpc>
            </a:pPr>
            <a:r>
              <a:rPr lang="en-US" sz="159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OTP verification is completed</a:t>
            </a:r>
          </a:p>
          <a:p>
            <a:pPr algn="ctr">
              <a:lnSpc>
                <a:spcPts val="2617"/>
              </a:lnSpc>
            </a:pPr>
            <a:r>
              <a:rPr lang="en-US" sz="159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and the delivery is</a:t>
            </a:r>
          </a:p>
          <a:p>
            <a:pPr algn="ctr">
              <a:lnSpc>
                <a:spcPts val="2617"/>
              </a:lnSpc>
            </a:pPr>
            <a:r>
              <a:rPr lang="en-US" sz="159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successfully confirmed.</a:t>
            </a:r>
          </a:p>
          <a:p>
            <a:pPr algn="ctr">
              <a:lnSpc>
                <a:spcPts val="2617"/>
              </a:lnSpc>
            </a:pPr>
          </a:p>
        </p:txBody>
      </p:sp>
      <p:sp>
        <p:nvSpPr>
          <p:cNvPr name="TextBox 61" id="61"/>
          <p:cNvSpPr txBox="true"/>
          <p:nvPr/>
        </p:nvSpPr>
        <p:spPr>
          <a:xfrm rot="0">
            <a:off x="8297504" y="6485453"/>
            <a:ext cx="1753429" cy="572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95"/>
              </a:lnSpc>
            </a:pPr>
            <a:r>
              <a:rPr lang="en-US" sz="1794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Order Placement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1605927" y="6460755"/>
            <a:ext cx="1771288" cy="572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95"/>
              </a:lnSpc>
            </a:pPr>
            <a:r>
              <a:rPr lang="en-US" sz="1794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OTP Generation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14788810" y="6460755"/>
            <a:ext cx="1771288" cy="572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95"/>
              </a:lnSpc>
            </a:pPr>
            <a:r>
              <a:rPr lang="en-US" sz="1794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Delivery Confirmation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9915606" y="1698398"/>
            <a:ext cx="1834582" cy="24213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53"/>
              </a:lnSpc>
            </a:pPr>
            <a:r>
              <a:rPr lang="en-US" sz="149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The nearest available delivery</a:t>
            </a:r>
          </a:p>
          <a:p>
            <a:pPr algn="ctr">
              <a:lnSpc>
                <a:spcPts val="2453"/>
              </a:lnSpc>
            </a:pPr>
            <a:r>
              <a:rPr lang="en-US" sz="149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partner is automatically assigned</a:t>
            </a:r>
          </a:p>
          <a:p>
            <a:pPr algn="ctr">
              <a:lnSpc>
                <a:spcPts val="2453"/>
              </a:lnSpc>
            </a:pPr>
            <a:r>
              <a:rPr lang="en-US" sz="149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based on distance and availability.</a:t>
            </a:r>
          </a:p>
          <a:p>
            <a:pPr algn="ctr">
              <a:lnSpc>
                <a:spcPts val="2453"/>
              </a:lnSpc>
            </a:pPr>
          </a:p>
        </p:txBody>
      </p:sp>
      <p:sp>
        <p:nvSpPr>
          <p:cNvPr name="TextBox 65" id="65"/>
          <p:cNvSpPr txBox="true"/>
          <p:nvPr/>
        </p:nvSpPr>
        <p:spPr>
          <a:xfrm rot="0">
            <a:off x="10034583" y="907004"/>
            <a:ext cx="1683487" cy="8580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95"/>
              </a:lnSpc>
            </a:pPr>
            <a:r>
              <a:rPr lang="en-US" sz="1794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Delivery Partner Assignment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13163083" y="1698398"/>
            <a:ext cx="1834582" cy="19204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17"/>
              </a:lnSpc>
            </a:pPr>
            <a:r>
              <a:rPr lang="en-US" sz="159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User can track the delivery</a:t>
            </a:r>
          </a:p>
          <a:p>
            <a:pPr algn="ctr">
              <a:lnSpc>
                <a:spcPts val="2617"/>
              </a:lnSpc>
            </a:pPr>
            <a:r>
              <a:rPr lang="en-US" sz="159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partner in real time until</a:t>
            </a:r>
          </a:p>
          <a:p>
            <a:pPr algn="ctr">
              <a:lnSpc>
                <a:spcPts val="2617"/>
              </a:lnSpc>
            </a:pPr>
            <a:r>
              <a:rPr lang="en-US" sz="159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the order arrives.</a:t>
            </a:r>
          </a:p>
          <a:p>
            <a:pPr algn="ctr">
              <a:lnSpc>
                <a:spcPts val="2617"/>
              </a:lnSpc>
            </a:pPr>
          </a:p>
        </p:txBody>
      </p:sp>
      <p:sp>
        <p:nvSpPr>
          <p:cNvPr name="TextBox 67" id="67"/>
          <p:cNvSpPr txBox="true"/>
          <p:nvPr/>
        </p:nvSpPr>
        <p:spPr>
          <a:xfrm rot="0">
            <a:off x="13238626" y="1306349"/>
            <a:ext cx="1683487" cy="296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08"/>
              </a:lnSpc>
            </a:pPr>
            <a:r>
              <a:rPr lang="en-US" sz="1725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Live Tracking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15078275" y="3807268"/>
            <a:ext cx="3209725" cy="7605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25"/>
              </a:lnSpc>
            </a:pPr>
            <a:r>
              <a:rPr lang="en-US" sz="6574">
                <a:solidFill>
                  <a:srgbClr val="517166"/>
                </a:solidFill>
                <a:latin typeface="Londrina Sketch"/>
                <a:ea typeface="Londrina Sketch"/>
                <a:cs typeface="Londrina Sketch"/>
                <a:sym typeface="Londrina Sketch"/>
              </a:rPr>
              <a:t>WORKFLOW</a:t>
            </a:r>
          </a:p>
        </p:txBody>
      </p:sp>
    </p:spTree>
  </p:cSld>
  <p:clrMapOvr>
    <a:masterClrMapping/>
  </p:clrMapOvr>
  <p:transition spd="slow">
    <p:fade/>
  </p:transition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334900">
            <a:off x="4158297" y="-6006127"/>
            <a:ext cx="9203671" cy="22008778"/>
          </a:xfrm>
          <a:custGeom>
            <a:avLst/>
            <a:gdLst/>
            <a:ahLst/>
            <a:cxnLst/>
            <a:rect r="r" b="b" t="t" l="l"/>
            <a:pathLst>
              <a:path h="22008778" w="9203671">
                <a:moveTo>
                  <a:pt x="0" y="0"/>
                </a:moveTo>
                <a:lnTo>
                  <a:pt x="9203671" y="0"/>
                </a:lnTo>
                <a:lnTo>
                  <a:pt x="9203671" y="22008778"/>
                </a:lnTo>
                <a:lnTo>
                  <a:pt x="0" y="2200877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571082" y="1243753"/>
            <a:ext cx="13973916" cy="1120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05"/>
              </a:lnSpc>
            </a:pPr>
            <a:r>
              <a:rPr lang="en-US" sz="9636">
                <a:solidFill>
                  <a:srgbClr val="517166"/>
                </a:solidFill>
                <a:latin typeface="Londrina Sketch"/>
                <a:ea typeface="Londrina Sketch"/>
                <a:cs typeface="Londrina Sketch"/>
                <a:sym typeface="Londrina Sketch"/>
              </a:rPr>
              <a:t>T</a:t>
            </a:r>
            <a:r>
              <a:rPr lang="en-US" sz="9636">
                <a:solidFill>
                  <a:srgbClr val="517166"/>
                </a:solidFill>
                <a:latin typeface="Londrina Sketch"/>
                <a:ea typeface="Londrina Sketch"/>
                <a:cs typeface="Londrina Sketch"/>
                <a:sym typeface="Londrina Sketch"/>
              </a:rPr>
              <a:t>ECHNICAL SIGNIFICANCE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845234" y="2638959"/>
            <a:ext cx="12174882" cy="5959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28077" indent="-414038" lvl="1">
              <a:lnSpc>
                <a:spcPts val="5906"/>
              </a:lnSpc>
              <a:buFont typeface="Arial"/>
              <a:buChar char="•"/>
            </a:pPr>
            <a:r>
              <a:rPr lang="en-US" sz="3835" spc="99">
                <a:solidFill>
                  <a:srgbClr val="517166"/>
                </a:solidFill>
                <a:latin typeface="Chewy"/>
                <a:ea typeface="Chewy"/>
                <a:cs typeface="Chewy"/>
                <a:sym typeface="Chewy"/>
              </a:rPr>
              <a:t>Geospatial Computation- Real-world distance calculation using Haversine formula</a:t>
            </a:r>
          </a:p>
          <a:p>
            <a:pPr algn="l" marL="828077" indent="-414038" lvl="1">
              <a:lnSpc>
                <a:spcPts val="5906"/>
              </a:lnSpc>
              <a:buFont typeface="Arial"/>
              <a:buChar char="•"/>
            </a:pPr>
            <a:r>
              <a:rPr lang="en-US" sz="3835" spc="99">
                <a:solidFill>
                  <a:srgbClr val="517166"/>
                </a:solidFill>
                <a:latin typeface="Chewy"/>
                <a:ea typeface="Chewy"/>
                <a:cs typeface="Chewy"/>
                <a:sym typeface="Chewy"/>
              </a:rPr>
              <a:t>Backend Optimization- Intelligent nearest-agent assignment logic</a:t>
            </a:r>
          </a:p>
          <a:p>
            <a:pPr algn="l" marL="828077" indent="-414038" lvl="1">
              <a:lnSpc>
                <a:spcPts val="5906"/>
              </a:lnSpc>
              <a:buFont typeface="Arial"/>
              <a:buChar char="•"/>
            </a:pPr>
            <a:r>
              <a:rPr lang="en-US" sz="3835" spc="99">
                <a:solidFill>
                  <a:srgbClr val="517166"/>
                </a:solidFill>
                <a:latin typeface="Chewy"/>
                <a:ea typeface="Chewy"/>
                <a:cs typeface="Chewy"/>
                <a:sym typeface="Chewy"/>
              </a:rPr>
              <a:t>Secure System Design- OTP-based authentication and role-based access</a:t>
            </a:r>
          </a:p>
          <a:p>
            <a:pPr algn="l" marL="828077" indent="-414038" lvl="1">
              <a:lnSpc>
                <a:spcPts val="5906"/>
              </a:lnSpc>
              <a:buFont typeface="Arial"/>
              <a:buChar char="•"/>
            </a:pPr>
            <a:r>
              <a:rPr lang="en-US" sz="3835" spc="99">
                <a:solidFill>
                  <a:srgbClr val="517166"/>
                </a:solidFill>
                <a:latin typeface="Chewy"/>
                <a:ea typeface="Chewy"/>
                <a:cs typeface="Chewy"/>
                <a:sym typeface="Chewy"/>
              </a:rPr>
              <a:t>Scalable Architecture- Clear separation of frontend and backend components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-4558807">
            <a:off x="14746168" y="1035276"/>
            <a:ext cx="566344" cy="921566"/>
          </a:xfrm>
          <a:custGeom>
            <a:avLst/>
            <a:gdLst/>
            <a:ahLst/>
            <a:cxnLst/>
            <a:rect r="r" b="b" t="t" l="l"/>
            <a:pathLst>
              <a:path h="921566" w="566344">
                <a:moveTo>
                  <a:pt x="0" y="0"/>
                </a:moveTo>
                <a:lnTo>
                  <a:pt x="566344" y="0"/>
                </a:lnTo>
                <a:lnTo>
                  <a:pt x="566344" y="921566"/>
                </a:lnTo>
                <a:lnTo>
                  <a:pt x="0" y="92156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5984616" y="1882424"/>
            <a:ext cx="482267" cy="482267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17166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07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296930" y="1221906"/>
            <a:ext cx="548305" cy="548305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17166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07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6988675" y="8294573"/>
            <a:ext cx="541249" cy="541249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17166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07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13626509" y="2815475"/>
            <a:ext cx="3836977" cy="5749722"/>
          </a:xfrm>
          <a:custGeom>
            <a:avLst/>
            <a:gdLst/>
            <a:ahLst/>
            <a:cxnLst/>
            <a:rect r="r" b="b" t="t" l="l"/>
            <a:pathLst>
              <a:path h="5749722" w="3836977">
                <a:moveTo>
                  <a:pt x="0" y="0"/>
                </a:moveTo>
                <a:lnTo>
                  <a:pt x="3836977" y="0"/>
                </a:lnTo>
                <a:lnTo>
                  <a:pt x="3836977" y="5749723"/>
                </a:lnTo>
                <a:lnTo>
                  <a:pt x="0" y="574972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fade/>
  </p:transition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334900">
            <a:off x="4542165" y="-5908514"/>
            <a:ext cx="9203671" cy="22008778"/>
          </a:xfrm>
          <a:custGeom>
            <a:avLst/>
            <a:gdLst/>
            <a:ahLst/>
            <a:cxnLst/>
            <a:rect r="r" b="b" t="t" l="l"/>
            <a:pathLst>
              <a:path h="22008778" w="9203671">
                <a:moveTo>
                  <a:pt x="0" y="0"/>
                </a:moveTo>
                <a:lnTo>
                  <a:pt x="9203670" y="0"/>
                </a:lnTo>
                <a:lnTo>
                  <a:pt x="9203670" y="22008778"/>
                </a:lnTo>
                <a:lnTo>
                  <a:pt x="0" y="2200877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622649" y="1273991"/>
            <a:ext cx="12133954" cy="20420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97"/>
              </a:lnSpc>
            </a:pPr>
            <a:r>
              <a:rPr lang="en-US" sz="9379">
                <a:solidFill>
                  <a:srgbClr val="517166"/>
                </a:solidFill>
                <a:latin typeface="Londrina Sketch"/>
                <a:ea typeface="Londrina Sketch"/>
                <a:cs typeface="Londrina Sketch"/>
                <a:sym typeface="Londrina Sketch"/>
              </a:rPr>
              <a:t>DELIVERY ASSIGNMENT</a:t>
            </a:r>
            <a:r>
              <a:rPr lang="en-US" sz="9379">
                <a:solidFill>
                  <a:srgbClr val="517166"/>
                </a:solidFill>
                <a:latin typeface="Londrina Sketch"/>
                <a:ea typeface="Londrina Sketch"/>
                <a:cs typeface="Londrina Sketch"/>
                <a:sym typeface="Londrina Sketch"/>
              </a:rPr>
              <a:t> LOGIC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385863" y="3479878"/>
            <a:ext cx="12031021" cy="21809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36"/>
              </a:lnSpc>
            </a:pPr>
            <a:r>
              <a:rPr lang="en-US" sz="3790" spc="98">
                <a:solidFill>
                  <a:srgbClr val="517166"/>
                </a:solidFill>
                <a:latin typeface="Chewy"/>
                <a:ea typeface="Chewy"/>
                <a:cs typeface="Chewy"/>
                <a:sym typeface="Chewy"/>
              </a:rPr>
              <a:t>The system assigns delivery partners using a multi-factor scoring approach.</a:t>
            </a:r>
          </a:p>
          <a:p>
            <a:pPr algn="l">
              <a:lnSpc>
                <a:spcPts val="5836"/>
              </a:lnSpc>
            </a:pPr>
          </a:p>
        </p:txBody>
      </p:sp>
      <p:sp>
        <p:nvSpPr>
          <p:cNvPr name="Freeform 6" id="6"/>
          <p:cNvSpPr/>
          <p:nvPr/>
        </p:nvSpPr>
        <p:spPr>
          <a:xfrm flipH="false" flipV="false" rot="-4558807">
            <a:off x="14746168" y="1035276"/>
            <a:ext cx="566344" cy="921566"/>
          </a:xfrm>
          <a:custGeom>
            <a:avLst/>
            <a:gdLst/>
            <a:ahLst/>
            <a:cxnLst/>
            <a:rect r="r" b="b" t="t" l="l"/>
            <a:pathLst>
              <a:path h="921566" w="566344">
                <a:moveTo>
                  <a:pt x="0" y="0"/>
                </a:moveTo>
                <a:lnTo>
                  <a:pt x="566344" y="0"/>
                </a:lnTo>
                <a:lnTo>
                  <a:pt x="566344" y="921566"/>
                </a:lnTo>
                <a:lnTo>
                  <a:pt x="0" y="92156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5984616" y="1882424"/>
            <a:ext cx="482267" cy="482267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17166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07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296930" y="1221906"/>
            <a:ext cx="548305" cy="548305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17166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07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6988675" y="8294573"/>
            <a:ext cx="541249" cy="541249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17166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07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915995" y="2809834"/>
            <a:ext cx="4049031" cy="6133945"/>
          </a:xfrm>
          <a:custGeom>
            <a:avLst/>
            <a:gdLst/>
            <a:ahLst/>
            <a:cxnLst/>
            <a:rect r="r" b="b" t="t" l="l"/>
            <a:pathLst>
              <a:path h="6133945" w="4049031">
                <a:moveTo>
                  <a:pt x="0" y="0"/>
                </a:moveTo>
                <a:lnTo>
                  <a:pt x="4049031" y="0"/>
                </a:lnTo>
                <a:lnTo>
                  <a:pt x="4049031" y="6133945"/>
                </a:lnTo>
                <a:lnTo>
                  <a:pt x="0" y="613394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2102974" y="3092372"/>
            <a:ext cx="1866535" cy="1774903"/>
          </a:xfrm>
          <a:custGeom>
            <a:avLst/>
            <a:gdLst/>
            <a:ahLst/>
            <a:cxnLst/>
            <a:rect r="r" b="b" t="t" l="l"/>
            <a:pathLst>
              <a:path h="1774903" w="1866535">
                <a:moveTo>
                  <a:pt x="0" y="0"/>
                </a:moveTo>
                <a:lnTo>
                  <a:pt x="1866535" y="0"/>
                </a:lnTo>
                <a:lnTo>
                  <a:pt x="1866535" y="1774903"/>
                </a:lnTo>
                <a:lnTo>
                  <a:pt x="0" y="177490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-246" t="0" r="-246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6703377" y="6154484"/>
            <a:ext cx="8848668" cy="2396951"/>
            <a:chOff x="0" y="0"/>
            <a:chExt cx="11798224" cy="319593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1798173" cy="3195835"/>
            </a:xfrm>
            <a:custGeom>
              <a:avLst/>
              <a:gdLst/>
              <a:ahLst/>
              <a:cxnLst/>
              <a:rect r="r" b="b" t="t" l="l"/>
              <a:pathLst>
                <a:path h="3195835" w="11798173">
                  <a:moveTo>
                    <a:pt x="146177" y="0"/>
                  </a:moveTo>
                  <a:lnTo>
                    <a:pt x="11651996" y="0"/>
                  </a:lnTo>
                  <a:cubicBezTo>
                    <a:pt x="11690731" y="0"/>
                    <a:pt x="11727942" y="40118"/>
                    <a:pt x="11755374" y="111733"/>
                  </a:cubicBezTo>
                  <a:cubicBezTo>
                    <a:pt x="11782806" y="183349"/>
                    <a:pt x="11798173" y="280493"/>
                    <a:pt x="11798173" y="381617"/>
                  </a:cubicBezTo>
                  <a:lnTo>
                    <a:pt x="11798173" y="2814218"/>
                  </a:lnTo>
                  <a:cubicBezTo>
                    <a:pt x="11798173" y="2915341"/>
                    <a:pt x="11782806" y="3012486"/>
                    <a:pt x="11755374" y="3084101"/>
                  </a:cubicBezTo>
                  <a:cubicBezTo>
                    <a:pt x="11727942" y="3155717"/>
                    <a:pt x="11690731" y="3195835"/>
                    <a:pt x="11651996" y="3195835"/>
                  </a:cubicBezTo>
                  <a:lnTo>
                    <a:pt x="146177" y="3195835"/>
                  </a:lnTo>
                  <a:cubicBezTo>
                    <a:pt x="107442" y="3195835"/>
                    <a:pt x="70231" y="3155717"/>
                    <a:pt x="42799" y="3084101"/>
                  </a:cubicBezTo>
                  <a:cubicBezTo>
                    <a:pt x="15367" y="3012486"/>
                    <a:pt x="0" y="2915673"/>
                    <a:pt x="0" y="2814218"/>
                  </a:cubicBezTo>
                  <a:lnTo>
                    <a:pt x="0" y="381617"/>
                  </a:lnTo>
                  <a:cubicBezTo>
                    <a:pt x="0" y="280493"/>
                    <a:pt x="15367" y="183349"/>
                    <a:pt x="42799" y="111733"/>
                  </a:cubicBezTo>
                  <a:cubicBezTo>
                    <a:pt x="70231" y="40118"/>
                    <a:pt x="107442" y="0"/>
                    <a:pt x="146177" y="0"/>
                  </a:cubicBezTo>
                  <a:close/>
                </a:path>
              </a:pathLst>
            </a:custGeom>
            <a:solidFill>
              <a:srgbClr val="517166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7058617" y="6251355"/>
            <a:ext cx="8138187" cy="2056710"/>
            <a:chOff x="0" y="0"/>
            <a:chExt cx="10098117" cy="255203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098120" cy="2552030"/>
            </a:xfrm>
            <a:custGeom>
              <a:avLst/>
              <a:gdLst/>
              <a:ahLst/>
              <a:cxnLst/>
              <a:rect r="r" b="b" t="t" l="l"/>
              <a:pathLst>
                <a:path h="2552030" w="10098120">
                  <a:moveTo>
                    <a:pt x="0" y="0"/>
                  </a:moveTo>
                  <a:lnTo>
                    <a:pt x="10098120" y="0"/>
                  </a:lnTo>
                  <a:lnTo>
                    <a:pt x="10098120" y="2552030"/>
                  </a:lnTo>
                  <a:lnTo>
                    <a:pt x="0" y="2552030"/>
                  </a:lnTo>
                  <a:close/>
                </a:path>
              </a:pathLst>
            </a:custGeom>
            <a:blipFill>
              <a:blip r:embed="rId11">
                <a:alphaModFix amt="0"/>
              </a:blip>
              <a:stretch>
                <a:fillRect l="0" t="-60427" r="-16835" b="-19733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66675"/>
              <a:ext cx="10098117" cy="2618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760"/>
                </a:lnSpc>
              </a:pPr>
              <a:r>
                <a:rPr lang="en-US" sz="3399">
                  <a:solidFill>
                    <a:srgbClr val="FFFFFF"/>
                  </a:solidFill>
                  <a:latin typeface="Chewy"/>
                  <a:ea typeface="Chewy"/>
                  <a:cs typeface="Chewy"/>
                  <a:sym typeface="Chewy"/>
                </a:rPr>
                <a:t>Score = 0.6 × Distance + 0.25 × Workload + 0.15 × Rating Penalty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745961" y="5048250"/>
            <a:ext cx="2580561" cy="502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699">
                <a:solidFill>
                  <a:srgbClr val="FFFFFF"/>
                </a:solidFill>
                <a:latin typeface="Chewy"/>
                <a:ea typeface="Chewy"/>
                <a:cs typeface="Chewy"/>
                <a:sym typeface="Chewy"/>
              </a:rPr>
              <a:t>Factors Considered: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28700" y="6097334"/>
            <a:ext cx="3823621" cy="5054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</a:pPr>
            <a:r>
              <a:rPr lang="en-US" sz="2599">
                <a:solidFill>
                  <a:srgbClr val="FFFFFF"/>
                </a:solidFill>
                <a:latin typeface="Chewy"/>
                <a:ea typeface="Chewy"/>
                <a:cs typeface="Chewy"/>
                <a:sym typeface="Chewy"/>
              </a:rPr>
              <a:t>• Distance from customer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647643" y="6774247"/>
            <a:ext cx="3823621" cy="5054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</a:pPr>
            <a:r>
              <a:rPr lang="en-US" sz="2599">
                <a:solidFill>
                  <a:srgbClr val="FFFFFF"/>
                </a:solidFill>
                <a:latin typeface="Chewy"/>
                <a:ea typeface="Chewy"/>
                <a:cs typeface="Chewy"/>
                <a:sym typeface="Chewy"/>
              </a:rPr>
              <a:t>• Current workload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28700" y="7451160"/>
            <a:ext cx="3823621" cy="5054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</a:pPr>
            <a:r>
              <a:rPr lang="en-US" sz="2599">
                <a:solidFill>
                  <a:srgbClr val="FFFFFF"/>
                </a:solidFill>
                <a:latin typeface="Chewy"/>
                <a:ea typeface="Chewy"/>
                <a:cs typeface="Chewy"/>
                <a:sym typeface="Chewy"/>
              </a:rPr>
              <a:t>• Previous delivery ratings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5872536" y="4754419"/>
            <a:ext cx="4254594" cy="1593501"/>
            <a:chOff x="0" y="0"/>
            <a:chExt cx="4659465" cy="174514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659460" cy="1745129"/>
            </a:xfrm>
            <a:custGeom>
              <a:avLst/>
              <a:gdLst/>
              <a:ahLst/>
              <a:cxnLst/>
              <a:rect r="r" b="b" t="t" l="l"/>
              <a:pathLst>
                <a:path h="1745129" w="4659460">
                  <a:moveTo>
                    <a:pt x="0" y="0"/>
                  </a:moveTo>
                  <a:lnTo>
                    <a:pt x="4659460" y="0"/>
                  </a:lnTo>
                  <a:lnTo>
                    <a:pt x="4659460" y="1745129"/>
                  </a:lnTo>
                  <a:lnTo>
                    <a:pt x="0" y="1745129"/>
                  </a:lnTo>
                  <a:close/>
                </a:path>
              </a:pathLst>
            </a:custGeom>
            <a:solidFill>
              <a:srgbClr val="0071B6">
                <a:alpha val="0"/>
              </a:srgbClr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19050"/>
              <a:ext cx="4659465" cy="17641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00"/>
                </a:lnSpc>
              </a:pPr>
              <a:r>
                <a:rPr lang="en-US" sz="6000">
                  <a:solidFill>
                    <a:srgbClr val="00A651"/>
                  </a:solidFill>
                  <a:latin typeface="Chewy"/>
                  <a:ea typeface="Chewy"/>
                  <a:cs typeface="Chewy"/>
                  <a:sym typeface="Chewy"/>
                </a:rPr>
                <a:t>Formula:</a:t>
              </a:r>
            </a:p>
          </p:txBody>
        </p:sp>
      </p:grpSp>
    </p:spTree>
  </p:cSld>
  <p:clrMapOvr>
    <a:masterClrMapping/>
  </p:clrMapOvr>
  <p:transition spd="slow">
    <p:fade/>
  </p:transition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334900">
            <a:off x="4220601" y="-5966902"/>
            <a:ext cx="9203671" cy="22008778"/>
          </a:xfrm>
          <a:custGeom>
            <a:avLst/>
            <a:gdLst/>
            <a:ahLst/>
            <a:cxnLst/>
            <a:rect r="r" b="b" t="t" l="l"/>
            <a:pathLst>
              <a:path h="22008778" w="9203671">
                <a:moveTo>
                  <a:pt x="0" y="0"/>
                </a:moveTo>
                <a:lnTo>
                  <a:pt x="9203670" y="0"/>
                </a:lnTo>
                <a:lnTo>
                  <a:pt x="9203670" y="22008778"/>
                </a:lnTo>
                <a:lnTo>
                  <a:pt x="0" y="2200877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571082" y="1243753"/>
            <a:ext cx="13973916" cy="1120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05"/>
              </a:lnSpc>
            </a:pPr>
            <a:r>
              <a:rPr lang="en-US" sz="9636">
                <a:solidFill>
                  <a:srgbClr val="517166"/>
                </a:solidFill>
                <a:latin typeface="Londrina Sketch"/>
                <a:ea typeface="Londrina Sketch"/>
                <a:cs typeface="Londrina Sketch"/>
                <a:sym typeface="Londrina Sketch"/>
              </a:rPr>
              <a:t>ORDER</a:t>
            </a:r>
            <a:r>
              <a:rPr lang="en-US" sz="9636">
                <a:solidFill>
                  <a:srgbClr val="517166"/>
                </a:solidFill>
                <a:latin typeface="Londrina Sketch"/>
                <a:ea typeface="Londrina Sketch"/>
                <a:cs typeface="Londrina Sketch"/>
                <a:sym typeface="Londrina Sketch"/>
              </a:rPr>
              <a:t> LIFECYCLE FLOW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-4558807">
            <a:off x="14746168" y="1035276"/>
            <a:ext cx="566344" cy="921566"/>
          </a:xfrm>
          <a:custGeom>
            <a:avLst/>
            <a:gdLst/>
            <a:ahLst/>
            <a:cxnLst/>
            <a:rect r="r" b="b" t="t" l="l"/>
            <a:pathLst>
              <a:path h="921566" w="566344">
                <a:moveTo>
                  <a:pt x="0" y="0"/>
                </a:moveTo>
                <a:lnTo>
                  <a:pt x="566344" y="0"/>
                </a:lnTo>
                <a:lnTo>
                  <a:pt x="566344" y="921566"/>
                </a:lnTo>
                <a:lnTo>
                  <a:pt x="0" y="92156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6777033" y="1529078"/>
            <a:ext cx="482267" cy="482267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17166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07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296930" y="1221906"/>
            <a:ext cx="548305" cy="548305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17166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07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7259300" y="8389823"/>
            <a:ext cx="541249" cy="541249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17166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07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4830082" y="3328787"/>
            <a:ext cx="1728788" cy="1708699"/>
          </a:xfrm>
          <a:custGeom>
            <a:avLst/>
            <a:gdLst/>
            <a:ahLst/>
            <a:cxnLst/>
            <a:rect r="r" b="b" t="t" l="l"/>
            <a:pathLst>
              <a:path h="1708699" w="1728788">
                <a:moveTo>
                  <a:pt x="0" y="0"/>
                </a:moveTo>
                <a:lnTo>
                  <a:pt x="1728788" y="0"/>
                </a:lnTo>
                <a:lnTo>
                  <a:pt x="1728788" y="1708700"/>
                </a:lnTo>
                <a:lnTo>
                  <a:pt x="0" y="17087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5782582" y="2899115"/>
            <a:ext cx="1552575" cy="2667000"/>
          </a:xfrm>
          <a:custGeom>
            <a:avLst/>
            <a:gdLst/>
            <a:ahLst/>
            <a:cxnLst/>
            <a:rect r="r" b="b" t="t" l="l"/>
            <a:pathLst>
              <a:path h="2667000" w="1552575">
                <a:moveTo>
                  <a:pt x="0" y="0"/>
                </a:moveTo>
                <a:lnTo>
                  <a:pt x="1552575" y="0"/>
                </a:lnTo>
                <a:lnTo>
                  <a:pt x="1552575" y="2667000"/>
                </a:lnTo>
                <a:lnTo>
                  <a:pt x="0" y="26670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4830082" y="5037477"/>
            <a:ext cx="640318" cy="613077"/>
          </a:xfrm>
          <a:custGeom>
            <a:avLst/>
            <a:gdLst/>
            <a:ahLst/>
            <a:cxnLst/>
            <a:rect r="r" b="b" t="t" l="l"/>
            <a:pathLst>
              <a:path h="613077" w="640318">
                <a:moveTo>
                  <a:pt x="0" y="0"/>
                </a:moveTo>
                <a:lnTo>
                  <a:pt x="640318" y="0"/>
                </a:lnTo>
                <a:lnTo>
                  <a:pt x="640318" y="613077"/>
                </a:lnTo>
                <a:lnTo>
                  <a:pt x="0" y="61307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954929" y="3328787"/>
            <a:ext cx="1728788" cy="1708699"/>
          </a:xfrm>
          <a:custGeom>
            <a:avLst/>
            <a:gdLst/>
            <a:ahLst/>
            <a:cxnLst/>
            <a:rect r="r" b="b" t="t" l="l"/>
            <a:pathLst>
              <a:path h="1708699" w="1728788">
                <a:moveTo>
                  <a:pt x="0" y="0"/>
                </a:moveTo>
                <a:lnTo>
                  <a:pt x="1728787" y="0"/>
                </a:lnTo>
                <a:lnTo>
                  <a:pt x="1728787" y="1708700"/>
                </a:lnTo>
                <a:lnTo>
                  <a:pt x="0" y="170870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907429" y="2899115"/>
            <a:ext cx="1552575" cy="2667000"/>
          </a:xfrm>
          <a:custGeom>
            <a:avLst/>
            <a:gdLst/>
            <a:ahLst/>
            <a:cxnLst/>
            <a:rect r="r" b="b" t="t" l="l"/>
            <a:pathLst>
              <a:path h="2667000" w="1552575">
                <a:moveTo>
                  <a:pt x="0" y="0"/>
                </a:moveTo>
                <a:lnTo>
                  <a:pt x="1552575" y="0"/>
                </a:lnTo>
                <a:lnTo>
                  <a:pt x="1552575" y="2667000"/>
                </a:lnTo>
                <a:lnTo>
                  <a:pt x="0" y="2667000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954929" y="5037477"/>
            <a:ext cx="640318" cy="613077"/>
          </a:xfrm>
          <a:custGeom>
            <a:avLst/>
            <a:gdLst/>
            <a:ahLst/>
            <a:cxnLst/>
            <a:rect r="r" b="b" t="t" l="l"/>
            <a:pathLst>
              <a:path h="613077" w="640318">
                <a:moveTo>
                  <a:pt x="0" y="0"/>
                </a:moveTo>
                <a:lnTo>
                  <a:pt x="640318" y="0"/>
                </a:lnTo>
                <a:lnTo>
                  <a:pt x="640318" y="613077"/>
                </a:lnTo>
                <a:lnTo>
                  <a:pt x="0" y="61307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3729961" y="3328787"/>
            <a:ext cx="1728788" cy="1708699"/>
          </a:xfrm>
          <a:custGeom>
            <a:avLst/>
            <a:gdLst/>
            <a:ahLst/>
            <a:cxnLst/>
            <a:rect r="r" b="b" t="t" l="l"/>
            <a:pathLst>
              <a:path h="1708699" w="1728788">
                <a:moveTo>
                  <a:pt x="0" y="0"/>
                </a:moveTo>
                <a:lnTo>
                  <a:pt x="1728788" y="0"/>
                </a:lnTo>
                <a:lnTo>
                  <a:pt x="1728788" y="1708700"/>
                </a:lnTo>
                <a:lnTo>
                  <a:pt x="0" y="1708700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4682461" y="2899115"/>
            <a:ext cx="1552575" cy="2667000"/>
          </a:xfrm>
          <a:custGeom>
            <a:avLst/>
            <a:gdLst/>
            <a:ahLst/>
            <a:cxnLst/>
            <a:rect r="r" b="b" t="t" l="l"/>
            <a:pathLst>
              <a:path h="2667000" w="1552575">
                <a:moveTo>
                  <a:pt x="0" y="0"/>
                </a:moveTo>
                <a:lnTo>
                  <a:pt x="1552575" y="0"/>
                </a:lnTo>
                <a:lnTo>
                  <a:pt x="1552575" y="2667000"/>
                </a:lnTo>
                <a:lnTo>
                  <a:pt x="0" y="2667000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3729961" y="5037477"/>
            <a:ext cx="640318" cy="613077"/>
          </a:xfrm>
          <a:custGeom>
            <a:avLst/>
            <a:gdLst/>
            <a:ahLst/>
            <a:cxnLst/>
            <a:rect r="r" b="b" t="t" l="l"/>
            <a:pathLst>
              <a:path h="613077" w="640318">
                <a:moveTo>
                  <a:pt x="0" y="0"/>
                </a:moveTo>
                <a:lnTo>
                  <a:pt x="640319" y="0"/>
                </a:lnTo>
                <a:lnTo>
                  <a:pt x="640319" y="613077"/>
                </a:lnTo>
                <a:lnTo>
                  <a:pt x="0" y="61307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6504984" y="3328787"/>
            <a:ext cx="1728788" cy="1708699"/>
          </a:xfrm>
          <a:custGeom>
            <a:avLst/>
            <a:gdLst/>
            <a:ahLst/>
            <a:cxnLst/>
            <a:rect r="r" b="b" t="t" l="l"/>
            <a:pathLst>
              <a:path h="1708699" w="1728788">
                <a:moveTo>
                  <a:pt x="0" y="0"/>
                </a:moveTo>
                <a:lnTo>
                  <a:pt x="1728788" y="0"/>
                </a:lnTo>
                <a:lnTo>
                  <a:pt x="1728788" y="1708700"/>
                </a:lnTo>
                <a:lnTo>
                  <a:pt x="0" y="1708700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7457484" y="2899115"/>
            <a:ext cx="1552575" cy="2667000"/>
          </a:xfrm>
          <a:custGeom>
            <a:avLst/>
            <a:gdLst/>
            <a:ahLst/>
            <a:cxnLst/>
            <a:rect r="r" b="b" t="t" l="l"/>
            <a:pathLst>
              <a:path h="2667000" w="1552575">
                <a:moveTo>
                  <a:pt x="0" y="0"/>
                </a:moveTo>
                <a:lnTo>
                  <a:pt x="1552575" y="0"/>
                </a:lnTo>
                <a:lnTo>
                  <a:pt x="1552575" y="2667000"/>
                </a:lnTo>
                <a:lnTo>
                  <a:pt x="0" y="2667000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6504994" y="5037477"/>
            <a:ext cx="640318" cy="613077"/>
          </a:xfrm>
          <a:custGeom>
            <a:avLst/>
            <a:gdLst/>
            <a:ahLst/>
            <a:cxnLst/>
            <a:rect r="r" b="b" t="t" l="l"/>
            <a:pathLst>
              <a:path h="613077" w="640318">
                <a:moveTo>
                  <a:pt x="0" y="0"/>
                </a:moveTo>
                <a:lnTo>
                  <a:pt x="640318" y="0"/>
                </a:lnTo>
                <a:lnTo>
                  <a:pt x="640318" y="613077"/>
                </a:lnTo>
                <a:lnTo>
                  <a:pt x="0" y="61307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9280017" y="3328787"/>
            <a:ext cx="1728788" cy="1708699"/>
          </a:xfrm>
          <a:custGeom>
            <a:avLst/>
            <a:gdLst/>
            <a:ahLst/>
            <a:cxnLst/>
            <a:rect r="r" b="b" t="t" l="l"/>
            <a:pathLst>
              <a:path h="1708699" w="1728788">
                <a:moveTo>
                  <a:pt x="0" y="0"/>
                </a:moveTo>
                <a:lnTo>
                  <a:pt x="1728787" y="0"/>
                </a:lnTo>
                <a:lnTo>
                  <a:pt x="1728787" y="1708700"/>
                </a:lnTo>
                <a:lnTo>
                  <a:pt x="0" y="1708700"/>
                </a:lnTo>
                <a:lnTo>
                  <a:pt x="0" y="0"/>
                </a:lnTo>
                <a:close/>
              </a:path>
            </a:pathLst>
          </a:custGeom>
          <a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10232517" y="2899115"/>
            <a:ext cx="1552575" cy="2667000"/>
          </a:xfrm>
          <a:custGeom>
            <a:avLst/>
            <a:gdLst/>
            <a:ahLst/>
            <a:cxnLst/>
            <a:rect r="r" b="b" t="t" l="l"/>
            <a:pathLst>
              <a:path h="2667000" w="1552575">
                <a:moveTo>
                  <a:pt x="0" y="0"/>
                </a:moveTo>
                <a:lnTo>
                  <a:pt x="1552575" y="0"/>
                </a:lnTo>
                <a:lnTo>
                  <a:pt x="1552575" y="2667000"/>
                </a:lnTo>
                <a:lnTo>
                  <a:pt x="0" y="2667000"/>
                </a:lnTo>
                <a:lnTo>
                  <a:pt x="0" y="0"/>
                </a:lnTo>
                <a:close/>
              </a:path>
            </a:pathLst>
          </a:custGeom>
          <a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9280017" y="5037477"/>
            <a:ext cx="640318" cy="613077"/>
          </a:xfrm>
          <a:custGeom>
            <a:avLst/>
            <a:gdLst/>
            <a:ahLst/>
            <a:cxnLst/>
            <a:rect r="r" b="b" t="t" l="l"/>
            <a:pathLst>
              <a:path h="613077" w="640318">
                <a:moveTo>
                  <a:pt x="0" y="0"/>
                </a:moveTo>
                <a:lnTo>
                  <a:pt x="640318" y="0"/>
                </a:lnTo>
                <a:lnTo>
                  <a:pt x="640318" y="613077"/>
                </a:lnTo>
                <a:lnTo>
                  <a:pt x="0" y="61307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2055050" y="3328787"/>
            <a:ext cx="1728788" cy="1708699"/>
          </a:xfrm>
          <a:custGeom>
            <a:avLst/>
            <a:gdLst/>
            <a:ahLst/>
            <a:cxnLst/>
            <a:rect r="r" b="b" t="t" l="l"/>
            <a:pathLst>
              <a:path h="1708699" w="1728788">
                <a:moveTo>
                  <a:pt x="0" y="0"/>
                </a:moveTo>
                <a:lnTo>
                  <a:pt x="1728787" y="0"/>
                </a:lnTo>
                <a:lnTo>
                  <a:pt x="1728787" y="1708700"/>
                </a:lnTo>
                <a:lnTo>
                  <a:pt x="0" y="1708700"/>
                </a:lnTo>
                <a:lnTo>
                  <a:pt x="0" y="0"/>
                </a:lnTo>
                <a:close/>
              </a:path>
            </a:pathLst>
          </a:custGeom>
          <a:blipFill>
            <a:blip r:embed="rId29"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13007550" y="2899115"/>
            <a:ext cx="1552575" cy="2667000"/>
          </a:xfrm>
          <a:custGeom>
            <a:avLst/>
            <a:gdLst/>
            <a:ahLst/>
            <a:cxnLst/>
            <a:rect r="r" b="b" t="t" l="l"/>
            <a:pathLst>
              <a:path h="2667000" w="1552575">
                <a:moveTo>
                  <a:pt x="0" y="0"/>
                </a:moveTo>
                <a:lnTo>
                  <a:pt x="1552575" y="0"/>
                </a:lnTo>
                <a:lnTo>
                  <a:pt x="1552575" y="2667000"/>
                </a:lnTo>
                <a:lnTo>
                  <a:pt x="0" y="2667000"/>
                </a:lnTo>
                <a:lnTo>
                  <a:pt x="0" y="0"/>
                </a:lnTo>
                <a:close/>
              </a:path>
            </a:pathLst>
          </a:custGeom>
          <a:blipFill>
            <a:blip r:embed="rId31">
              <a:extLst>
                <a:ext uri="{96DAC541-7B7A-43D3-8B79-37D633B846F1}">
                  <asvg:svgBlip xmlns:asvg="http://schemas.microsoft.com/office/drawing/2016/SVG/main" r:embed="rId3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12055050" y="5037477"/>
            <a:ext cx="640318" cy="613077"/>
          </a:xfrm>
          <a:custGeom>
            <a:avLst/>
            <a:gdLst/>
            <a:ahLst/>
            <a:cxnLst/>
            <a:rect r="r" b="b" t="t" l="l"/>
            <a:pathLst>
              <a:path h="613077" w="640318">
                <a:moveTo>
                  <a:pt x="0" y="0"/>
                </a:moveTo>
                <a:lnTo>
                  <a:pt x="640318" y="0"/>
                </a:lnTo>
                <a:lnTo>
                  <a:pt x="640318" y="613077"/>
                </a:lnTo>
                <a:lnTo>
                  <a:pt x="0" y="61307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1954778" y="3927815"/>
            <a:ext cx="594084" cy="609600"/>
          </a:xfrm>
          <a:custGeom>
            <a:avLst/>
            <a:gdLst/>
            <a:ahLst/>
            <a:cxnLst/>
            <a:rect r="r" b="b" t="t" l="l"/>
            <a:pathLst>
              <a:path h="609600" w="594084">
                <a:moveTo>
                  <a:pt x="0" y="0"/>
                </a:moveTo>
                <a:lnTo>
                  <a:pt x="594083" y="0"/>
                </a:lnTo>
                <a:lnTo>
                  <a:pt x="594083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blipFill>
            <a:blip r:embed="rId33">
              <a:extLst>
                <a:ext uri="{96DAC541-7B7A-43D3-8B79-37D633B846F1}">
                  <asvg:svgBlip xmlns:asvg="http://schemas.microsoft.com/office/drawing/2016/SVG/main" r:embed="rId34"/>
                </a:ext>
              </a:extLst>
            </a:blip>
            <a:stretch>
              <a:fillRect l="-1306" t="0" r="-1305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4711036" y="3943331"/>
            <a:ext cx="609600" cy="578568"/>
          </a:xfrm>
          <a:custGeom>
            <a:avLst/>
            <a:gdLst/>
            <a:ahLst/>
            <a:cxnLst/>
            <a:rect r="r" b="b" t="t" l="l"/>
            <a:pathLst>
              <a:path h="578568" w="609600">
                <a:moveTo>
                  <a:pt x="0" y="0"/>
                </a:moveTo>
                <a:lnTo>
                  <a:pt x="609600" y="0"/>
                </a:lnTo>
                <a:lnTo>
                  <a:pt x="609600" y="578567"/>
                </a:lnTo>
                <a:lnTo>
                  <a:pt x="0" y="578567"/>
                </a:lnTo>
                <a:lnTo>
                  <a:pt x="0" y="0"/>
                </a:lnTo>
                <a:close/>
              </a:path>
            </a:pathLst>
          </a:custGeom>
          <a:blipFill>
            <a:blip r:embed="rId35">
              <a:extLst>
                <a:ext uri="{96DAC541-7B7A-43D3-8B79-37D633B846F1}">
                  <asvg:svgBlip xmlns:asvg="http://schemas.microsoft.com/office/drawing/2016/SVG/main" r:embed="rId36"/>
                </a:ext>
              </a:extLst>
            </a:blip>
            <a:stretch>
              <a:fillRect l="0" t="-212" r="0" b="-212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7336917" y="3813515"/>
            <a:ext cx="609600" cy="838200"/>
          </a:xfrm>
          <a:custGeom>
            <a:avLst/>
            <a:gdLst/>
            <a:ahLst/>
            <a:cxnLst/>
            <a:rect r="r" b="b" t="t" l="l"/>
            <a:pathLst>
              <a:path h="838200" w="609600">
                <a:moveTo>
                  <a:pt x="0" y="0"/>
                </a:moveTo>
                <a:lnTo>
                  <a:pt x="609600" y="0"/>
                </a:lnTo>
                <a:lnTo>
                  <a:pt x="609600" y="838200"/>
                </a:lnTo>
                <a:lnTo>
                  <a:pt x="0" y="838200"/>
                </a:lnTo>
                <a:lnTo>
                  <a:pt x="0" y="0"/>
                </a:lnTo>
                <a:close/>
              </a:path>
            </a:pathLst>
          </a:custGeom>
          <a:blipFill>
            <a:blip r:embed="rId37">
              <a:extLst>
                <a:ext uri="{96DAC541-7B7A-43D3-8B79-37D633B846F1}">
                  <asvg:svgBlip xmlns:asvg="http://schemas.microsoft.com/office/drawing/2016/SVG/main" r:embed="rId3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10011366" y="3927815"/>
            <a:ext cx="813787" cy="609600"/>
          </a:xfrm>
          <a:custGeom>
            <a:avLst/>
            <a:gdLst/>
            <a:ahLst/>
            <a:cxnLst/>
            <a:rect r="r" b="b" t="t" l="l"/>
            <a:pathLst>
              <a:path h="609600" w="813787">
                <a:moveTo>
                  <a:pt x="0" y="0"/>
                </a:moveTo>
                <a:lnTo>
                  <a:pt x="813787" y="0"/>
                </a:lnTo>
                <a:lnTo>
                  <a:pt x="813787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blipFill>
            <a:blip r:embed="rId39">
              <a:extLst>
                <a:ext uri="{96DAC541-7B7A-43D3-8B79-37D633B846F1}">
                  <asvg:svgBlip xmlns:asvg="http://schemas.microsoft.com/office/drawing/2016/SVG/main" r:embed="rId40"/>
                </a:ext>
              </a:extLst>
            </a:blip>
            <a:stretch>
              <a:fillRect l="0" t="-448" r="0" b="-448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15569775" y="3927815"/>
            <a:ext cx="762000" cy="533400"/>
          </a:xfrm>
          <a:custGeom>
            <a:avLst/>
            <a:gdLst/>
            <a:ahLst/>
            <a:cxnLst/>
            <a:rect r="r" b="b" t="t" l="l"/>
            <a:pathLst>
              <a:path h="533400" w="762000">
                <a:moveTo>
                  <a:pt x="0" y="0"/>
                </a:moveTo>
                <a:lnTo>
                  <a:pt x="762000" y="0"/>
                </a:lnTo>
                <a:lnTo>
                  <a:pt x="762000" y="533400"/>
                </a:lnTo>
                <a:lnTo>
                  <a:pt x="0" y="533400"/>
                </a:lnTo>
                <a:lnTo>
                  <a:pt x="0" y="0"/>
                </a:lnTo>
                <a:close/>
              </a:path>
            </a:pathLst>
          </a:custGeom>
          <a:blipFill>
            <a:blip r:embed="rId41">
              <a:extLst>
                <a:ext uri="{96DAC541-7B7A-43D3-8B79-37D633B846F1}">
                  <asvg:svgBlip xmlns:asvg="http://schemas.microsoft.com/office/drawing/2016/SVG/main" r:embed="rId4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0">
            <a:off x="12977727" y="3927815"/>
            <a:ext cx="609600" cy="609600"/>
          </a:xfrm>
          <a:custGeom>
            <a:avLst/>
            <a:gdLst/>
            <a:ahLst/>
            <a:cxnLst/>
            <a:rect r="r" b="b" t="t" l="l"/>
            <a:pathLst>
              <a:path h="609600" w="609600">
                <a:moveTo>
                  <a:pt x="0" y="0"/>
                </a:moveTo>
                <a:lnTo>
                  <a:pt x="609600" y="0"/>
                </a:lnTo>
                <a:lnTo>
                  <a:pt x="6096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blipFill>
            <a:blip r:embed="rId43">
              <a:extLst>
                <a:ext uri="{96DAC541-7B7A-43D3-8B79-37D633B846F1}">
                  <asvg:svgBlip xmlns:asvg="http://schemas.microsoft.com/office/drawing/2016/SVG/main" r:embed="rId4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9" id="39"/>
          <p:cNvSpPr txBox="true"/>
          <p:nvPr/>
        </p:nvSpPr>
        <p:spPr>
          <a:xfrm rot="0">
            <a:off x="15068207" y="6005360"/>
            <a:ext cx="1905000" cy="473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Delivered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193054" y="6022029"/>
            <a:ext cx="1905000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98"/>
              </a:lnSpc>
            </a:pPr>
            <a:r>
              <a:rPr lang="en-US" sz="2999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Placed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3968086" y="6005360"/>
            <a:ext cx="1905000" cy="9310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Approved by Vendor(s)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6743109" y="6005360"/>
            <a:ext cx="1905000" cy="473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Assigned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9518142" y="6005360"/>
            <a:ext cx="1905000" cy="473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Picked Up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2293175" y="6005360"/>
            <a:ext cx="1905000" cy="9310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Out for Delivery</a:t>
            </a:r>
          </a:p>
        </p:txBody>
      </p:sp>
      <p:grpSp>
        <p:nvGrpSpPr>
          <p:cNvPr name="Group 45" id="45"/>
          <p:cNvGrpSpPr/>
          <p:nvPr/>
        </p:nvGrpSpPr>
        <p:grpSpPr>
          <a:xfrm rot="0">
            <a:off x="3103797" y="6222578"/>
            <a:ext cx="375256" cy="38100"/>
            <a:chOff x="0" y="0"/>
            <a:chExt cx="500342" cy="508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25400" y="0"/>
              <a:ext cx="449580" cy="50800"/>
            </a:xfrm>
            <a:custGeom>
              <a:avLst/>
              <a:gdLst/>
              <a:ahLst/>
              <a:cxnLst/>
              <a:rect r="r" b="b" t="t" l="l"/>
              <a:pathLst>
                <a:path h="50800" w="449580">
                  <a:moveTo>
                    <a:pt x="0" y="0"/>
                  </a:moveTo>
                  <a:lnTo>
                    <a:pt x="449580" y="0"/>
                  </a:lnTo>
                  <a:lnTo>
                    <a:pt x="44958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4372501" y="6279728"/>
            <a:ext cx="375256" cy="38100"/>
            <a:chOff x="0" y="0"/>
            <a:chExt cx="500342" cy="508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25400" y="0"/>
              <a:ext cx="449580" cy="50800"/>
            </a:xfrm>
            <a:custGeom>
              <a:avLst/>
              <a:gdLst/>
              <a:ahLst/>
              <a:cxnLst/>
              <a:rect r="r" b="b" t="t" l="l"/>
              <a:pathLst>
                <a:path h="50800" w="449580">
                  <a:moveTo>
                    <a:pt x="0" y="0"/>
                  </a:moveTo>
                  <a:lnTo>
                    <a:pt x="449580" y="0"/>
                  </a:lnTo>
                  <a:lnTo>
                    <a:pt x="44958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11642217" y="6241628"/>
            <a:ext cx="375256" cy="38100"/>
            <a:chOff x="0" y="0"/>
            <a:chExt cx="500342" cy="5080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25400" y="0"/>
              <a:ext cx="449580" cy="50800"/>
            </a:xfrm>
            <a:custGeom>
              <a:avLst/>
              <a:gdLst/>
              <a:ahLst/>
              <a:cxnLst/>
              <a:rect r="r" b="b" t="t" l="l"/>
              <a:pathLst>
                <a:path h="50800" w="449580">
                  <a:moveTo>
                    <a:pt x="0" y="0"/>
                  </a:moveTo>
                  <a:lnTo>
                    <a:pt x="449580" y="0"/>
                  </a:lnTo>
                  <a:lnTo>
                    <a:pt x="44958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8822436" y="6260678"/>
            <a:ext cx="375256" cy="38100"/>
            <a:chOff x="0" y="0"/>
            <a:chExt cx="500342" cy="508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25400" y="0"/>
              <a:ext cx="449580" cy="50800"/>
            </a:xfrm>
            <a:custGeom>
              <a:avLst/>
              <a:gdLst/>
              <a:ahLst/>
              <a:cxnLst/>
              <a:rect r="r" b="b" t="t" l="l"/>
              <a:pathLst>
                <a:path h="50800" w="449580">
                  <a:moveTo>
                    <a:pt x="0" y="0"/>
                  </a:moveTo>
                  <a:lnTo>
                    <a:pt x="449580" y="0"/>
                  </a:lnTo>
                  <a:lnTo>
                    <a:pt x="44958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6148788" y="6241628"/>
            <a:ext cx="375256" cy="38100"/>
            <a:chOff x="0" y="0"/>
            <a:chExt cx="500342" cy="5080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25400" y="0"/>
              <a:ext cx="449580" cy="50800"/>
            </a:xfrm>
            <a:custGeom>
              <a:avLst/>
              <a:gdLst/>
              <a:ahLst/>
              <a:cxnLst/>
              <a:rect r="r" b="b" t="t" l="l"/>
              <a:pathLst>
                <a:path h="50800" w="449580">
                  <a:moveTo>
                    <a:pt x="0" y="0"/>
                  </a:moveTo>
                  <a:lnTo>
                    <a:pt x="449580" y="0"/>
                  </a:lnTo>
                  <a:lnTo>
                    <a:pt x="44958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55" id="55"/>
          <p:cNvSpPr/>
          <p:nvPr/>
        </p:nvSpPr>
        <p:spPr>
          <a:xfrm flipH="false" flipV="false" rot="0">
            <a:off x="10825153" y="7073446"/>
            <a:ext cx="5467955" cy="2184854"/>
          </a:xfrm>
          <a:custGeom>
            <a:avLst/>
            <a:gdLst/>
            <a:ahLst/>
            <a:cxnLst/>
            <a:rect r="r" b="b" t="t" l="l"/>
            <a:pathLst>
              <a:path h="2184854" w="5467955">
                <a:moveTo>
                  <a:pt x="0" y="0"/>
                </a:moveTo>
                <a:lnTo>
                  <a:pt x="5467955" y="0"/>
                </a:lnTo>
                <a:lnTo>
                  <a:pt x="5467955" y="2184854"/>
                </a:lnTo>
                <a:lnTo>
                  <a:pt x="0" y="2184854"/>
                </a:lnTo>
                <a:lnTo>
                  <a:pt x="0" y="0"/>
                </a:lnTo>
                <a:close/>
              </a:path>
            </a:pathLst>
          </a:custGeom>
          <a:blipFill>
            <a:blip r:embed="rId45">
              <a:extLst>
                <a:ext uri="{96DAC541-7B7A-43D3-8B79-37D633B846F1}">
                  <asvg:svgBlip xmlns:asvg="http://schemas.microsoft.com/office/drawing/2016/SVG/main" r:embed="rId4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6" id="56"/>
          <p:cNvGrpSpPr/>
          <p:nvPr/>
        </p:nvGrpSpPr>
        <p:grpSpPr>
          <a:xfrm rot="0">
            <a:off x="11109659" y="7469829"/>
            <a:ext cx="4955336" cy="1508362"/>
            <a:chOff x="0" y="0"/>
            <a:chExt cx="6833832" cy="2080161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6833832" cy="2080163"/>
            </a:xfrm>
            <a:custGeom>
              <a:avLst/>
              <a:gdLst/>
              <a:ahLst/>
              <a:cxnLst/>
              <a:rect r="r" b="b" t="t" l="l"/>
              <a:pathLst>
                <a:path h="2080163" w="6833832">
                  <a:moveTo>
                    <a:pt x="0" y="0"/>
                  </a:moveTo>
                  <a:lnTo>
                    <a:pt x="6833832" y="0"/>
                  </a:lnTo>
                  <a:lnTo>
                    <a:pt x="6833832" y="2080163"/>
                  </a:lnTo>
                  <a:lnTo>
                    <a:pt x="0" y="2080163"/>
                  </a:lnTo>
                  <a:close/>
                </a:path>
              </a:pathLst>
            </a:custGeom>
            <a:blipFill>
              <a:blip r:embed="rId47">
                <a:alphaModFix amt="0"/>
              </a:blip>
              <a:stretch>
                <a:fillRect l="0" t="-14013" r="0" b="-14012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0"/>
              <a:ext cx="6833832" cy="20801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754C28"/>
                  </a:solidFill>
                  <a:latin typeface="Gagalin"/>
                  <a:ea typeface="Gagalin"/>
                  <a:cs typeface="Gagalin"/>
                  <a:sym typeface="Gagalin"/>
                </a:rPr>
                <a:t>Additional Scenarios:</a:t>
              </a:r>
            </a:p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754C28"/>
                  </a:solidFill>
                  <a:latin typeface="Gagalin"/>
                  <a:ea typeface="Gagalin"/>
                  <a:cs typeface="Gagalin"/>
                  <a:sym typeface="Gagalin"/>
                </a:rPr>
                <a:t>• Order cancellation</a:t>
              </a:r>
            </a:p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754C28"/>
                  </a:solidFill>
                  <a:latin typeface="Gagalin"/>
                  <a:ea typeface="Gagalin"/>
                  <a:cs typeface="Gagalin"/>
                  <a:sym typeface="Gagalin"/>
                </a:rPr>
                <a:t>    • Partial item rejection</a:t>
              </a:r>
            </a:p>
          </p:txBody>
        </p:sp>
      </p:grpSp>
    </p:spTree>
  </p:cSld>
  <p:clrMapOvr>
    <a:masterClrMapping/>
  </p:clrMapOvr>
  <p:transition spd="slow">
    <p:fade/>
  </p:transition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334900">
            <a:off x="4158297" y="-6006127"/>
            <a:ext cx="9203671" cy="22008778"/>
          </a:xfrm>
          <a:custGeom>
            <a:avLst/>
            <a:gdLst/>
            <a:ahLst/>
            <a:cxnLst/>
            <a:rect r="r" b="b" t="t" l="l"/>
            <a:pathLst>
              <a:path h="22008778" w="9203671">
                <a:moveTo>
                  <a:pt x="0" y="0"/>
                </a:moveTo>
                <a:lnTo>
                  <a:pt x="9203671" y="0"/>
                </a:lnTo>
                <a:lnTo>
                  <a:pt x="9203671" y="22008778"/>
                </a:lnTo>
                <a:lnTo>
                  <a:pt x="0" y="2200877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571082" y="1243753"/>
            <a:ext cx="13973916" cy="1120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05"/>
              </a:lnSpc>
            </a:pPr>
            <a:r>
              <a:rPr lang="en-US" sz="9636">
                <a:solidFill>
                  <a:srgbClr val="517166"/>
                </a:solidFill>
                <a:latin typeface="Londrina Sketch"/>
                <a:ea typeface="Londrina Sketch"/>
                <a:cs typeface="Londrina Sketch"/>
                <a:sym typeface="Londrina Sketch"/>
              </a:rPr>
              <a:t>VENDOR PAYMENT</a:t>
            </a:r>
            <a:r>
              <a:rPr lang="en-US" sz="9636">
                <a:solidFill>
                  <a:srgbClr val="517166"/>
                </a:solidFill>
                <a:latin typeface="Londrina Sketch"/>
                <a:ea typeface="Londrina Sketch"/>
                <a:cs typeface="Londrina Sketch"/>
                <a:sym typeface="Londrina Sketch"/>
              </a:rPr>
              <a:t> SYSTEM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96930" y="2867330"/>
            <a:ext cx="12031907" cy="66020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37"/>
              </a:lnSpc>
            </a:pPr>
            <a:r>
              <a:rPr lang="en-US" sz="3790" spc="98">
                <a:solidFill>
                  <a:srgbClr val="517166"/>
                </a:solidFill>
                <a:latin typeface="Chewy"/>
                <a:ea typeface="Chewy"/>
                <a:cs typeface="Chewy"/>
                <a:sym typeface="Chewy"/>
              </a:rPr>
              <a:t>Payment Calculation:</a:t>
            </a:r>
          </a:p>
          <a:p>
            <a:pPr algn="l" marL="818353" indent="-409177" lvl="1">
              <a:lnSpc>
                <a:spcPts val="5837"/>
              </a:lnSpc>
              <a:buFont typeface="Arial"/>
              <a:buChar char="•"/>
            </a:pPr>
            <a:r>
              <a:rPr lang="en-US" sz="3790" spc="98">
                <a:solidFill>
                  <a:srgbClr val="517166"/>
                </a:solidFill>
                <a:latin typeface="Chewy"/>
                <a:ea typeface="Chewy"/>
                <a:cs typeface="Chewy"/>
                <a:sym typeface="Chewy"/>
              </a:rPr>
              <a:t>• Gross Amount = Price × Quantity</a:t>
            </a:r>
          </a:p>
          <a:p>
            <a:pPr algn="l" marL="818353" indent="-409177" lvl="1">
              <a:lnSpc>
                <a:spcPts val="5837"/>
              </a:lnSpc>
              <a:buFont typeface="Arial"/>
              <a:buChar char="•"/>
            </a:pPr>
            <a:r>
              <a:rPr lang="en-US" sz="3790" spc="98">
                <a:solidFill>
                  <a:srgbClr val="517166"/>
                </a:solidFill>
                <a:latin typeface="Chewy"/>
                <a:ea typeface="Chewy"/>
                <a:cs typeface="Chewy"/>
                <a:sym typeface="Chewy"/>
              </a:rPr>
              <a:t> • Platform Commission = 5%</a:t>
            </a:r>
          </a:p>
          <a:p>
            <a:pPr algn="l" marL="818353" indent="-409177" lvl="1">
              <a:lnSpc>
                <a:spcPts val="5837"/>
              </a:lnSpc>
              <a:buFont typeface="Arial"/>
              <a:buChar char="•"/>
            </a:pPr>
            <a:r>
              <a:rPr lang="en-US" sz="3790" spc="98">
                <a:solidFill>
                  <a:srgbClr val="517166"/>
                </a:solidFill>
                <a:latin typeface="Chewy"/>
                <a:ea typeface="Chewy"/>
                <a:cs typeface="Chewy"/>
                <a:sym typeface="Chewy"/>
              </a:rPr>
              <a:t> • Payment Gateway Fee = 2%</a:t>
            </a:r>
          </a:p>
          <a:p>
            <a:pPr algn="l" marL="818353" indent="-409177" lvl="1">
              <a:lnSpc>
                <a:spcPts val="5837"/>
              </a:lnSpc>
              <a:buFont typeface="Arial"/>
              <a:buChar char="•"/>
            </a:pPr>
            <a:r>
              <a:rPr lang="en-US" sz="3790" spc="98">
                <a:solidFill>
                  <a:srgbClr val="517166"/>
                </a:solidFill>
                <a:latin typeface="Chewy"/>
                <a:ea typeface="Chewy"/>
                <a:cs typeface="Chewy"/>
                <a:sym typeface="Chewy"/>
              </a:rPr>
              <a:t> • Net Payable = Gross − Commission − Fee</a:t>
            </a:r>
          </a:p>
          <a:p>
            <a:pPr algn="l">
              <a:lnSpc>
                <a:spcPts val="5837"/>
              </a:lnSpc>
            </a:pPr>
            <a:r>
              <a:rPr lang="en-US" sz="3790" spc="98">
                <a:solidFill>
                  <a:srgbClr val="517166"/>
                </a:solidFill>
                <a:latin typeface="Chewy"/>
                <a:ea typeface="Chewy"/>
                <a:cs typeface="Chewy"/>
                <a:sym typeface="Chewy"/>
              </a:rPr>
              <a:t>Settlement:</a:t>
            </a:r>
          </a:p>
          <a:p>
            <a:pPr algn="l" marL="818353" indent="-409177" lvl="1">
              <a:lnSpc>
                <a:spcPts val="5837"/>
              </a:lnSpc>
              <a:buFont typeface="Arial"/>
              <a:buChar char="•"/>
            </a:pPr>
            <a:r>
              <a:rPr lang="en-US" sz="3790" spc="98">
                <a:solidFill>
                  <a:srgbClr val="517166"/>
                </a:solidFill>
                <a:latin typeface="Chewy"/>
                <a:ea typeface="Chewy"/>
                <a:cs typeface="Chewy"/>
                <a:sym typeface="Chewy"/>
              </a:rPr>
              <a:t>• VendorLedger records all transactions</a:t>
            </a:r>
          </a:p>
          <a:p>
            <a:pPr algn="l" marL="818353" indent="-409177" lvl="1">
              <a:lnSpc>
                <a:spcPts val="5837"/>
              </a:lnSpc>
              <a:buFont typeface="Arial"/>
              <a:buChar char="•"/>
            </a:pPr>
            <a:r>
              <a:rPr lang="en-US" sz="3790" spc="98">
                <a:solidFill>
                  <a:srgbClr val="517166"/>
                </a:solidFill>
                <a:latin typeface="Chewy"/>
                <a:ea typeface="Chewy"/>
                <a:cs typeface="Chewy"/>
                <a:sym typeface="Chewy"/>
              </a:rPr>
              <a:t> • Admin settles payments weekly</a:t>
            </a:r>
          </a:p>
          <a:p>
            <a:pPr algn="l">
              <a:lnSpc>
                <a:spcPts val="5837"/>
              </a:lnSpc>
            </a:pPr>
          </a:p>
        </p:txBody>
      </p:sp>
      <p:sp>
        <p:nvSpPr>
          <p:cNvPr name="Freeform 6" id="6"/>
          <p:cNvSpPr/>
          <p:nvPr/>
        </p:nvSpPr>
        <p:spPr>
          <a:xfrm flipH="false" flipV="false" rot="-4558807">
            <a:off x="14746168" y="1035276"/>
            <a:ext cx="566344" cy="921566"/>
          </a:xfrm>
          <a:custGeom>
            <a:avLst/>
            <a:gdLst/>
            <a:ahLst/>
            <a:cxnLst/>
            <a:rect r="r" b="b" t="t" l="l"/>
            <a:pathLst>
              <a:path h="921566" w="566344">
                <a:moveTo>
                  <a:pt x="0" y="0"/>
                </a:moveTo>
                <a:lnTo>
                  <a:pt x="566344" y="0"/>
                </a:lnTo>
                <a:lnTo>
                  <a:pt x="566344" y="921566"/>
                </a:lnTo>
                <a:lnTo>
                  <a:pt x="0" y="92156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296930" y="1221906"/>
            <a:ext cx="548305" cy="548305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17166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07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6988675" y="8294573"/>
            <a:ext cx="541249" cy="541249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17166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07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2182941" y="1770211"/>
            <a:ext cx="5657302" cy="5657302"/>
          </a:xfrm>
          <a:custGeom>
            <a:avLst/>
            <a:gdLst/>
            <a:ahLst/>
            <a:cxnLst/>
            <a:rect r="r" b="b" t="t" l="l"/>
            <a:pathLst>
              <a:path h="5657302" w="5657302">
                <a:moveTo>
                  <a:pt x="0" y="0"/>
                </a:moveTo>
                <a:lnTo>
                  <a:pt x="5657302" y="0"/>
                </a:lnTo>
                <a:lnTo>
                  <a:pt x="5657302" y="5657302"/>
                </a:lnTo>
                <a:lnTo>
                  <a:pt x="0" y="565730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fade/>
  </p:transition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334900">
            <a:off x="-713005" y="-12993206"/>
            <a:ext cx="15007276" cy="35886963"/>
          </a:xfrm>
          <a:custGeom>
            <a:avLst/>
            <a:gdLst/>
            <a:ahLst/>
            <a:cxnLst/>
            <a:rect r="r" b="b" t="t" l="l"/>
            <a:pathLst>
              <a:path h="35886963" w="15007276">
                <a:moveTo>
                  <a:pt x="0" y="0"/>
                </a:moveTo>
                <a:lnTo>
                  <a:pt x="15007275" y="0"/>
                </a:lnTo>
                <a:lnTo>
                  <a:pt x="15007275" y="35886964"/>
                </a:lnTo>
                <a:lnTo>
                  <a:pt x="0" y="3588696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839528">
            <a:off x="14920230" y="5891041"/>
            <a:ext cx="1688591" cy="2232512"/>
          </a:xfrm>
          <a:custGeom>
            <a:avLst/>
            <a:gdLst/>
            <a:ahLst/>
            <a:cxnLst/>
            <a:rect r="r" b="b" t="t" l="l"/>
            <a:pathLst>
              <a:path h="2232512" w="1688591">
                <a:moveTo>
                  <a:pt x="0" y="0"/>
                </a:moveTo>
                <a:lnTo>
                  <a:pt x="1688590" y="0"/>
                </a:lnTo>
                <a:lnTo>
                  <a:pt x="1688590" y="2232511"/>
                </a:lnTo>
                <a:lnTo>
                  <a:pt x="0" y="223251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4558807">
            <a:off x="9744203" y="181552"/>
            <a:ext cx="566344" cy="921566"/>
          </a:xfrm>
          <a:custGeom>
            <a:avLst/>
            <a:gdLst/>
            <a:ahLst/>
            <a:cxnLst/>
            <a:rect r="r" b="b" t="t" l="l"/>
            <a:pathLst>
              <a:path h="921566" w="566344">
                <a:moveTo>
                  <a:pt x="0" y="0"/>
                </a:moveTo>
                <a:lnTo>
                  <a:pt x="566344" y="0"/>
                </a:lnTo>
                <a:lnTo>
                  <a:pt x="566344" y="921565"/>
                </a:lnTo>
                <a:lnTo>
                  <a:pt x="0" y="92156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5523391" y="129183"/>
            <a:ext cx="482267" cy="482267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17166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07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5764525" y="9477155"/>
            <a:ext cx="548305" cy="548305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17166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07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28700" y="9477155"/>
            <a:ext cx="541249" cy="541249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17166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07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503950" y="3749343"/>
            <a:ext cx="3215535" cy="3010910"/>
          </a:xfrm>
          <a:custGeom>
            <a:avLst/>
            <a:gdLst/>
            <a:ahLst/>
            <a:cxnLst/>
            <a:rect r="r" b="b" t="t" l="l"/>
            <a:pathLst>
              <a:path h="3010910" w="3215535">
                <a:moveTo>
                  <a:pt x="0" y="0"/>
                </a:moveTo>
                <a:lnTo>
                  <a:pt x="3215535" y="0"/>
                </a:lnTo>
                <a:lnTo>
                  <a:pt x="3215535" y="3010910"/>
                </a:lnTo>
                <a:lnTo>
                  <a:pt x="0" y="301091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3860471" y="4468584"/>
            <a:ext cx="5102907" cy="4583339"/>
          </a:xfrm>
          <a:custGeom>
            <a:avLst/>
            <a:gdLst/>
            <a:ahLst/>
            <a:cxnLst/>
            <a:rect r="r" b="b" t="t" l="l"/>
            <a:pathLst>
              <a:path h="4583339" w="5102907">
                <a:moveTo>
                  <a:pt x="0" y="0"/>
                </a:moveTo>
                <a:lnTo>
                  <a:pt x="5102907" y="0"/>
                </a:lnTo>
                <a:lnTo>
                  <a:pt x="5102907" y="4583339"/>
                </a:lnTo>
                <a:lnTo>
                  <a:pt x="0" y="458333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-9303990">
            <a:off x="6229967" y="9093292"/>
            <a:ext cx="808761" cy="1316031"/>
          </a:xfrm>
          <a:custGeom>
            <a:avLst/>
            <a:gdLst/>
            <a:ahLst/>
            <a:cxnLst/>
            <a:rect r="r" b="b" t="t" l="l"/>
            <a:pathLst>
              <a:path h="1316031" w="808761">
                <a:moveTo>
                  <a:pt x="0" y="0"/>
                </a:moveTo>
                <a:lnTo>
                  <a:pt x="808761" y="0"/>
                </a:lnTo>
                <a:lnTo>
                  <a:pt x="808761" y="1316031"/>
                </a:lnTo>
                <a:lnTo>
                  <a:pt x="0" y="131603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0" y="1025028"/>
            <a:ext cx="18509988" cy="8236945"/>
          </a:xfrm>
          <a:custGeom>
            <a:avLst/>
            <a:gdLst/>
            <a:ahLst/>
            <a:cxnLst/>
            <a:rect r="r" b="b" t="t" l="l"/>
            <a:pathLst>
              <a:path h="8236945" w="18509988">
                <a:moveTo>
                  <a:pt x="0" y="0"/>
                </a:moveTo>
                <a:lnTo>
                  <a:pt x="18509988" y="0"/>
                </a:lnTo>
                <a:lnTo>
                  <a:pt x="18509988" y="8236944"/>
                </a:lnTo>
                <a:lnTo>
                  <a:pt x="0" y="823694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3990110" y="244924"/>
            <a:ext cx="541249" cy="541249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17166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07"/>
                </a:lnSpc>
              </a:pP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-407545" y="642335"/>
            <a:ext cx="18695545" cy="8810275"/>
          </a:xfrm>
          <a:custGeom>
            <a:avLst/>
            <a:gdLst/>
            <a:ahLst/>
            <a:cxnLst/>
            <a:rect r="r" b="b" t="t" l="l"/>
            <a:pathLst>
              <a:path h="8810275" w="18695545">
                <a:moveTo>
                  <a:pt x="0" y="0"/>
                </a:moveTo>
                <a:lnTo>
                  <a:pt x="18695545" y="0"/>
                </a:lnTo>
                <a:lnTo>
                  <a:pt x="18695545" y="8810275"/>
                </a:lnTo>
                <a:lnTo>
                  <a:pt x="0" y="881027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-382276" y="642335"/>
            <a:ext cx="18670276" cy="8821705"/>
          </a:xfrm>
          <a:custGeom>
            <a:avLst/>
            <a:gdLst/>
            <a:ahLst/>
            <a:cxnLst/>
            <a:rect r="r" b="b" t="t" l="l"/>
            <a:pathLst>
              <a:path h="8821705" w="18670276">
                <a:moveTo>
                  <a:pt x="0" y="0"/>
                </a:moveTo>
                <a:lnTo>
                  <a:pt x="18670276" y="0"/>
                </a:lnTo>
                <a:lnTo>
                  <a:pt x="18670276" y="8821705"/>
                </a:lnTo>
                <a:lnTo>
                  <a:pt x="0" y="882170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-955276" y="611450"/>
            <a:ext cx="19555730" cy="8775634"/>
          </a:xfrm>
          <a:custGeom>
            <a:avLst/>
            <a:gdLst/>
            <a:ahLst/>
            <a:cxnLst/>
            <a:rect r="r" b="b" t="t" l="l"/>
            <a:pathLst>
              <a:path h="8775634" w="19555730">
                <a:moveTo>
                  <a:pt x="0" y="0"/>
                </a:moveTo>
                <a:lnTo>
                  <a:pt x="19555731" y="0"/>
                </a:lnTo>
                <a:lnTo>
                  <a:pt x="19555731" y="8775634"/>
                </a:lnTo>
                <a:lnTo>
                  <a:pt x="0" y="8775634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fade/>
  </p:transition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334900">
            <a:off x="4158297" y="-6006127"/>
            <a:ext cx="9203671" cy="22008778"/>
          </a:xfrm>
          <a:custGeom>
            <a:avLst/>
            <a:gdLst/>
            <a:ahLst/>
            <a:cxnLst/>
            <a:rect r="r" b="b" t="t" l="l"/>
            <a:pathLst>
              <a:path h="22008778" w="9203671">
                <a:moveTo>
                  <a:pt x="0" y="0"/>
                </a:moveTo>
                <a:lnTo>
                  <a:pt x="9203671" y="0"/>
                </a:lnTo>
                <a:lnTo>
                  <a:pt x="9203671" y="22008778"/>
                </a:lnTo>
                <a:lnTo>
                  <a:pt x="0" y="2200877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571082" y="1243753"/>
            <a:ext cx="13973916" cy="1120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05"/>
              </a:lnSpc>
            </a:pPr>
            <a:r>
              <a:rPr lang="en-US" sz="9636">
                <a:solidFill>
                  <a:srgbClr val="517166"/>
                </a:solidFill>
                <a:latin typeface="Londrina Sketch"/>
                <a:ea typeface="Londrina Sketch"/>
                <a:cs typeface="Londrina Sketch"/>
                <a:sym typeface="Londrina Sketch"/>
              </a:rPr>
              <a:t>DELIVERY EARNING</a:t>
            </a:r>
            <a:r>
              <a:rPr lang="en-US" sz="9636">
                <a:solidFill>
                  <a:srgbClr val="517166"/>
                </a:solidFill>
                <a:latin typeface="Londrina Sketch"/>
                <a:ea typeface="Londrina Sketch"/>
                <a:cs typeface="Londrina Sketch"/>
                <a:sym typeface="Londrina Sketch"/>
              </a:rPr>
              <a:t>S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-4558807">
            <a:off x="14746168" y="1035276"/>
            <a:ext cx="566344" cy="921566"/>
          </a:xfrm>
          <a:custGeom>
            <a:avLst/>
            <a:gdLst/>
            <a:ahLst/>
            <a:cxnLst/>
            <a:rect r="r" b="b" t="t" l="l"/>
            <a:pathLst>
              <a:path h="921566" w="566344">
                <a:moveTo>
                  <a:pt x="0" y="0"/>
                </a:moveTo>
                <a:lnTo>
                  <a:pt x="566344" y="0"/>
                </a:lnTo>
                <a:lnTo>
                  <a:pt x="566344" y="921566"/>
                </a:lnTo>
                <a:lnTo>
                  <a:pt x="0" y="92156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5984616" y="1882424"/>
            <a:ext cx="482267" cy="482267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17166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07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296930" y="1221906"/>
            <a:ext cx="548305" cy="548305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17166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07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6988675" y="8294573"/>
            <a:ext cx="541249" cy="541249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17166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07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0" y="1496059"/>
            <a:ext cx="5218310" cy="7069139"/>
          </a:xfrm>
          <a:custGeom>
            <a:avLst/>
            <a:gdLst/>
            <a:ahLst/>
            <a:cxnLst/>
            <a:rect r="r" b="b" t="t" l="l"/>
            <a:pathLst>
              <a:path h="7069139" w="5218310">
                <a:moveTo>
                  <a:pt x="0" y="0"/>
                </a:moveTo>
                <a:lnTo>
                  <a:pt x="5218310" y="0"/>
                </a:lnTo>
                <a:lnTo>
                  <a:pt x="5218310" y="7069139"/>
                </a:lnTo>
                <a:lnTo>
                  <a:pt x="0" y="706913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5937048" y="2829274"/>
            <a:ext cx="11944253" cy="4185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04"/>
              </a:lnSpc>
            </a:pPr>
            <a:r>
              <a:rPr lang="en-US" sz="4353" spc="113">
                <a:solidFill>
                  <a:srgbClr val="517166"/>
                </a:solidFill>
                <a:latin typeface="Chewy"/>
                <a:ea typeface="Chewy"/>
                <a:cs typeface="Chewy"/>
                <a:sym typeface="Chewy"/>
              </a:rPr>
              <a:t>Earning Structure:</a:t>
            </a:r>
          </a:p>
          <a:p>
            <a:pPr algn="l" marL="939990" indent="-469995" lvl="1">
              <a:lnSpc>
                <a:spcPts val="6704"/>
              </a:lnSpc>
              <a:buFont typeface="Arial"/>
              <a:buChar char="•"/>
            </a:pPr>
            <a:r>
              <a:rPr lang="en-US" sz="4353" spc="113">
                <a:solidFill>
                  <a:srgbClr val="517166"/>
                </a:solidFill>
                <a:latin typeface="Chewy"/>
                <a:ea typeface="Chewy"/>
                <a:cs typeface="Chewy"/>
                <a:sym typeface="Chewy"/>
              </a:rPr>
              <a:t>₹25 fixed earning per delivery</a:t>
            </a:r>
          </a:p>
          <a:p>
            <a:pPr algn="l" marL="939990" indent="-469995" lvl="1">
              <a:lnSpc>
                <a:spcPts val="6704"/>
              </a:lnSpc>
              <a:buFont typeface="Arial"/>
              <a:buChar char="•"/>
            </a:pPr>
            <a:r>
              <a:rPr lang="en-US" sz="4353" spc="113">
                <a:solidFill>
                  <a:srgbClr val="517166"/>
                </a:solidFill>
                <a:latin typeface="Chewy"/>
                <a:ea typeface="Chewy"/>
                <a:cs typeface="Chewy"/>
                <a:sym typeface="Chewy"/>
              </a:rPr>
              <a:t>Additional 2% of order value</a:t>
            </a:r>
          </a:p>
          <a:p>
            <a:pPr algn="l" marL="939990" indent="-469995" lvl="1">
              <a:lnSpc>
                <a:spcPts val="6704"/>
              </a:lnSpc>
              <a:buFont typeface="Arial"/>
              <a:buChar char="•"/>
            </a:pPr>
            <a:r>
              <a:rPr lang="en-US" sz="4353" spc="113">
                <a:solidFill>
                  <a:srgbClr val="517166"/>
                </a:solidFill>
                <a:latin typeface="Chewy"/>
                <a:ea typeface="Chewy"/>
                <a:cs typeface="Chewy"/>
                <a:sym typeface="Chewy"/>
              </a:rPr>
              <a:t> Earnings visible on delivery dashboard</a:t>
            </a:r>
          </a:p>
          <a:p>
            <a:pPr algn="l" marL="939990" indent="-469995" lvl="1">
              <a:lnSpc>
                <a:spcPts val="6704"/>
              </a:lnSpc>
              <a:buFont typeface="Arial"/>
              <a:buChar char="•"/>
            </a:pPr>
            <a:r>
              <a:rPr lang="en-US" sz="4353" spc="113">
                <a:solidFill>
                  <a:srgbClr val="517166"/>
                </a:solidFill>
                <a:latin typeface="Chewy"/>
                <a:ea typeface="Chewy"/>
                <a:cs typeface="Chewy"/>
                <a:sym typeface="Chewy"/>
              </a:rPr>
              <a:t>Real-time ratings and delivery history</a:t>
            </a:r>
          </a:p>
        </p:txBody>
      </p:sp>
    </p:spTree>
  </p:cSld>
  <p:clrMapOvr>
    <a:masterClrMapping/>
  </p:clrMapOvr>
  <p:transition spd="slow">
    <p:fade/>
  </p:transition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334900">
            <a:off x="4158297" y="-6006127"/>
            <a:ext cx="9203671" cy="22008778"/>
          </a:xfrm>
          <a:custGeom>
            <a:avLst/>
            <a:gdLst/>
            <a:ahLst/>
            <a:cxnLst/>
            <a:rect r="r" b="b" t="t" l="l"/>
            <a:pathLst>
              <a:path h="22008778" w="9203671">
                <a:moveTo>
                  <a:pt x="0" y="0"/>
                </a:moveTo>
                <a:lnTo>
                  <a:pt x="9203671" y="0"/>
                </a:lnTo>
                <a:lnTo>
                  <a:pt x="9203671" y="22008778"/>
                </a:lnTo>
                <a:lnTo>
                  <a:pt x="0" y="2200877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409282" y="1243753"/>
            <a:ext cx="12297516" cy="21074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05"/>
              </a:lnSpc>
            </a:pPr>
            <a:r>
              <a:rPr lang="en-US" sz="9636">
                <a:solidFill>
                  <a:srgbClr val="517166"/>
                </a:solidFill>
                <a:latin typeface="Londrina Sketch"/>
                <a:ea typeface="Londrina Sketch"/>
                <a:cs typeface="Londrina Sketch"/>
                <a:sym typeface="Londrina Sketch"/>
              </a:rPr>
              <a:t>SECURITY, NOTIFICATIONS &amp; USER EXPERIENCE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-4558807">
            <a:off x="14746168" y="1035276"/>
            <a:ext cx="566344" cy="921566"/>
          </a:xfrm>
          <a:custGeom>
            <a:avLst/>
            <a:gdLst/>
            <a:ahLst/>
            <a:cxnLst/>
            <a:rect r="r" b="b" t="t" l="l"/>
            <a:pathLst>
              <a:path h="921566" w="566344">
                <a:moveTo>
                  <a:pt x="0" y="0"/>
                </a:moveTo>
                <a:lnTo>
                  <a:pt x="566344" y="0"/>
                </a:lnTo>
                <a:lnTo>
                  <a:pt x="566344" y="921566"/>
                </a:lnTo>
                <a:lnTo>
                  <a:pt x="0" y="92156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5984616" y="1882424"/>
            <a:ext cx="482267" cy="482267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17166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07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296930" y="1221906"/>
            <a:ext cx="548305" cy="548305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17166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07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6988675" y="8294573"/>
            <a:ext cx="541249" cy="541249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17166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07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3174699" y="3491398"/>
            <a:ext cx="2767136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Earning Structure: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893052" y="3136621"/>
            <a:ext cx="7330430" cy="5584460"/>
          </a:xfrm>
          <a:custGeom>
            <a:avLst/>
            <a:gdLst/>
            <a:ahLst/>
            <a:cxnLst/>
            <a:rect r="r" b="b" t="t" l="l"/>
            <a:pathLst>
              <a:path h="5584460" w="7330430">
                <a:moveTo>
                  <a:pt x="0" y="0"/>
                </a:moveTo>
                <a:lnTo>
                  <a:pt x="7330431" y="0"/>
                </a:lnTo>
                <a:lnTo>
                  <a:pt x="7330431" y="5584459"/>
                </a:lnTo>
                <a:lnTo>
                  <a:pt x="0" y="558445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-204" r="0" b="-204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107679" y="4541129"/>
            <a:ext cx="637003" cy="348367"/>
          </a:xfrm>
          <a:custGeom>
            <a:avLst/>
            <a:gdLst/>
            <a:ahLst/>
            <a:cxnLst/>
            <a:rect r="r" b="b" t="t" l="l"/>
            <a:pathLst>
              <a:path h="348367" w="637003">
                <a:moveTo>
                  <a:pt x="0" y="0"/>
                </a:moveTo>
                <a:lnTo>
                  <a:pt x="637003" y="0"/>
                </a:lnTo>
                <a:lnTo>
                  <a:pt x="637003" y="348368"/>
                </a:lnTo>
                <a:lnTo>
                  <a:pt x="0" y="34836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893052" y="3262798"/>
            <a:ext cx="7330430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Chewy"/>
                <a:ea typeface="Chewy"/>
                <a:cs typeface="Chewy"/>
                <a:sym typeface="Chewy"/>
              </a:rPr>
              <a:t>Security &amp; Validation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07679" y="4431154"/>
            <a:ext cx="7330430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80"/>
              </a:lnSpc>
            </a:pPr>
            <a:r>
              <a:rPr lang="en-US" sz="2700">
                <a:solidFill>
                  <a:srgbClr val="FFFFFF"/>
                </a:solidFill>
                <a:latin typeface="Chewy"/>
                <a:ea typeface="Chewy"/>
                <a:cs typeface="Chewy"/>
                <a:sym typeface="Chewy"/>
              </a:rPr>
              <a:t> Secure authentication and login validation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93052" y="5425935"/>
            <a:ext cx="7330430" cy="502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80"/>
              </a:lnSpc>
            </a:pPr>
            <a:r>
              <a:rPr lang="en-US" sz="2700">
                <a:solidFill>
                  <a:srgbClr val="FFFFFF"/>
                </a:solidFill>
                <a:latin typeface="Chewy"/>
                <a:ea typeface="Chewy"/>
                <a:cs typeface="Chewy"/>
                <a:sym typeface="Chewy"/>
              </a:rPr>
              <a:t>Role-based access control for all users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1127891" y="5580488"/>
            <a:ext cx="637003" cy="348367"/>
          </a:xfrm>
          <a:custGeom>
            <a:avLst/>
            <a:gdLst/>
            <a:ahLst/>
            <a:cxnLst/>
            <a:rect r="r" b="b" t="t" l="l"/>
            <a:pathLst>
              <a:path h="348367" w="637003">
                <a:moveTo>
                  <a:pt x="0" y="0"/>
                </a:moveTo>
                <a:lnTo>
                  <a:pt x="637003" y="0"/>
                </a:lnTo>
                <a:lnTo>
                  <a:pt x="637003" y="348367"/>
                </a:lnTo>
                <a:lnTo>
                  <a:pt x="0" y="34836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127891" y="6698723"/>
            <a:ext cx="637003" cy="348367"/>
          </a:xfrm>
          <a:custGeom>
            <a:avLst/>
            <a:gdLst/>
            <a:ahLst/>
            <a:cxnLst/>
            <a:rect r="r" b="b" t="t" l="l"/>
            <a:pathLst>
              <a:path h="348367" w="637003">
                <a:moveTo>
                  <a:pt x="0" y="0"/>
                </a:moveTo>
                <a:lnTo>
                  <a:pt x="637003" y="0"/>
                </a:lnTo>
                <a:lnTo>
                  <a:pt x="637003" y="348367"/>
                </a:lnTo>
                <a:lnTo>
                  <a:pt x="0" y="34836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127891" y="7830293"/>
            <a:ext cx="637003" cy="348367"/>
          </a:xfrm>
          <a:custGeom>
            <a:avLst/>
            <a:gdLst/>
            <a:ahLst/>
            <a:cxnLst/>
            <a:rect r="r" b="b" t="t" l="l"/>
            <a:pathLst>
              <a:path h="348367" w="637003">
                <a:moveTo>
                  <a:pt x="0" y="0"/>
                </a:moveTo>
                <a:lnTo>
                  <a:pt x="637003" y="0"/>
                </a:lnTo>
                <a:lnTo>
                  <a:pt x="637003" y="348367"/>
                </a:lnTo>
                <a:lnTo>
                  <a:pt x="0" y="34836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964737" y="6633334"/>
            <a:ext cx="7330430" cy="502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80"/>
              </a:lnSpc>
            </a:pPr>
            <a:r>
              <a:rPr lang="en-US" sz="2700">
                <a:solidFill>
                  <a:srgbClr val="FFFFFF"/>
                </a:solidFill>
                <a:latin typeface="Chewy"/>
                <a:ea typeface="Chewy"/>
                <a:cs typeface="Chewy"/>
                <a:sym typeface="Chewy"/>
              </a:rPr>
              <a:t>OTP-based delivery confirmation system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897092" y="7717279"/>
            <a:ext cx="6227445" cy="979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80"/>
              </a:lnSpc>
            </a:pPr>
            <a:r>
              <a:rPr lang="en-US" sz="2700">
                <a:solidFill>
                  <a:srgbClr val="FFFFFF"/>
                </a:solidFill>
                <a:latin typeface="Chewy"/>
                <a:ea typeface="Chewy"/>
                <a:cs typeface="Chewy"/>
                <a:sym typeface="Chewy"/>
              </a:rPr>
              <a:t>Backend input validation to prevent invalid requests</a:t>
            </a:r>
          </a:p>
        </p:txBody>
      </p:sp>
      <p:sp>
        <p:nvSpPr>
          <p:cNvPr name="Freeform 26" id="26"/>
          <p:cNvSpPr/>
          <p:nvPr/>
        </p:nvSpPr>
        <p:spPr>
          <a:xfrm flipH="false" flipV="false" rot="0">
            <a:off x="8895319" y="3200843"/>
            <a:ext cx="7330430" cy="5584460"/>
          </a:xfrm>
          <a:custGeom>
            <a:avLst/>
            <a:gdLst/>
            <a:ahLst/>
            <a:cxnLst/>
            <a:rect r="r" b="b" t="t" l="l"/>
            <a:pathLst>
              <a:path h="5584460" w="7330430">
                <a:moveTo>
                  <a:pt x="0" y="0"/>
                </a:moveTo>
                <a:lnTo>
                  <a:pt x="7330430" y="0"/>
                </a:lnTo>
                <a:lnTo>
                  <a:pt x="7330430" y="5584460"/>
                </a:lnTo>
                <a:lnTo>
                  <a:pt x="0" y="558446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-204" r="0" b="-204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8895319" y="3262798"/>
            <a:ext cx="7330430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Chewy"/>
                <a:ea typeface="Chewy"/>
                <a:cs typeface="Chewy"/>
                <a:sym typeface="Chewy"/>
              </a:rPr>
              <a:t>Notifications &amp; User Experience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471658" y="4590402"/>
            <a:ext cx="6452540" cy="979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80"/>
              </a:lnSpc>
            </a:pPr>
            <a:r>
              <a:rPr lang="en-US" sz="2700">
                <a:solidFill>
                  <a:srgbClr val="FFFFFF"/>
                </a:solidFill>
                <a:latin typeface="Chewy"/>
                <a:ea typeface="Chewy"/>
                <a:cs typeface="Chewy"/>
                <a:sym typeface="Chewy"/>
              </a:rPr>
              <a:t>Email notifications for order and delivery updates</a:t>
            </a:r>
          </a:p>
        </p:txBody>
      </p:sp>
      <p:sp>
        <p:nvSpPr>
          <p:cNvPr name="Freeform 29" id="29"/>
          <p:cNvSpPr/>
          <p:nvPr/>
        </p:nvSpPr>
        <p:spPr>
          <a:xfrm flipH="false" flipV="false" rot="0">
            <a:off x="9032717" y="7655776"/>
            <a:ext cx="637003" cy="348367"/>
          </a:xfrm>
          <a:custGeom>
            <a:avLst/>
            <a:gdLst/>
            <a:ahLst/>
            <a:cxnLst/>
            <a:rect r="r" b="b" t="t" l="l"/>
            <a:pathLst>
              <a:path h="348367" w="637003">
                <a:moveTo>
                  <a:pt x="0" y="0"/>
                </a:moveTo>
                <a:lnTo>
                  <a:pt x="637004" y="0"/>
                </a:lnTo>
                <a:lnTo>
                  <a:pt x="637004" y="348367"/>
                </a:lnTo>
                <a:lnTo>
                  <a:pt x="0" y="34836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9032717" y="6743309"/>
            <a:ext cx="637003" cy="348367"/>
          </a:xfrm>
          <a:custGeom>
            <a:avLst/>
            <a:gdLst/>
            <a:ahLst/>
            <a:cxnLst/>
            <a:rect r="r" b="b" t="t" l="l"/>
            <a:pathLst>
              <a:path h="348367" w="637003">
                <a:moveTo>
                  <a:pt x="0" y="0"/>
                </a:moveTo>
                <a:lnTo>
                  <a:pt x="637004" y="0"/>
                </a:lnTo>
                <a:lnTo>
                  <a:pt x="637004" y="348368"/>
                </a:lnTo>
                <a:lnTo>
                  <a:pt x="0" y="34836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9032717" y="5827766"/>
            <a:ext cx="637003" cy="348367"/>
          </a:xfrm>
          <a:custGeom>
            <a:avLst/>
            <a:gdLst/>
            <a:ahLst/>
            <a:cxnLst/>
            <a:rect r="r" b="b" t="t" l="l"/>
            <a:pathLst>
              <a:path h="348367" w="637003">
                <a:moveTo>
                  <a:pt x="0" y="0"/>
                </a:moveTo>
                <a:lnTo>
                  <a:pt x="637004" y="0"/>
                </a:lnTo>
                <a:lnTo>
                  <a:pt x="637004" y="348368"/>
                </a:lnTo>
                <a:lnTo>
                  <a:pt x="0" y="34836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9032717" y="4655801"/>
            <a:ext cx="637003" cy="348367"/>
          </a:xfrm>
          <a:custGeom>
            <a:avLst/>
            <a:gdLst/>
            <a:ahLst/>
            <a:cxnLst/>
            <a:rect r="r" b="b" t="t" l="l"/>
            <a:pathLst>
              <a:path h="348367" w="637003">
                <a:moveTo>
                  <a:pt x="0" y="0"/>
                </a:moveTo>
                <a:lnTo>
                  <a:pt x="637004" y="0"/>
                </a:lnTo>
                <a:lnTo>
                  <a:pt x="637004" y="348367"/>
                </a:lnTo>
                <a:lnTo>
                  <a:pt x="0" y="34836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3" id="33"/>
          <p:cNvSpPr txBox="true"/>
          <p:nvPr/>
        </p:nvSpPr>
        <p:spPr>
          <a:xfrm rot="0">
            <a:off x="9351214" y="5717800"/>
            <a:ext cx="6745176" cy="502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80"/>
              </a:lnSpc>
            </a:pPr>
            <a:r>
              <a:rPr lang="en-US" sz="2700">
                <a:solidFill>
                  <a:srgbClr val="FFFFFF"/>
                </a:solidFill>
                <a:latin typeface="Chewy"/>
                <a:ea typeface="Chewy"/>
                <a:cs typeface="Chewy"/>
                <a:sym typeface="Chewy"/>
              </a:rPr>
              <a:t> Dashboard alerts for real-time order status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8438119" y="6677920"/>
            <a:ext cx="7330430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80"/>
              </a:lnSpc>
            </a:pPr>
            <a:r>
              <a:rPr lang="en-US" sz="2700">
                <a:solidFill>
                  <a:srgbClr val="FFFFFF"/>
                </a:solidFill>
                <a:latin typeface="Chewy"/>
                <a:ea typeface="Chewy"/>
                <a:cs typeface="Chewy"/>
                <a:sym typeface="Chewy"/>
              </a:rPr>
              <a:t>Live delivery tracking interface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531227" y="7627087"/>
            <a:ext cx="6058614" cy="979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80"/>
              </a:lnSpc>
            </a:pPr>
            <a:r>
              <a:rPr lang="en-US" sz="2700">
                <a:solidFill>
                  <a:srgbClr val="FFFFFF"/>
                </a:solidFill>
                <a:latin typeface="Chewy"/>
                <a:ea typeface="Chewy"/>
                <a:cs typeface="Chewy"/>
                <a:sym typeface="Chewy"/>
              </a:rPr>
              <a:t>Ratings and feedback system for service quality</a:t>
            </a:r>
          </a:p>
        </p:txBody>
      </p:sp>
      <p:sp>
        <p:nvSpPr>
          <p:cNvPr name="Freeform 36" id="36"/>
          <p:cNvSpPr/>
          <p:nvPr/>
        </p:nvSpPr>
        <p:spPr>
          <a:xfrm flipH="false" flipV="false" rot="0">
            <a:off x="9032717" y="6787886"/>
            <a:ext cx="637003" cy="348367"/>
          </a:xfrm>
          <a:custGeom>
            <a:avLst/>
            <a:gdLst/>
            <a:ahLst/>
            <a:cxnLst/>
            <a:rect r="r" b="b" t="t" l="l"/>
            <a:pathLst>
              <a:path h="348367" w="637003">
                <a:moveTo>
                  <a:pt x="0" y="0"/>
                </a:moveTo>
                <a:lnTo>
                  <a:pt x="637004" y="0"/>
                </a:lnTo>
                <a:lnTo>
                  <a:pt x="637004" y="348368"/>
                </a:lnTo>
                <a:lnTo>
                  <a:pt x="0" y="34836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1127891" y="6680959"/>
            <a:ext cx="637003" cy="348367"/>
          </a:xfrm>
          <a:custGeom>
            <a:avLst/>
            <a:gdLst/>
            <a:ahLst/>
            <a:cxnLst/>
            <a:rect r="r" b="b" t="t" l="l"/>
            <a:pathLst>
              <a:path h="348367" w="637003">
                <a:moveTo>
                  <a:pt x="0" y="0"/>
                </a:moveTo>
                <a:lnTo>
                  <a:pt x="637003" y="0"/>
                </a:lnTo>
                <a:lnTo>
                  <a:pt x="637003" y="348367"/>
                </a:lnTo>
                <a:lnTo>
                  <a:pt x="0" y="34836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0">
            <a:off x="1127891" y="4538081"/>
            <a:ext cx="637003" cy="348367"/>
          </a:xfrm>
          <a:custGeom>
            <a:avLst/>
            <a:gdLst/>
            <a:ahLst/>
            <a:cxnLst/>
            <a:rect r="r" b="b" t="t" l="l"/>
            <a:pathLst>
              <a:path h="348367" w="637003">
                <a:moveTo>
                  <a:pt x="0" y="0"/>
                </a:moveTo>
                <a:lnTo>
                  <a:pt x="637003" y="0"/>
                </a:lnTo>
                <a:lnTo>
                  <a:pt x="637003" y="348368"/>
                </a:lnTo>
                <a:lnTo>
                  <a:pt x="0" y="34836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fade/>
  </p:transition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334900">
            <a:off x="-713005" y="-12993206"/>
            <a:ext cx="15007276" cy="35886963"/>
          </a:xfrm>
          <a:custGeom>
            <a:avLst/>
            <a:gdLst/>
            <a:ahLst/>
            <a:cxnLst/>
            <a:rect r="r" b="b" t="t" l="l"/>
            <a:pathLst>
              <a:path h="35886963" w="15007276">
                <a:moveTo>
                  <a:pt x="0" y="0"/>
                </a:moveTo>
                <a:lnTo>
                  <a:pt x="15007275" y="0"/>
                </a:lnTo>
                <a:lnTo>
                  <a:pt x="15007275" y="35886964"/>
                </a:lnTo>
                <a:lnTo>
                  <a:pt x="0" y="3588696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839528">
            <a:off x="14920230" y="5891041"/>
            <a:ext cx="1688591" cy="2232512"/>
          </a:xfrm>
          <a:custGeom>
            <a:avLst/>
            <a:gdLst/>
            <a:ahLst/>
            <a:cxnLst/>
            <a:rect r="r" b="b" t="t" l="l"/>
            <a:pathLst>
              <a:path h="2232512" w="1688591">
                <a:moveTo>
                  <a:pt x="0" y="0"/>
                </a:moveTo>
                <a:lnTo>
                  <a:pt x="1688590" y="0"/>
                </a:lnTo>
                <a:lnTo>
                  <a:pt x="1688590" y="2232511"/>
                </a:lnTo>
                <a:lnTo>
                  <a:pt x="0" y="223251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4558807">
            <a:off x="9744203" y="181552"/>
            <a:ext cx="566344" cy="921566"/>
          </a:xfrm>
          <a:custGeom>
            <a:avLst/>
            <a:gdLst/>
            <a:ahLst/>
            <a:cxnLst/>
            <a:rect r="r" b="b" t="t" l="l"/>
            <a:pathLst>
              <a:path h="921566" w="566344">
                <a:moveTo>
                  <a:pt x="0" y="0"/>
                </a:moveTo>
                <a:lnTo>
                  <a:pt x="566344" y="0"/>
                </a:lnTo>
                <a:lnTo>
                  <a:pt x="566344" y="921565"/>
                </a:lnTo>
                <a:lnTo>
                  <a:pt x="0" y="92156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5523391" y="129183"/>
            <a:ext cx="482267" cy="482267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17166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07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5764525" y="9477155"/>
            <a:ext cx="548305" cy="548305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17166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07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28700" y="9477155"/>
            <a:ext cx="541249" cy="541249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17166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07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-9303990">
            <a:off x="6229967" y="9093292"/>
            <a:ext cx="808761" cy="1316031"/>
          </a:xfrm>
          <a:custGeom>
            <a:avLst/>
            <a:gdLst/>
            <a:ahLst/>
            <a:cxnLst/>
            <a:rect r="r" b="b" t="t" l="l"/>
            <a:pathLst>
              <a:path h="1316031" w="808761">
                <a:moveTo>
                  <a:pt x="0" y="0"/>
                </a:moveTo>
                <a:lnTo>
                  <a:pt x="808761" y="0"/>
                </a:lnTo>
                <a:lnTo>
                  <a:pt x="808761" y="1316031"/>
                </a:lnTo>
                <a:lnTo>
                  <a:pt x="0" y="131603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3990110" y="244924"/>
            <a:ext cx="541249" cy="541249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17166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07"/>
                </a:lnSpc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7866553" y="0"/>
            <a:ext cx="4321645" cy="10397688"/>
          </a:xfrm>
          <a:custGeom>
            <a:avLst/>
            <a:gdLst/>
            <a:ahLst/>
            <a:cxnLst/>
            <a:rect r="r" b="b" t="t" l="l"/>
            <a:pathLst>
              <a:path h="10397688" w="4321645">
                <a:moveTo>
                  <a:pt x="0" y="0"/>
                </a:moveTo>
                <a:lnTo>
                  <a:pt x="4321645" y="0"/>
                </a:lnTo>
                <a:lnTo>
                  <a:pt x="4321645" y="10397688"/>
                </a:lnTo>
                <a:lnTo>
                  <a:pt x="0" y="1039768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3731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316233" y="2643957"/>
            <a:ext cx="6318114" cy="5109775"/>
          </a:xfrm>
          <a:custGeom>
            <a:avLst/>
            <a:gdLst/>
            <a:ahLst/>
            <a:cxnLst/>
            <a:rect r="r" b="b" t="t" l="l"/>
            <a:pathLst>
              <a:path h="5109775" w="6318114">
                <a:moveTo>
                  <a:pt x="0" y="0"/>
                </a:moveTo>
                <a:lnTo>
                  <a:pt x="6318114" y="0"/>
                </a:lnTo>
                <a:lnTo>
                  <a:pt x="6318114" y="5109775"/>
                </a:lnTo>
                <a:lnTo>
                  <a:pt x="0" y="510977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4188193" y="4668734"/>
            <a:ext cx="3172137" cy="4114800"/>
          </a:xfrm>
          <a:custGeom>
            <a:avLst/>
            <a:gdLst/>
            <a:ahLst/>
            <a:cxnLst/>
            <a:rect r="r" b="b" t="t" l="l"/>
            <a:pathLst>
              <a:path h="4114800" w="3172137">
                <a:moveTo>
                  <a:pt x="0" y="0"/>
                </a:moveTo>
                <a:lnTo>
                  <a:pt x="3172137" y="0"/>
                </a:lnTo>
                <a:lnTo>
                  <a:pt x="317213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fade/>
  </p:transition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334900">
            <a:off x="4158297" y="-6006127"/>
            <a:ext cx="9203671" cy="22008778"/>
          </a:xfrm>
          <a:custGeom>
            <a:avLst/>
            <a:gdLst/>
            <a:ahLst/>
            <a:cxnLst/>
            <a:rect r="r" b="b" t="t" l="l"/>
            <a:pathLst>
              <a:path h="22008778" w="9203671">
                <a:moveTo>
                  <a:pt x="0" y="0"/>
                </a:moveTo>
                <a:lnTo>
                  <a:pt x="9203671" y="0"/>
                </a:lnTo>
                <a:lnTo>
                  <a:pt x="9203671" y="22008778"/>
                </a:lnTo>
                <a:lnTo>
                  <a:pt x="0" y="2200877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571082" y="1243753"/>
            <a:ext cx="13973916" cy="1120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05"/>
              </a:lnSpc>
            </a:pPr>
            <a:r>
              <a:rPr lang="en-US" sz="9636">
                <a:solidFill>
                  <a:srgbClr val="517166"/>
                </a:solidFill>
                <a:latin typeface="Londrina Sketch"/>
                <a:ea typeface="Londrina Sketch"/>
                <a:cs typeface="Londrina Sketch"/>
                <a:sym typeface="Londrina Sketch"/>
              </a:rPr>
              <a:t>CHALLENGES &amp; SOLUTION</a:t>
            </a:r>
            <a:r>
              <a:rPr lang="en-US" sz="9636">
                <a:solidFill>
                  <a:srgbClr val="517166"/>
                </a:solidFill>
                <a:latin typeface="Londrina Sketch"/>
                <a:ea typeface="Londrina Sketch"/>
                <a:cs typeface="Londrina Sketch"/>
                <a:sym typeface="Londrina Sketch"/>
              </a:rPr>
              <a:t>S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-4558807">
            <a:off x="14746168" y="1035276"/>
            <a:ext cx="566344" cy="921566"/>
          </a:xfrm>
          <a:custGeom>
            <a:avLst/>
            <a:gdLst/>
            <a:ahLst/>
            <a:cxnLst/>
            <a:rect r="r" b="b" t="t" l="l"/>
            <a:pathLst>
              <a:path h="921566" w="566344">
                <a:moveTo>
                  <a:pt x="0" y="0"/>
                </a:moveTo>
                <a:lnTo>
                  <a:pt x="566344" y="0"/>
                </a:lnTo>
                <a:lnTo>
                  <a:pt x="566344" y="921566"/>
                </a:lnTo>
                <a:lnTo>
                  <a:pt x="0" y="92156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5984616" y="1882424"/>
            <a:ext cx="482267" cy="482267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17166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07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296930" y="1221906"/>
            <a:ext cx="548305" cy="548305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17166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07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6988675" y="8294573"/>
            <a:ext cx="541249" cy="541249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17166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07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3578577" y="3247485"/>
            <a:ext cx="2767136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Earning Structure: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1296930" y="2892708"/>
            <a:ext cx="7330430" cy="5584460"/>
          </a:xfrm>
          <a:custGeom>
            <a:avLst/>
            <a:gdLst/>
            <a:ahLst/>
            <a:cxnLst/>
            <a:rect r="r" b="b" t="t" l="l"/>
            <a:pathLst>
              <a:path h="5584460" w="7330430">
                <a:moveTo>
                  <a:pt x="0" y="0"/>
                </a:moveTo>
                <a:lnTo>
                  <a:pt x="7330430" y="0"/>
                </a:lnTo>
                <a:lnTo>
                  <a:pt x="7330430" y="5584460"/>
                </a:lnTo>
                <a:lnTo>
                  <a:pt x="0" y="558446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-204" r="0" b="-204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511556" y="4297217"/>
            <a:ext cx="637003" cy="348367"/>
          </a:xfrm>
          <a:custGeom>
            <a:avLst/>
            <a:gdLst/>
            <a:ahLst/>
            <a:cxnLst/>
            <a:rect r="r" b="b" t="t" l="l"/>
            <a:pathLst>
              <a:path h="348367" w="637003">
                <a:moveTo>
                  <a:pt x="0" y="0"/>
                </a:moveTo>
                <a:lnTo>
                  <a:pt x="637004" y="0"/>
                </a:lnTo>
                <a:lnTo>
                  <a:pt x="637004" y="348367"/>
                </a:lnTo>
                <a:lnTo>
                  <a:pt x="0" y="34836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296930" y="5182022"/>
            <a:ext cx="7330430" cy="502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80"/>
              </a:lnSpc>
            </a:pPr>
            <a:r>
              <a:rPr lang="en-US" sz="2700">
                <a:solidFill>
                  <a:srgbClr val="FFFFFF"/>
                </a:solidFill>
                <a:latin typeface="Chewy"/>
                <a:ea typeface="Chewy"/>
                <a:cs typeface="Chewy"/>
                <a:sym typeface="Chewy"/>
              </a:rPr>
              <a:t> Delivery partner selection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1531768" y="5336575"/>
            <a:ext cx="637003" cy="348367"/>
          </a:xfrm>
          <a:custGeom>
            <a:avLst/>
            <a:gdLst/>
            <a:ahLst/>
            <a:cxnLst/>
            <a:rect r="r" b="b" t="t" l="l"/>
            <a:pathLst>
              <a:path h="348367" w="637003">
                <a:moveTo>
                  <a:pt x="0" y="0"/>
                </a:moveTo>
                <a:lnTo>
                  <a:pt x="637004" y="0"/>
                </a:lnTo>
                <a:lnTo>
                  <a:pt x="637004" y="348367"/>
                </a:lnTo>
                <a:lnTo>
                  <a:pt x="0" y="34836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531768" y="6454810"/>
            <a:ext cx="637003" cy="348367"/>
          </a:xfrm>
          <a:custGeom>
            <a:avLst/>
            <a:gdLst/>
            <a:ahLst/>
            <a:cxnLst/>
            <a:rect r="r" b="b" t="t" l="l"/>
            <a:pathLst>
              <a:path h="348367" w="637003">
                <a:moveTo>
                  <a:pt x="0" y="0"/>
                </a:moveTo>
                <a:lnTo>
                  <a:pt x="637004" y="0"/>
                </a:lnTo>
                <a:lnTo>
                  <a:pt x="637004" y="348367"/>
                </a:lnTo>
                <a:lnTo>
                  <a:pt x="0" y="34836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531768" y="7586380"/>
            <a:ext cx="637003" cy="348367"/>
          </a:xfrm>
          <a:custGeom>
            <a:avLst/>
            <a:gdLst/>
            <a:ahLst/>
            <a:cxnLst/>
            <a:rect r="r" b="b" t="t" l="l"/>
            <a:pathLst>
              <a:path h="348367" w="637003">
                <a:moveTo>
                  <a:pt x="0" y="0"/>
                </a:moveTo>
                <a:lnTo>
                  <a:pt x="637004" y="0"/>
                </a:lnTo>
                <a:lnTo>
                  <a:pt x="637004" y="348367"/>
                </a:lnTo>
                <a:lnTo>
                  <a:pt x="0" y="34836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9299196" y="2980738"/>
            <a:ext cx="7330430" cy="5584460"/>
          </a:xfrm>
          <a:custGeom>
            <a:avLst/>
            <a:gdLst/>
            <a:ahLst/>
            <a:cxnLst/>
            <a:rect r="r" b="b" t="t" l="l"/>
            <a:pathLst>
              <a:path h="5584460" w="7330430">
                <a:moveTo>
                  <a:pt x="0" y="0"/>
                </a:moveTo>
                <a:lnTo>
                  <a:pt x="7330431" y="0"/>
                </a:lnTo>
                <a:lnTo>
                  <a:pt x="7330431" y="5584460"/>
                </a:lnTo>
                <a:lnTo>
                  <a:pt x="0" y="558446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-204" r="0" b="-204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8997644" y="4301912"/>
            <a:ext cx="6452540" cy="502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80"/>
              </a:lnSpc>
            </a:pPr>
            <a:r>
              <a:rPr lang="en-US" sz="2700">
                <a:solidFill>
                  <a:srgbClr val="FFFFFF"/>
                </a:solidFill>
                <a:latin typeface="Chewy"/>
                <a:ea typeface="Chewy"/>
                <a:cs typeface="Chewy"/>
                <a:sym typeface="Chewy"/>
              </a:rPr>
              <a:t> Item-level order mapping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9436594" y="7411863"/>
            <a:ext cx="637003" cy="348367"/>
          </a:xfrm>
          <a:custGeom>
            <a:avLst/>
            <a:gdLst/>
            <a:ahLst/>
            <a:cxnLst/>
            <a:rect r="r" b="b" t="t" l="l"/>
            <a:pathLst>
              <a:path h="348367" w="637003">
                <a:moveTo>
                  <a:pt x="0" y="0"/>
                </a:moveTo>
                <a:lnTo>
                  <a:pt x="637004" y="0"/>
                </a:lnTo>
                <a:lnTo>
                  <a:pt x="637004" y="348367"/>
                </a:lnTo>
                <a:lnTo>
                  <a:pt x="0" y="34836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9436594" y="6499397"/>
            <a:ext cx="637003" cy="348367"/>
          </a:xfrm>
          <a:custGeom>
            <a:avLst/>
            <a:gdLst/>
            <a:ahLst/>
            <a:cxnLst/>
            <a:rect r="r" b="b" t="t" l="l"/>
            <a:pathLst>
              <a:path h="348367" w="637003">
                <a:moveTo>
                  <a:pt x="0" y="0"/>
                </a:moveTo>
                <a:lnTo>
                  <a:pt x="637004" y="0"/>
                </a:lnTo>
                <a:lnTo>
                  <a:pt x="637004" y="348367"/>
                </a:lnTo>
                <a:lnTo>
                  <a:pt x="0" y="34836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9436594" y="5424605"/>
            <a:ext cx="637003" cy="348367"/>
          </a:xfrm>
          <a:custGeom>
            <a:avLst/>
            <a:gdLst/>
            <a:ahLst/>
            <a:cxnLst/>
            <a:rect r="r" b="b" t="t" l="l"/>
            <a:pathLst>
              <a:path h="348367" w="637003">
                <a:moveTo>
                  <a:pt x="0" y="0"/>
                </a:moveTo>
                <a:lnTo>
                  <a:pt x="637004" y="0"/>
                </a:lnTo>
                <a:lnTo>
                  <a:pt x="637004" y="348367"/>
                </a:lnTo>
                <a:lnTo>
                  <a:pt x="0" y="34836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9436594" y="4411888"/>
            <a:ext cx="637003" cy="348367"/>
          </a:xfrm>
          <a:custGeom>
            <a:avLst/>
            <a:gdLst/>
            <a:ahLst/>
            <a:cxnLst/>
            <a:rect r="r" b="b" t="t" l="l"/>
            <a:pathLst>
              <a:path h="348367" w="637003">
                <a:moveTo>
                  <a:pt x="0" y="0"/>
                </a:moveTo>
                <a:lnTo>
                  <a:pt x="637004" y="0"/>
                </a:lnTo>
                <a:lnTo>
                  <a:pt x="637004" y="348367"/>
                </a:lnTo>
                <a:lnTo>
                  <a:pt x="0" y="34836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1296930" y="3018885"/>
            <a:ext cx="7330430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Chewy"/>
                <a:ea typeface="Chewy"/>
                <a:cs typeface="Chewy"/>
                <a:sym typeface="Chewy"/>
              </a:rPr>
              <a:t>Challenges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511556" y="4187241"/>
            <a:ext cx="7330430" cy="502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80"/>
              </a:lnSpc>
            </a:pPr>
            <a:r>
              <a:rPr lang="en-US" sz="2700">
                <a:solidFill>
                  <a:srgbClr val="FFFFFF"/>
                </a:solidFill>
                <a:latin typeface="Chewy"/>
                <a:ea typeface="Chewy"/>
                <a:cs typeface="Chewy"/>
                <a:sym typeface="Chewy"/>
              </a:rPr>
              <a:t>Multi-vendor order handling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368615" y="6389421"/>
            <a:ext cx="7330430" cy="502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80"/>
              </a:lnSpc>
            </a:pPr>
            <a:r>
              <a:rPr lang="en-US" sz="2700">
                <a:solidFill>
                  <a:srgbClr val="FFFFFF"/>
                </a:solidFill>
                <a:latin typeface="Chewy"/>
                <a:ea typeface="Chewy"/>
                <a:cs typeface="Chewy"/>
                <a:sym typeface="Chewy"/>
              </a:rPr>
              <a:t>Payment settlement logic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2300969" y="7473366"/>
            <a:ext cx="6227445" cy="502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80"/>
              </a:lnSpc>
            </a:pPr>
            <a:r>
              <a:rPr lang="en-US" sz="2700">
                <a:solidFill>
                  <a:srgbClr val="FFFFFF"/>
                </a:solidFill>
                <a:latin typeface="Chewy"/>
                <a:ea typeface="Chewy"/>
                <a:cs typeface="Chewy"/>
                <a:sym typeface="Chewy"/>
              </a:rPr>
              <a:t>Preventing unauthorized actions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299196" y="3018885"/>
            <a:ext cx="7330430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Chewy"/>
                <a:ea typeface="Chewy"/>
                <a:cs typeface="Chewy"/>
                <a:sym typeface="Chewy"/>
              </a:rPr>
              <a:t>Solutions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436594" y="5314629"/>
            <a:ext cx="6745176" cy="502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80"/>
              </a:lnSpc>
            </a:pPr>
            <a:r>
              <a:rPr lang="en-US" sz="2700">
                <a:solidFill>
                  <a:srgbClr val="FFFFFF"/>
                </a:solidFill>
                <a:latin typeface="Chewy"/>
                <a:ea typeface="Chewy"/>
                <a:cs typeface="Chewy"/>
                <a:sym typeface="Chewy"/>
              </a:rPr>
              <a:t> Scoring-based delivery assignment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9143958" y="6389421"/>
            <a:ext cx="7330430" cy="502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80"/>
              </a:lnSpc>
            </a:pPr>
            <a:r>
              <a:rPr lang="en-US" sz="2700">
                <a:solidFill>
                  <a:srgbClr val="FFFFFF"/>
                </a:solidFill>
                <a:latin typeface="Chewy"/>
                <a:ea typeface="Chewy"/>
                <a:cs typeface="Chewy"/>
                <a:sym typeface="Chewy"/>
              </a:rPr>
              <a:t>VendorLedger settlement system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436594" y="7346464"/>
            <a:ext cx="6058614" cy="502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80"/>
              </a:lnSpc>
            </a:pPr>
            <a:r>
              <a:rPr lang="en-US" sz="2700">
                <a:solidFill>
                  <a:srgbClr val="FFFFFF"/>
                </a:solidFill>
                <a:latin typeface="Chewy"/>
                <a:ea typeface="Chewy"/>
                <a:cs typeface="Chewy"/>
                <a:sym typeface="Chewy"/>
              </a:rPr>
              <a:t>Role verification at API level</a:t>
            </a:r>
          </a:p>
        </p:txBody>
      </p:sp>
      <p:sp>
        <p:nvSpPr>
          <p:cNvPr name="Freeform 36" id="36"/>
          <p:cNvSpPr/>
          <p:nvPr/>
        </p:nvSpPr>
        <p:spPr>
          <a:xfrm flipH="false" flipV="false" rot="0">
            <a:off x="9436594" y="5424605"/>
            <a:ext cx="637003" cy="348367"/>
          </a:xfrm>
          <a:custGeom>
            <a:avLst/>
            <a:gdLst/>
            <a:ahLst/>
            <a:cxnLst/>
            <a:rect r="r" b="b" t="t" l="l"/>
            <a:pathLst>
              <a:path h="348367" w="637003">
                <a:moveTo>
                  <a:pt x="0" y="0"/>
                </a:moveTo>
                <a:lnTo>
                  <a:pt x="637004" y="0"/>
                </a:lnTo>
                <a:lnTo>
                  <a:pt x="637004" y="348367"/>
                </a:lnTo>
                <a:lnTo>
                  <a:pt x="0" y="34836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9436594" y="6490510"/>
            <a:ext cx="637003" cy="348367"/>
          </a:xfrm>
          <a:custGeom>
            <a:avLst/>
            <a:gdLst/>
            <a:ahLst/>
            <a:cxnLst/>
            <a:rect r="r" b="b" t="t" l="l"/>
            <a:pathLst>
              <a:path h="348367" w="637003">
                <a:moveTo>
                  <a:pt x="0" y="0"/>
                </a:moveTo>
                <a:lnTo>
                  <a:pt x="637004" y="0"/>
                </a:lnTo>
                <a:lnTo>
                  <a:pt x="637004" y="348367"/>
                </a:lnTo>
                <a:lnTo>
                  <a:pt x="0" y="34836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0">
            <a:off x="9436594" y="7454316"/>
            <a:ext cx="637003" cy="348367"/>
          </a:xfrm>
          <a:custGeom>
            <a:avLst/>
            <a:gdLst/>
            <a:ahLst/>
            <a:cxnLst/>
            <a:rect r="r" b="b" t="t" l="l"/>
            <a:pathLst>
              <a:path h="348367" w="637003">
                <a:moveTo>
                  <a:pt x="0" y="0"/>
                </a:moveTo>
                <a:lnTo>
                  <a:pt x="637004" y="0"/>
                </a:lnTo>
                <a:lnTo>
                  <a:pt x="637004" y="348367"/>
                </a:lnTo>
                <a:lnTo>
                  <a:pt x="0" y="34836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0">
            <a:off x="1571082" y="4341794"/>
            <a:ext cx="637003" cy="348367"/>
          </a:xfrm>
          <a:custGeom>
            <a:avLst/>
            <a:gdLst/>
            <a:ahLst/>
            <a:cxnLst/>
            <a:rect r="r" b="b" t="t" l="l"/>
            <a:pathLst>
              <a:path h="348367" w="637003">
                <a:moveTo>
                  <a:pt x="0" y="0"/>
                </a:moveTo>
                <a:lnTo>
                  <a:pt x="637003" y="0"/>
                </a:lnTo>
                <a:lnTo>
                  <a:pt x="637003" y="348367"/>
                </a:lnTo>
                <a:lnTo>
                  <a:pt x="0" y="34836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0" id="40"/>
          <p:cNvSpPr/>
          <p:nvPr/>
        </p:nvSpPr>
        <p:spPr>
          <a:xfrm flipH="false" flipV="false" rot="0">
            <a:off x="1526733" y="6461478"/>
            <a:ext cx="637003" cy="348367"/>
          </a:xfrm>
          <a:custGeom>
            <a:avLst/>
            <a:gdLst/>
            <a:ahLst/>
            <a:cxnLst/>
            <a:rect r="r" b="b" t="t" l="l"/>
            <a:pathLst>
              <a:path h="348367" w="637003">
                <a:moveTo>
                  <a:pt x="0" y="0"/>
                </a:moveTo>
                <a:lnTo>
                  <a:pt x="637003" y="0"/>
                </a:lnTo>
                <a:lnTo>
                  <a:pt x="637003" y="348367"/>
                </a:lnTo>
                <a:lnTo>
                  <a:pt x="0" y="34836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fade/>
  </p:transition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334900">
            <a:off x="4846965" y="-5860889"/>
            <a:ext cx="9203671" cy="22008778"/>
          </a:xfrm>
          <a:custGeom>
            <a:avLst/>
            <a:gdLst/>
            <a:ahLst/>
            <a:cxnLst/>
            <a:rect r="r" b="b" t="t" l="l"/>
            <a:pathLst>
              <a:path h="22008778" w="9203671">
                <a:moveTo>
                  <a:pt x="0" y="0"/>
                </a:moveTo>
                <a:lnTo>
                  <a:pt x="9203670" y="0"/>
                </a:lnTo>
                <a:lnTo>
                  <a:pt x="9203670" y="22008778"/>
                </a:lnTo>
                <a:lnTo>
                  <a:pt x="0" y="2200877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571082" y="1243753"/>
            <a:ext cx="13973916" cy="1120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05"/>
              </a:lnSpc>
            </a:pPr>
            <a:r>
              <a:rPr lang="en-US" sz="9636">
                <a:solidFill>
                  <a:srgbClr val="517166"/>
                </a:solidFill>
                <a:latin typeface="Londrina Sketch"/>
                <a:ea typeface="Londrina Sketch"/>
                <a:cs typeface="Londrina Sketch"/>
                <a:sym typeface="Londrina Sketch"/>
              </a:rPr>
              <a:t>FUTURE ENHANCEMENT</a:t>
            </a:r>
            <a:r>
              <a:rPr lang="en-US" sz="9636">
                <a:solidFill>
                  <a:srgbClr val="517166"/>
                </a:solidFill>
                <a:latin typeface="Londrina Sketch"/>
                <a:ea typeface="Londrina Sketch"/>
                <a:cs typeface="Londrina Sketch"/>
                <a:sym typeface="Londrina Sketch"/>
              </a:rPr>
              <a:t>S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-4558807">
            <a:off x="14746168" y="1035276"/>
            <a:ext cx="566344" cy="921566"/>
          </a:xfrm>
          <a:custGeom>
            <a:avLst/>
            <a:gdLst/>
            <a:ahLst/>
            <a:cxnLst/>
            <a:rect r="r" b="b" t="t" l="l"/>
            <a:pathLst>
              <a:path h="921566" w="566344">
                <a:moveTo>
                  <a:pt x="0" y="0"/>
                </a:moveTo>
                <a:lnTo>
                  <a:pt x="566344" y="0"/>
                </a:lnTo>
                <a:lnTo>
                  <a:pt x="566344" y="921566"/>
                </a:lnTo>
                <a:lnTo>
                  <a:pt x="0" y="92156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5984616" y="1882424"/>
            <a:ext cx="482267" cy="482267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17166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07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296930" y="1221906"/>
            <a:ext cx="548305" cy="548305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17166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07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6988675" y="8294573"/>
            <a:ext cx="541249" cy="541249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17166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07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-10800000">
            <a:off x="5438937" y="2707322"/>
            <a:ext cx="6980053" cy="704564"/>
            <a:chOff x="0" y="0"/>
            <a:chExt cx="9306738" cy="93941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306687" cy="939419"/>
            </a:xfrm>
            <a:custGeom>
              <a:avLst/>
              <a:gdLst/>
              <a:ahLst/>
              <a:cxnLst/>
              <a:rect r="r" b="b" t="t" l="l"/>
              <a:pathLst>
                <a:path h="939419" w="9306687">
                  <a:moveTo>
                    <a:pt x="0" y="0"/>
                  </a:moveTo>
                  <a:lnTo>
                    <a:pt x="9306687" y="0"/>
                  </a:lnTo>
                  <a:lnTo>
                    <a:pt x="9306687" y="939419"/>
                  </a:lnTo>
                  <a:lnTo>
                    <a:pt x="0" y="9394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63929" r="0" b="-63928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-10800000">
            <a:off x="5438937" y="5075990"/>
            <a:ext cx="6980053" cy="704564"/>
            <a:chOff x="0" y="0"/>
            <a:chExt cx="9306738" cy="93941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306687" cy="939419"/>
            </a:xfrm>
            <a:custGeom>
              <a:avLst/>
              <a:gdLst/>
              <a:ahLst/>
              <a:cxnLst/>
              <a:rect r="r" b="b" t="t" l="l"/>
              <a:pathLst>
                <a:path h="939419" w="9306687">
                  <a:moveTo>
                    <a:pt x="0" y="0"/>
                  </a:moveTo>
                  <a:lnTo>
                    <a:pt x="9306687" y="0"/>
                  </a:lnTo>
                  <a:lnTo>
                    <a:pt x="9306687" y="939419"/>
                  </a:lnTo>
                  <a:lnTo>
                    <a:pt x="0" y="9394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63929" r="0" b="-63928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-10800000">
            <a:off x="5438937" y="6333004"/>
            <a:ext cx="6980053" cy="704564"/>
            <a:chOff x="0" y="0"/>
            <a:chExt cx="9306738" cy="939419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306687" cy="939419"/>
            </a:xfrm>
            <a:custGeom>
              <a:avLst/>
              <a:gdLst/>
              <a:ahLst/>
              <a:cxnLst/>
              <a:rect r="r" b="b" t="t" l="l"/>
              <a:pathLst>
                <a:path h="939419" w="9306687">
                  <a:moveTo>
                    <a:pt x="0" y="0"/>
                  </a:moveTo>
                  <a:lnTo>
                    <a:pt x="9306687" y="0"/>
                  </a:lnTo>
                  <a:lnTo>
                    <a:pt x="9306687" y="939419"/>
                  </a:lnTo>
                  <a:lnTo>
                    <a:pt x="0" y="9394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63929" r="0" b="-63928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-10800000">
            <a:off x="5376415" y="7590009"/>
            <a:ext cx="6980053" cy="704564"/>
            <a:chOff x="0" y="0"/>
            <a:chExt cx="9306738" cy="939419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9306687" cy="939419"/>
            </a:xfrm>
            <a:custGeom>
              <a:avLst/>
              <a:gdLst/>
              <a:ahLst/>
              <a:cxnLst/>
              <a:rect r="r" b="b" t="t" l="l"/>
              <a:pathLst>
                <a:path h="939419" w="9306687">
                  <a:moveTo>
                    <a:pt x="0" y="0"/>
                  </a:moveTo>
                  <a:lnTo>
                    <a:pt x="9306687" y="0"/>
                  </a:lnTo>
                  <a:lnTo>
                    <a:pt x="9306687" y="939419"/>
                  </a:lnTo>
                  <a:lnTo>
                    <a:pt x="0" y="9394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63929" r="0" b="-63928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-10800000">
            <a:off x="5438937" y="3818985"/>
            <a:ext cx="6980053" cy="704564"/>
            <a:chOff x="0" y="0"/>
            <a:chExt cx="9306738" cy="939419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306687" cy="939419"/>
            </a:xfrm>
            <a:custGeom>
              <a:avLst/>
              <a:gdLst/>
              <a:ahLst/>
              <a:cxnLst/>
              <a:rect r="r" b="b" t="t" l="l"/>
              <a:pathLst>
                <a:path h="939419" w="9306687">
                  <a:moveTo>
                    <a:pt x="0" y="0"/>
                  </a:moveTo>
                  <a:lnTo>
                    <a:pt x="9306687" y="0"/>
                  </a:lnTo>
                  <a:lnTo>
                    <a:pt x="9306687" y="939419"/>
                  </a:lnTo>
                  <a:lnTo>
                    <a:pt x="0" y="9394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63929" r="0" b="-63928"/>
              </a:stretch>
            </a:blipFill>
          </p:spPr>
        </p:sp>
      </p:grpSp>
      <p:sp>
        <p:nvSpPr>
          <p:cNvPr name="Freeform 25" id="25"/>
          <p:cNvSpPr/>
          <p:nvPr/>
        </p:nvSpPr>
        <p:spPr>
          <a:xfrm flipH="false" flipV="false" rot="0">
            <a:off x="13134201" y="2364691"/>
            <a:ext cx="8250199" cy="6450156"/>
          </a:xfrm>
          <a:custGeom>
            <a:avLst/>
            <a:gdLst/>
            <a:ahLst/>
            <a:cxnLst/>
            <a:rect r="r" b="b" t="t" l="l"/>
            <a:pathLst>
              <a:path h="6450156" w="8250199">
                <a:moveTo>
                  <a:pt x="0" y="0"/>
                </a:moveTo>
                <a:lnTo>
                  <a:pt x="8250198" y="0"/>
                </a:lnTo>
                <a:lnTo>
                  <a:pt x="8250198" y="6450156"/>
                </a:lnTo>
                <a:lnTo>
                  <a:pt x="0" y="645015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659844" y="3161941"/>
            <a:ext cx="3722521" cy="3727180"/>
          </a:xfrm>
          <a:custGeom>
            <a:avLst/>
            <a:gdLst/>
            <a:ahLst/>
            <a:cxnLst/>
            <a:rect r="r" b="b" t="t" l="l"/>
            <a:pathLst>
              <a:path h="3727180" w="3722521">
                <a:moveTo>
                  <a:pt x="0" y="0"/>
                </a:moveTo>
                <a:lnTo>
                  <a:pt x="3722522" y="0"/>
                </a:lnTo>
                <a:lnTo>
                  <a:pt x="3722522" y="3727180"/>
                </a:lnTo>
                <a:lnTo>
                  <a:pt x="0" y="372718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5376415" y="2760519"/>
            <a:ext cx="6980053" cy="502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80"/>
              </a:lnSpc>
            </a:pPr>
            <a:r>
              <a:rPr lang="en-US" sz="2700">
                <a:solidFill>
                  <a:srgbClr val="FFFFFF"/>
                </a:solidFill>
                <a:latin typeface="Chewy"/>
                <a:ea typeface="Chewy"/>
                <a:cs typeface="Chewy"/>
                <a:sym typeface="Chewy"/>
              </a:rPr>
              <a:t>Automated weekly settlements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5219700" y="3841950"/>
            <a:ext cx="6980053" cy="502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80"/>
              </a:lnSpc>
            </a:pPr>
            <a:r>
              <a:rPr lang="en-US" sz="2700">
                <a:solidFill>
                  <a:srgbClr val="FFFFFF"/>
                </a:solidFill>
                <a:latin typeface="Chewy"/>
                <a:ea typeface="Chewy"/>
                <a:cs typeface="Chewy"/>
                <a:sym typeface="Chewy"/>
              </a:rPr>
              <a:t> SMS-based OTP verification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5074301" y="5096659"/>
            <a:ext cx="6980053" cy="502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80"/>
              </a:lnSpc>
            </a:pPr>
            <a:r>
              <a:rPr lang="en-US" sz="2700">
                <a:solidFill>
                  <a:srgbClr val="FFFFFF"/>
                </a:solidFill>
                <a:latin typeface="Chewy"/>
                <a:ea typeface="Chewy"/>
                <a:cs typeface="Chewy"/>
                <a:sym typeface="Chewy"/>
              </a:rPr>
              <a:t>Microservice architecture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5074301" y="7675734"/>
            <a:ext cx="6980053" cy="502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80"/>
              </a:lnSpc>
            </a:pPr>
            <a:r>
              <a:rPr lang="en-US" sz="2700">
                <a:solidFill>
                  <a:srgbClr val="FFFFFF"/>
                </a:solidFill>
                <a:latin typeface="Chewy"/>
                <a:ea typeface="Chewy"/>
                <a:cs typeface="Chewy"/>
                <a:sym typeface="Chewy"/>
              </a:rPr>
              <a:t> Database optimization &amp; scaling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5074301" y="6386201"/>
            <a:ext cx="6980053" cy="502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80"/>
              </a:lnSpc>
            </a:pPr>
            <a:r>
              <a:rPr lang="en-US" sz="2700">
                <a:solidFill>
                  <a:srgbClr val="FFFFFF"/>
                </a:solidFill>
                <a:latin typeface="Chewy"/>
                <a:ea typeface="Chewy"/>
                <a:cs typeface="Chewy"/>
                <a:sym typeface="Chewy"/>
              </a:rPr>
              <a:t> Improved UI/UX design</a:t>
            </a:r>
          </a:p>
        </p:txBody>
      </p:sp>
    </p:spTree>
  </p:cSld>
  <p:clrMapOvr>
    <a:masterClrMapping/>
  </p:clrMapOvr>
  <p:transition spd="slow">
    <p:fade/>
  </p:transition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334900">
            <a:off x="4158297" y="-6006127"/>
            <a:ext cx="9203671" cy="22008778"/>
          </a:xfrm>
          <a:custGeom>
            <a:avLst/>
            <a:gdLst/>
            <a:ahLst/>
            <a:cxnLst/>
            <a:rect r="r" b="b" t="t" l="l"/>
            <a:pathLst>
              <a:path h="22008778" w="9203671">
                <a:moveTo>
                  <a:pt x="0" y="0"/>
                </a:moveTo>
                <a:lnTo>
                  <a:pt x="9203671" y="0"/>
                </a:lnTo>
                <a:lnTo>
                  <a:pt x="9203671" y="22008778"/>
                </a:lnTo>
                <a:lnTo>
                  <a:pt x="0" y="2200877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571082" y="1243753"/>
            <a:ext cx="13973916" cy="1120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05"/>
              </a:lnSpc>
            </a:pPr>
            <a:r>
              <a:rPr lang="en-US" sz="9636">
                <a:solidFill>
                  <a:srgbClr val="517166"/>
                </a:solidFill>
                <a:latin typeface="Londrina Sketch"/>
                <a:ea typeface="Londrina Sketch"/>
                <a:cs typeface="Londrina Sketch"/>
                <a:sym typeface="Londrina Sketch"/>
              </a:rPr>
              <a:t>CONCLUSION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837916" y="2240866"/>
            <a:ext cx="8169473" cy="75667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76"/>
              </a:lnSpc>
            </a:pPr>
            <a:r>
              <a:rPr lang="en-US" sz="3556" spc="92">
                <a:solidFill>
                  <a:srgbClr val="517166"/>
                </a:solidFill>
                <a:latin typeface="Chewy"/>
                <a:ea typeface="Chewy"/>
                <a:cs typeface="Chewy"/>
                <a:sym typeface="Chewy"/>
              </a:rPr>
              <a:t>Swift-Store provides an optimize</a:t>
            </a:r>
            <a:r>
              <a:rPr lang="en-US" sz="3556" spc="92">
                <a:solidFill>
                  <a:srgbClr val="517166"/>
                </a:solidFill>
                <a:latin typeface="Chewy"/>
                <a:ea typeface="Chewy"/>
                <a:cs typeface="Chewy"/>
                <a:sym typeface="Chewy"/>
              </a:rPr>
              <a:t>d hyperlocal delivery model by combining:</a:t>
            </a:r>
          </a:p>
          <a:p>
            <a:pPr algn="l" marL="767810" indent="-383905" lvl="1">
              <a:lnSpc>
                <a:spcPts val="5476"/>
              </a:lnSpc>
              <a:buFont typeface="Arial"/>
              <a:buChar char="•"/>
            </a:pPr>
            <a:r>
              <a:rPr lang="en-US" sz="3556" spc="92">
                <a:solidFill>
                  <a:srgbClr val="517166"/>
                </a:solidFill>
                <a:latin typeface="Chewy"/>
                <a:ea typeface="Chewy"/>
                <a:cs typeface="Chewy"/>
                <a:sym typeface="Chewy"/>
              </a:rPr>
              <a:t>Multi-vendor consolidation</a:t>
            </a:r>
          </a:p>
          <a:p>
            <a:pPr algn="l" marL="767810" indent="-383905" lvl="1">
              <a:lnSpc>
                <a:spcPts val="5476"/>
              </a:lnSpc>
              <a:buFont typeface="Arial"/>
              <a:buChar char="•"/>
            </a:pPr>
            <a:r>
              <a:rPr lang="en-US" sz="3556" spc="92">
                <a:solidFill>
                  <a:srgbClr val="517166"/>
                </a:solidFill>
                <a:latin typeface="Chewy"/>
                <a:ea typeface="Chewy"/>
                <a:cs typeface="Chewy"/>
                <a:sym typeface="Chewy"/>
              </a:rPr>
              <a:t>Geofencing-based vendor filtering</a:t>
            </a:r>
          </a:p>
          <a:p>
            <a:pPr algn="l" marL="767810" indent="-383905" lvl="1">
              <a:lnSpc>
                <a:spcPts val="5476"/>
              </a:lnSpc>
              <a:buFont typeface="Arial"/>
              <a:buChar char="•"/>
            </a:pPr>
            <a:r>
              <a:rPr lang="en-US" sz="3556" spc="92">
                <a:solidFill>
                  <a:srgbClr val="517166"/>
                </a:solidFill>
                <a:latin typeface="Chewy"/>
                <a:ea typeface="Chewy"/>
                <a:cs typeface="Chewy"/>
                <a:sym typeface="Chewy"/>
              </a:rPr>
              <a:t> Nearest delivery partner assignment</a:t>
            </a:r>
          </a:p>
          <a:p>
            <a:pPr algn="l" marL="767810" indent="-383905" lvl="1">
              <a:lnSpc>
                <a:spcPts val="5476"/>
              </a:lnSpc>
              <a:buFont typeface="Arial"/>
              <a:buChar char="•"/>
            </a:pPr>
            <a:r>
              <a:rPr lang="en-US" sz="3556" spc="92">
                <a:solidFill>
                  <a:srgbClr val="517166"/>
                </a:solidFill>
                <a:latin typeface="Chewy"/>
                <a:ea typeface="Chewy"/>
                <a:cs typeface="Chewy"/>
                <a:sym typeface="Chewy"/>
              </a:rPr>
              <a:t>Secure OTP-based delivery confirmation</a:t>
            </a:r>
          </a:p>
          <a:p>
            <a:pPr algn="l">
              <a:lnSpc>
                <a:spcPts val="5476"/>
              </a:lnSpc>
            </a:pPr>
            <a:r>
              <a:rPr lang="en-US" sz="3556" spc="92">
                <a:solidFill>
                  <a:srgbClr val="517166"/>
                </a:solidFill>
                <a:latin typeface="Chewy"/>
                <a:ea typeface="Chewy"/>
                <a:cs typeface="Chewy"/>
                <a:sym typeface="Chewy"/>
              </a:rPr>
              <a:t>The system improves delivery efficiency, security, </a:t>
            </a:r>
          </a:p>
          <a:p>
            <a:pPr algn="l">
              <a:lnSpc>
                <a:spcPts val="5476"/>
              </a:lnSpc>
            </a:pPr>
            <a:r>
              <a:rPr lang="en-US" sz="3556" spc="92">
                <a:solidFill>
                  <a:srgbClr val="517166"/>
                </a:solidFill>
                <a:latin typeface="Chewy"/>
                <a:ea typeface="Chewy"/>
                <a:cs typeface="Chewy"/>
                <a:sym typeface="Chewy"/>
              </a:rPr>
              <a:t>and backend scalability.</a:t>
            </a:r>
          </a:p>
          <a:p>
            <a:pPr algn="l">
              <a:lnSpc>
                <a:spcPts val="5476"/>
              </a:lnSpc>
            </a:pPr>
          </a:p>
        </p:txBody>
      </p:sp>
      <p:sp>
        <p:nvSpPr>
          <p:cNvPr name="Freeform 6" id="6"/>
          <p:cNvSpPr/>
          <p:nvPr/>
        </p:nvSpPr>
        <p:spPr>
          <a:xfrm flipH="false" flipV="false" rot="-4558807">
            <a:off x="14746168" y="1035276"/>
            <a:ext cx="566344" cy="921566"/>
          </a:xfrm>
          <a:custGeom>
            <a:avLst/>
            <a:gdLst/>
            <a:ahLst/>
            <a:cxnLst/>
            <a:rect r="r" b="b" t="t" l="l"/>
            <a:pathLst>
              <a:path h="921566" w="566344">
                <a:moveTo>
                  <a:pt x="0" y="0"/>
                </a:moveTo>
                <a:lnTo>
                  <a:pt x="566344" y="0"/>
                </a:lnTo>
                <a:lnTo>
                  <a:pt x="566344" y="921566"/>
                </a:lnTo>
                <a:lnTo>
                  <a:pt x="0" y="92156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5984616" y="1882424"/>
            <a:ext cx="482267" cy="482267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17166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07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296930" y="1221906"/>
            <a:ext cx="548305" cy="548305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17166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07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6988675" y="8294573"/>
            <a:ext cx="541249" cy="541249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17166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07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true" flipV="false" rot="0">
            <a:off x="13803440" y="2123558"/>
            <a:ext cx="6046247" cy="5672479"/>
          </a:xfrm>
          <a:custGeom>
            <a:avLst/>
            <a:gdLst/>
            <a:ahLst/>
            <a:cxnLst/>
            <a:rect r="r" b="b" t="t" l="l"/>
            <a:pathLst>
              <a:path h="5672479" w="6046247">
                <a:moveTo>
                  <a:pt x="6046247" y="0"/>
                </a:moveTo>
                <a:lnTo>
                  <a:pt x="0" y="0"/>
                </a:lnTo>
                <a:lnTo>
                  <a:pt x="0" y="5672479"/>
                </a:lnTo>
                <a:lnTo>
                  <a:pt x="6046247" y="5672479"/>
                </a:lnTo>
                <a:lnTo>
                  <a:pt x="6046247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-4438223" y="1913577"/>
            <a:ext cx="8752264" cy="6922245"/>
          </a:xfrm>
          <a:custGeom>
            <a:avLst/>
            <a:gdLst/>
            <a:ahLst/>
            <a:cxnLst/>
            <a:rect r="r" b="b" t="t" l="l"/>
            <a:pathLst>
              <a:path h="6922245" w="8752264">
                <a:moveTo>
                  <a:pt x="0" y="0"/>
                </a:moveTo>
                <a:lnTo>
                  <a:pt x="8752264" y="0"/>
                </a:lnTo>
                <a:lnTo>
                  <a:pt x="8752264" y="6922245"/>
                </a:lnTo>
                <a:lnTo>
                  <a:pt x="0" y="692224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fade/>
  </p:transition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334900">
            <a:off x="4158297" y="-6006127"/>
            <a:ext cx="9203671" cy="22008778"/>
          </a:xfrm>
          <a:custGeom>
            <a:avLst/>
            <a:gdLst/>
            <a:ahLst/>
            <a:cxnLst/>
            <a:rect r="r" b="b" t="t" l="l"/>
            <a:pathLst>
              <a:path h="22008778" w="9203671">
                <a:moveTo>
                  <a:pt x="0" y="0"/>
                </a:moveTo>
                <a:lnTo>
                  <a:pt x="9203671" y="0"/>
                </a:lnTo>
                <a:lnTo>
                  <a:pt x="9203671" y="22008778"/>
                </a:lnTo>
                <a:lnTo>
                  <a:pt x="0" y="2200877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571082" y="1243753"/>
            <a:ext cx="13973916" cy="1120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05"/>
              </a:lnSpc>
            </a:pPr>
            <a:r>
              <a:rPr lang="en-US" sz="9636">
                <a:solidFill>
                  <a:srgbClr val="517166"/>
                </a:solidFill>
                <a:latin typeface="Londrina Sketch"/>
                <a:ea typeface="Londrina Sketch"/>
                <a:cs typeface="Londrina Sketch"/>
                <a:sym typeface="Londrina Sketch"/>
              </a:rPr>
              <a:t>DEMO VIDEO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671679" y="3062303"/>
            <a:ext cx="8418896" cy="64999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60"/>
              </a:lnSpc>
            </a:pPr>
            <a:r>
              <a:rPr lang="en-US" sz="3740" spc="97">
                <a:solidFill>
                  <a:srgbClr val="517166"/>
                </a:solidFill>
                <a:latin typeface="Chewy"/>
                <a:ea typeface="Chewy"/>
                <a:cs typeface="Chewy"/>
                <a:sym typeface="Chewy"/>
              </a:rPr>
              <a:t>Demo Video Link:</a:t>
            </a:r>
          </a:p>
          <a:p>
            <a:pPr algn="l">
              <a:lnSpc>
                <a:spcPts val="5760"/>
              </a:lnSpc>
            </a:pPr>
            <a:r>
              <a:rPr lang="en-US" sz="3740" spc="97">
                <a:solidFill>
                  <a:srgbClr val="517166"/>
                </a:solidFill>
                <a:latin typeface="Chewy"/>
                <a:ea typeface="Chewy"/>
                <a:cs typeface="Chewy"/>
                <a:sym typeface="Chewy"/>
              </a:rPr>
              <a:t>(</a:t>
            </a:r>
            <a:r>
              <a:rPr lang="en-US" sz="3740" spc="97" u="sng">
                <a:solidFill>
                  <a:srgbClr val="517166"/>
                </a:solidFill>
                <a:latin typeface="Chewy"/>
                <a:ea typeface="Chewy"/>
                <a:cs typeface="Chewy"/>
                <a:sym typeface="Chewy"/>
                <a:hlinkClick r:id="rId5" tooltip="https://drive.google.com/file/d/1YmHnPctyQWPD48DGeTNIy9DNclPL9i1d/view?usp=sharing"/>
              </a:rPr>
              <a:t>https://drive.google.com/file/d/1YmHnPctyQWPD48DGeTNIy9DNclPL9i1d/view?usp=sharing</a:t>
            </a:r>
            <a:r>
              <a:rPr lang="en-US" sz="3740" spc="97">
                <a:solidFill>
                  <a:srgbClr val="517166"/>
                </a:solidFill>
                <a:latin typeface="Chewy"/>
                <a:ea typeface="Chewy"/>
                <a:cs typeface="Chewy"/>
                <a:sym typeface="Chewy"/>
              </a:rPr>
              <a:t>)</a:t>
            </a:r>
          </a:p>
          <a:p>
            <a:pPr algn="l">
              <a:lnSpc>
                <a:spcPts val="5760"/>
              </a:lnSpc>
            </a:pPr>
          </a:p>
          <a:p>
            <a:pPr algn="l">
              <a:lnSpc>
                <a:spcPts val="5760"/>
              </a:lnSpc>
            </a:pPr>
            <a:r>
              <a:rPr lang="en-US" sz="3740" spc="97">
                <a:solidFill>
                  <a:srgbClr val="517166"/>
                </a:solidFill>
                <a:latin typeface="Chewy"/>
                <a:ea typeface="Chewy"/>
                <a:cs typeface="Chewy"/>
                <a:sym typeface="Chewy"/>
              </a:rPr>
              <a:t>You can also use QR code for quick access</a:t>
            </a:r>
          </a:p>
          <a:p>
            <a:pPr algn="l">
              <a:lnSpc>
                <a:spcPts val="5760"/>
              </a:lnSpc>
            </a:pPr>
          </a:p>
          <a:p>
            <a:pPr algn="l">
              <a:lnSpc>
                <a:spcPts val="5760"/>
              </a:lnSpc>
            </a:pPr>
          </a:p>
          <a:p>
            <a:pPr algn="l">
              <a:lnSpc>
                <a:spcPts val="5760"/>
              </a:lnSpc>
            </a:pPr>
          </a:p>
        </p:txBody>
      </p:sp>
      <p:sp>
        <p:nvSpPr>
          <p:cNvPr name="Freeform 6" id="6"/>
          <p:cNvSpPr/>
          <p:nvPr/>
        </p:nvSpPr>
        <p:spPr>
          <a:xfrm flipH="false" flipV="false" rot="-4558807">
            <a:off x="14746168" y="1035276"/>
            <a:ext cx="566344" cy="921566"/>
          </a:xfrm>
          <a:custGeom>
            <a:avLst/>
            <a:gdLst/>
            <a:ahLst/>
            <a:cxnLst/>
            <a:rect r="r" b="b" t="t" l="l"/>
            <a:pathLst>
              <a:path h="921566" w="566344">
                <a:moveTo>
                  <a:pt x="0" y="0"/>
                </a:moveTo>
                <a:lnTo>
                  <a:pt x="566344" y="0"/>
                </a:lnTo>
                <a:lnTo>
                  <a:pt x="566344" y="921566"/>
                </a:lnTo>
                <a:lnTo>
                  <a:pt x="0" y="9215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5984616" y="1882424"/>
            <a:ext cx="482267" cy="482267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17166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07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296930" y="1221906"/>
            <a:ext cx="548305" cy="548305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17166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07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6988675" y="8294573"/>
            <a:ext cx="541249" cy="541249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17166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07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13090575" y="2364691"/>
            <a:ext cx="5788082" cy="4114800"/>
          </a:xfrm>
          <a:custGeom>
            <a:avLst/>
            <a:gdLst/>
            <a:ahLst/>
            <a:cxnLst/>
            <a:rect r="r" b="b" t="t" l="l"/>
            <a:pathLst>
              <a:path h="4114800" w="5788082">
                <a:moveTo>
                  <a:pt x="0" y="0"/>
                </a:moveTo>
                <a:lnTo>
                  <a:pt x="5788082" y="0"/>
                </a:lnTo>
                <a:lnTo>
                  <a:pt x="578808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133350" y="3837292"/>
            <a:ext cx="4538329" cy="4457281"/>
            <a:chOff x="0" y="0"/>
            <a:chExt cx="6051106" cy="594304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051042" cy="5943092"/>
            </a:xfrm>
            <a:custGeom>
              <a:avLst/>
              <a:gdLst/>
              <a:ahLst/>
              <a:cxnLst/>
              <a:rect r="r" b="b" t="t" l="l"/>
              <a:pathLst>
                <a:path h="5943092" w="6051042">
                  <a:moveTo>
                    <a:pt x="0" y="0"/>
                  </a:moveTo>
                  <a:lnTo>
                    <a:pt x="6051042" y="0"/>
                  </a:lnTo>
                  <a:lnTo>
                    <a:pt x="6051042" y="5943092"/>
                  </a:lnTo>
                  <a:lnTo>
                    <a:pt x="0" y="59430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-11775" t="-12323" r="-9398" b="-8722"/>
              </a:stretch>
            </a:blipFill>
          </p:spPr>
        </p:sp>
      </p:grpSp>
    </p:spTree>
  </p:cSld>
  <p:clrMapOvr>
    <a:masterClrMapping/>
  </p:clrMapOvr>
  <p:transition spd="slow">
    <p:fade/>
  </p:transition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496511" y="0"/>
            <a:ext cx="21281023" cy="10448905"/>
          </a:xfrm>
          <a:custGeom>
            <a:avLst/>
            <a:gdLst/>
            <a:ahLst/>
            <a:cxnLst/>
            <a:rect r="r" b="b" t="t" l="l"/>
            <a:pathLst>
              <a:path h="10448905" w="21281023">
                <a:moveTo>
                  <a:pt x="0" y="0"/>
                </a:moveTo>
                <a:lnTo>
                  <a:pt x="21281022" y="0"/>
                </a:lnTo>
                <a:lnTo>
                  <a:pt x="21281022" y="10448905"/>
                </a:lnTo>
                <a:lnTo>
                  <a:pt x="0" y="104489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947932" y="3865054"/>
            <a:ext cx="10913014" cy="21220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825"/>
              </a:lnSpc>
            </a:pPr>
            <a:r>
              <a:rPr lang="en-US" sz="18303">
                <a:solidFill>
                  <a:srgbClr val="517166"/>
                </a:solidFill>
                <a:latin typeface="Londrina Sketch"/>
                <a:ea typeface="Londrina Sketch"/>
                <a:cs typeface="Londrina Sketch"/>
                <a:sym typeface="Londrina Sketch"/>
              </a:rPr>
              <a:t>THANK YOU !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730091" y="5796613"/>
            <a:ext cx="8827818" cy="1024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88"/>
              </a:lnSpc>
            </a:pPr>
            <a:r>
              <a:rPr lang="en-US" sz="5512" spc="143">
                <a:solidFill>
                  <a:srgbClr val="517166"/>
                </a:solidFill>
                <a:latin typeface="Chewy"/>
                <a:ea typeface="Chewy"/>
                <a:cs typeface="Chewy"/>
                <a:sym typeface="Chewy"/>
              </a:rPr>
              <a:t>For your attention!</a:t>
            </a:r>
          </a:p>
        </p:txBody>
      </p:sp>
    </p:spTree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DAHFhJSMySM</dc:identifier>
  <dcterms:modified xsi:type="dcterms:W3CDTF">2011-08-01T06:04:30Z</dcterms:modified>
  <cp:revision>1</cp:revision>
  <dc:title>SWIFT-STORE</dc:title>
</cp:coreProperties>
</file>